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0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5714" cy="10288286"/>
            <a:chOff x="0" y="0"/>
            <a:chExt cx="24380952" cy="13717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913234" y="1982651"/>
            <a:ext cx="10062608" cy="5786000"/>
          </a:xfrm>
          <a:custGeom>
            <a:avLst/>
            <a:gdLst/>
            <a:ahLst/>
            <a:cxnLst/>
            <a:rect r="r" b="b" t="t" l="l"/>
            <a:pathLst>
              <a:path h="5786000" w="10062608">
                <a:moveTo>
                  <a:pt x="0" y="0"/>
                </a:moveTo>
                <a:lnTo>
                  <a:pt x="10062608" y="0"/>
                </a:lnTo>
                <a:lnTo>
                  <a:pt x="10062608" y="5785999"/>
                </a:lnTo>
                <a:lnTo>
                  <a:pt x="0" y="578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433" y="720170"/>
            <a:ext cx="6850971" cy="12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b="true" sz="35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INTEGRADOR</a:t>
            </a:r>
          </a:p>
          <a:p>
            <a:pPr algn="ctr">
              <a:lnSpc>
                <a:spcPts val="49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23390" y="2036875"/>
            <a:ext cx="5027057" cy="103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Seam Yong Agudelo</a:t>
            </a:r>
          </a:p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Alex David Salgado Trujillo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4615" y="3752922"/>
            <a:ext cx="534114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Materia: Calidad de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873" y="4506558"/>
            <a:ext cx="67806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Corporación Universitaria del Huila-Corhuila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5812" y="5821007"/>
            <a:ext cx="532221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Docente: Jose Miguel Llanos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839074" y="2782885"/>
            <a:ext cx="10177166" cy="4961368"/>
          </a:xfrm>
          <a:custGeom>
            <a:avLst/>
            <a:gdLst/>
            <a:ahLst/>
            <a:cxnLst/>
            <a:rect r="r" b="b" t="t" l="l"/>
            <a:pathLst>
              <a:path h="4961368" w="10177166">
                <a:moveTo>
                  <a:pt x="0" y="0"/>
                </a:moveTo>
                <a:lnTo>
                  <a:pt x="10177166" y="0"/>
                </a:lnTo>
                <a:lnTo>
                  <a:pt x="10177166" y="4961368"/>
                </a:lnTo>
                <a:lnTo>
                  <a:pt x="0" y="496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97093" y="606104"/>
            <a:ext cx="11454646" cy="122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077" y="2687635"/>
            <a:ext cx="6047805" cy="588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desarrolló una aplicación web orientada a la gestión operativa de una panadería, permitiendo administrar productos, controlar inventario y gestionar pedidos mediante carrito de compras. Además, se implementó una estrategia integral de aseguramiento de calidad mediante pruebas de software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92515" y="1855075"/>
            <a:ext cx="7178423" cy="3858402"/>
          </a:xfrm>
          <a:custGeom>
            <a:avLst/>
            <a:gdLst/>
            <a:ahLst/>
            <a:cxnLst/>
            <a:rect r="r" b="b" t="t" l="l"/>
            <a:pathLst>
              <a:path h="3858402" w="7178423">
                <a:moveTo>
                  <a:pt x="0" y="0"/>
                </a:moveTo>
                <a:lnTo>
                  <a:pt x="7178423" y="0"/>
                </a:lnTo>
                <a:lnTo>
                  <a:pt x="7178423" y="3858403"/>
                </a:lnTo>
                <a:lnTo>
                  <a:pt x="0" y="3858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0027" y="5985669"/>
            <a:ext cx="6396700" cy="4117875"/>
          </a:xfrm>
          <a:custGeom>
            <a:avLst/>
            <a:gdLst/>
            <a:ahLst/>
            <a:cxnLst/>
            <a:rect r="r" b="b" t="t" l="l"/>
            <a:pathLst>
              <a:path h="4117875" w="6396700">
                <a:moveTo>
                  <a:pt x="0" y="0"/>
                </a:moveTo>
                <a:lnTo>
                  <a:pt x="6396700" y="0"/>
                </a:lnTo>
                <a:lnTo>
                  <a:pt x="6396700" y="4117875"/>
                </a:lnTo>
                <a:lnTo>
                  <a:pt x="0" y="4117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0036" y="469506"/>
            <a:ext cx="10087927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b="true" sz="6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10217"/>
            <a:ext cx="4362070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rontend Angular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 Spring Boot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MySQL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92447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854783" y="3773706"/>
            <a:ext cx="6576148" cy="46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RF-01 Listar productos</a:t>
            </a:r>
          </a:p>
          <a:p>
            <a:pPr algn="l">
              <a:lnSpc>
                <a:spcPts val="4124"/>
              </a:lnSpc>
            </a:pP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RF-02 Registrar productos</a:t>
            </a:r>
          </a:p>
          <a:p>
            <a:pPr algn="l">
              <a:lnSpc>
                <a:spcPts val="4124"/>
              </a:lnSpc>
            </a:pP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RF-03 Actualizar productos</a:t>
            </a:r>
          </a:p>
          <a:p>
            <a:pPr algn="l">
              <a:lnSpc>
                <a:spcPts val="4124"/>
              </a:lnSpc>
            </a:pP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RF-04 Gestionar carrito</a:t>
            </a:r>
          </a:p>
          <a:p>
            <a:pPr algn="l">
              <a:lnSpc>
                <a:spcPts val="4124"/>
              </a:lnSpc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RF-05 Controlar inventario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79347" y="820997"/>
            <a:ext cx="8729306" cy="10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78214" y="2505277"/>
            <a:ext cx="6321504" cy="7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Códi</a:t>
            </a:r>
            <a:r>
              <a:rPr lang="en-US" b="true" sz="4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 Funcionalidad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2606" y="2892074"/>
            <a:ext cx="6483675" cy="3475152"/>
          </a:xfrm>
          <a:custGeom>
            <a:avLst/>
            <a:gdLst/>
            <a:ahLst/>
            <a:cxnLst/>
            <a:rect r="r" b="b" t="t" l="l"/>
            <a:pathLst>
              <a:path h="3475152" w="6483675">
                <a:moveTo>
                  <a:pt x="0" y="0"/>
                </a:moveTo>
                <a:lnTo>
                  <a:pt x="6483676" y="0"/>
                </a:lnTo>
                <a:lnTo>
                  <a:pt x="6483676" y="3475151"/>
                </a:lnTo>
                <a:lnTo>
                  <a:pt x="0" y="347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7664" y="7717500"/>
            <a:ext cx="8777704" cy="2041943"/>
          </a:xfrm>
          <a:custGeom>
            <a:avLst/>
            <a:gdLst/>
            <a:ahLst/>
            <a:cxnLst/>
            <a:rect r="r" b="b" t="t" l="l"/>
            <a:pathLst>
              <a:path h="2041943" w="8777704">
                <a:moveTo>
                  <a:pt x="0" y="0"/>
                </a:moveTo>
                <a:lnTo>
                  <a:pt x="8777704" y="0"/>
                </a:lnTo>
                <a:lnTo>
                  <a:pt x="8777704" y="2041943"/>
                </a:lnTo>
                <a:lnTo>
                  <a:pt x="0" y="2041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6517" y="561975"/>
            <a:ext cx="14014967" cy="12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Unitarias + Integración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34924"/>
            <a:ext cx="6589615" cy="59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JUnit → Validación de lógica de negocio</a:t>
            </a:r>
          </a:p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H2 Database → Base de datos de prueba para integración</a:t>
            </a:r>
          </a:p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JaCoCo → Medición de cobertura</a:t>
            </a: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3 pruebas de integración ejecutadas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5 pruebas unitarias ejecutadas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0 errores detectados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Cobertura total del 90%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BUILD SUCCESS</a:t>
            </a: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0712" y="1941830"/>
            <a:ext cx="6001821" cy="68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</a:t>
            </a:r>
            <a:r>
              <a:rPr lang="en-US" b="true" sz="3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rramientas utilizadas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843" y="4772514"/>
            <a:ext cx="5379363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esultados obtenidos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graphicFrame>
        <p:nvGraphicFramePr>
          <p:cNvPr name="Object 5" id="5"/>
          <p:cNvGraphicFramePr/>
          <p:nvPr/>
        </p:nvGraphicFramePr>
        <p:xfrm>
          <a:off x="8172983" y="2854940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672779"/>
            <a:ext cx="13824251" cy="175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3"/>
              </a:lnSpc>
              <a:spcBef>
                <a:spcPct val="0"/>
              </a:spcBef>
            </a:pPr>
            <a:r>
              <a:rPr lang="en-US" b="true" sz="495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Pruebas funcionales con Selenium WebDrive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591" y="3754726"/>
            <a:ext cx="7330972" cy="55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Selenium WebDriver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591" y="2731115"/>
            <a:ext cx="7330972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Her</a:t>
            </a: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ramienta usada: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082" y="4445831"/>
            <a:ext cx="4421267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Patrón aplicado: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591" y="5347911"/>
            <a:ext cx="3652123" cy="54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 Object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1384" y="6032441"/>
            <a:ext cx="578108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Cantidad de p</a:t>
            </a: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2591" y="6664266"/>
            <a:ext cx="5598795" cy="107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p</a:t>
            </a: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ruebas ejecutadas</a:t>
            </a:r>
          </a:p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Resultado: 5 exitosas, 0 fallos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0610" y="1753056"/>
            <a:ext cx="7099023" cy="3948832"/>
          </a:xfrm>
          <a:custGeom>
            <a:avLst/>
            <a:gdLst/>
            <a:ahLst/>
            <a:cxnLst/>
            <a:rect r="r" b="b" t="t" l="l"/>
            <a:pathLst>
              <a:path h="3948832" w="7099023">
                <a:moveTo>
                  <a:pt x="0" y="0"/>
                </a:moveTo>
                <a:lnTo>
                  <a:pt x="7099024" y="0"/>
                </a:lnTo>
                <a:lnTo>
                  <a:pt x="7099024" y="3948832"/>
                </a:lnTo>
                <a:lnTo>
                  <a:pt x="0" y="394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1196" y="6034924"/>
            <a:ext cx="6620829" cy="3682836"/>
          </a:xfrm>
          <a:custGeom>
            <a:avLst/>
            <a:gdLst/>
            <a:ahLst/>
            <a:cxnLst/>
            <a:rect r="r" b="b" t="t" l="l"/>
            <a:pathLst>
              <a:path h="3682836" w="6620829">
                <a:moveTo>
                  <a:pt x="0" y="0"/>
                </a:moveTo>
                <a:lnTo>
                  <a:pt x="6620829" y="0"/>
                </a:lnTo>
                <a:lnTo>
                  <a:pt x="6620829" y="3682837"/>
                </a:lnTo>
                <a:lnTo>
                  <a:pt x="0" y="3682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555625"/>
            <a:ext cx="1801453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Pruebas de Rendimiento con Apache JMeter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086" y="2788017"/>
            <a:ext cx="6499851" cy="180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Usuarios concurrentes: 10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Ramp-Up: 10 segundos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Iteraciones: 5 ciclos por usuario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Total de peticiones: 1050 solicitudes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6086" y="5543712"/>
            <a:ext cx="4481265" cy="91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72" indent="-277636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/api/producto</a:t>
            </a:r>
          </a:p>
          <a:p>
            <a:pPr algn="l" marL="555272" indent="-277636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/api/carrito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522" y="1780695"/>
            <a:ext cx="6375202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Confi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guración de la prueba: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6086" y="7538489"/>
            <a:ext cx="6261553" cy="214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Tiempo promedio de respuesta: 13 ms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Throughput: 60 solicitudes/minuto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Tiempo máximo registrado: 1266 ms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Tasa de error: 9.14%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037" y="4773613"/>
            <a:ext cx="479952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ndpoints evaluados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146" y="6640436"/>
            <a:ext cx="508087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esultados obtenidos: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250295" y="3287054"/>
            <a:ext cx="9795537" cy="4524043"/>
          </a:xfrm>
          <a:custGeom>
            <a:avLst/>
            <a:gdLst/>
            <a:ahLst/>
            <a:cxnLst/>
            <a:rect r="r" b="b" t="t" l="l"/>
            <a:pathLst>
              <a:path h="4524043" w="9795537">
                <a:moveTo>
                  <a:pt x="0" y="0"/>
                </a:moveTo>
                <a:lnTo>
                  <a:pt x="9795537" y="0"/>
                </a:lnTo>
                <a:lnTo>
                  <a:pt x="9795537" y="4524043"/>
                </a:lnTo>
                <a:lnTo>
                  <a:pt x="0" y="4524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5185" y="857250"/>
            <a:ext cx="11675745" cy="10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nálisis de Calidad del Código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62366"/>
            <a:ext cx="7049396" cy="566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Cobertura de código: 91%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Security Rating: A (o el que te haya salido en SonarQube)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Maintainability Rating: A (si te aparece)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Duplicación de código: 0% (si aparece así en tu dashboard)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95262"/>
            <a:ext cx="7393545" cy="76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</a:t>
            </a:r>
            <a:r>
              <a:rPr lang="en-US" sz="4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ricas obtenidas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243" y="9034930"/>
            <a:ext cx="8104763" cy="10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  <a:spcBef>
                <a:spcPct val="0"/>
              </a:spcBef>
            </a:pPr>
          </a:p>
          <a:p>
            <a:pPr algn="l" marL="437779" indent="-218889" lvl="1">
              <a:lnSpc>
                <a:spcPts val="2838"/>
              </a:lnSpc>
              <a:spcBef>
                <a:spcPct val="0"/>
              </a:spcBef>
              <a:buFont typeface="Arial"/>
              <a:buChar char="•"/>
            </a:pPr>
            <a:r>
              <a:rPr lang="en-US" sz="20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detectaron métodos con posibilidad de lanzar excepciones no controladas.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8383" y="2089866"/>
            <a:ext cx="5439486" cy="610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b="true" sz="2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✅ </a:t>
            </a: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Corrección de NullPointerException en actualización de productos.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Optimización de consultas en la gestión del carrito.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Configuración correcta de base de datos H2 para pruebas de integración.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Ajuste de selectores XPath/CSS en Selenium para navegación automática.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Refactorización de código siguiendo recomendaciones de SonarQube.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6194" y="418269"/>
            <a:ext cx="5145167" cy="139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allazgos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243" y="1708585"/>
            <a:ext cx="5318165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de integración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2243" y="3727893"/>
            <a:ext cx="798326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funcionales con Selenium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2243" y="6183781"/>
            <a:ext cx="811530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de rendimiento con JMeter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243" y="8457081"/>
            <a:ext cx="81047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Análisis de 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2243" y="2276909"/>
            <a:ext cx="747256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ectaron errores de persistencia en consultas a base de datos.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Inicialmente no se generaban tablas automáticamente en H2.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02243" y="4510556"/>
            <a:ext cx="681485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Algunos elementos de navegación no eran encontrados correctamente.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presentaron fallos al ubicar botones de carrito e inventario.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02243" y="6856881"/>
            <a:ext cx="785687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Algunos endpoints presentaron errores bajo múltiples solicitudes concurrentes.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identificaron fallos en operaciones PUT y POST sobre carrito.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07006" y="418269"/>
            <a:ext cx="9442240" cy="139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7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ejoras aplicadas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000848" y="3392154"/>
            <a:ext cx="8397766" cy="5595012"/>
          </a:xfrm>
          <a:custGeom>
            <a:avLst/>
            <a:gdLst/>
            <a:ahLst/>
            <a:cxnLst/>
            <a:rect r="r" b="b" t="t" l="l"/>
            <a:pathLst>
              <a:path h="5595012" w="8397766">
                <a:moveTo>
                  <a:pt x="0" y="0"/>
                </a:moveTo>
                <a:lnTo>
                  <a:pt x="8397766" y="0"/>
                </a:lnTo>
                <a:lnTo>
                  <a:pt x="8397766" y="5595011"/>
                </a:lnTo>
                <a:lnTo>
                  <a:pt x="0" y="55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5944" y="3296904"/>
            <a:ext cx="6665464" cy="488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4"/>
              </a:lnSpc>
              <a:spcBef>
                <a:spcPct val="0"/>
              </a:spcBef>
            </a:pPr>
            <a:r>
              <a:rPr lang="en-US" sz="3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</a:t>
            </a:r>
            <a:r>
              <a:rPr lang="en-US" sz="3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ecto permitió aplicar una estrategia completa de pruebas de software, validando funcionalidad, integración, rendimiento y calidad del código, logrando un sistema estable y mantenible.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9196" y="857250"/>
            <a:ext cx="638960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DAHJ_dK4MpA</dc:identifier>
  <dcterms:modified xsi:type="dcterms:W3CDTF">2011-08-01T06:04:30Z</dcterms:modified>
  <cp:revision>1</cp:revision>
  <dc:title>Plantilla-CORHUILA-2026A (3) (1).pptx</dc:title>
</cp:coreProperties>
</file>
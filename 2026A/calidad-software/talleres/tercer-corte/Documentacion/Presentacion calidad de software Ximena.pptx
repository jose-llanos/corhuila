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5"/>
    <p:sldId id="257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58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12/05/2026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BA439F-19D5-D478-19B2-3F5D7E18F1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76" cy="6858857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18854C60-32BE-09CD-66F1-39A20116CAAC}"/>
              </a:ext>
            </a:extLst>
          </p:cNvPr>
          <p:cNvSpPr/>
          <p:nvPr/>
        </p:nvSpPr>
        <p:spPr>
          <a:xfrm>
            <a:off x="82839" y="688926"/>
            <a:ext cx="47052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Gestion de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Integrales</a:t>
            </a:r>
            <a:endParaRPr lang="en-US" sz="3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434336E-DC93-AF50-17ED-24C9F14FA383}"/>
              </a:ext>
            </a:extLst>
          </p:cNvPr>
          <p:cNvSpPr txBox="1"/>
          <p:nvPr/>
        </p:nvSpPr>
        <p:spPr>
          <a:xfrm>
            <a:off x="82839" y="2000964"/>
            <a:ext cx="47052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</a:t>
            </a:r>
            <a:r>
              <a:rPr lang="en-US" sz="1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Veterinaria</a:t>
            </a: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QA/QC 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18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</a:t>
            </a: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ISO, JUnit, Selenium, JMeter y SonarQube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A7F556C-28FC-4A8D-24C4-6C388C9CFF9E}"/>
              </a:ext>
            </a:extLst>
          </p:cNvPr>
          <p:cNvSpPr/>
          <p:nvPr/>
        </p:nvSpPr>
        <p:spPr>
          <a:xfrm>
            <a:off x="82839" y="32304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Ximena del Pilar Zambrano Chala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A92A7C5-C106-CF74-F506-91DD061193F6}"/>
              </a:ext>
            </a:extLst>
          </p:cNvPr>
          <p:cNvSpPr/>
          <p:nvPr/>
        </p:nvSpPr>
        <p:spPr>
          <a:xfrm>
            <a:off x="82839" y="3962751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CORHUILA · Facultad de Ingeniería · Calidad de Software 2026A · 11 de mayo de 2026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38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AB6885-994A-BFA4-7FEE-9592E5AE1C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" y="0"/>
            <a:ext cx="12190476" cy="685885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120CBF3-45D0-5684-5AE4-AA3FDC7AAAC2}"/>
              </a:ext>
            </a:extLst>
          </p:cNvPr>
          <p:cNvSpPr/>
          <p:nvPr/>
        </p:nvSpPr>
        <p:spPr>
          <a:xfrm>
            <a:off x="294968" y="209181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74B953-F23F-F575-C96B-0DCFEF7A8D88}"/>
              </a:ext>
            </a:extLst>
          </p:cNvPr>
          <p:cNvSpPr/>
          <p:nvPr/>
        </p:nvSpPr>
        <p:spPr>
          <a:xfrm>
            <a:off x="752168" y="209181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Proyecto?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11F8B07-B20C-8AE9-37E4-B42B5FF05719}"/>
              </a:ext>
            </a:extLst>
          </p:cNvPr>
          <p:cNvSpPr/>
          <p:nvPr/>
        </p:nvSpPr>
        <p:spPr>
          <a:xfrm>
            <a:off x="1327871" y="1573505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3203F5A-4C93-24B2-D4C6-BD0261E0C4EF}"/>
              </a:ext>
            </a:extLst>
          </p:cNvPr>
          <p:cNvSpPr/>
          <p:nvPr/>
        </p:nvSpPr>
        <p:spPr>
          <a:xfrm>
            <a:off x="1327871" y="1572147"/>
            <a:ext cx="4114800" cy="4114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53A40CD-5A41-16E7-256C-8B659EF2231B}"/>
              </a:ext>
            </a:extLst>
          </p:cNvPr>
          <p:cNvSpPr/>
          <p:nvPr/>
        </p:nvSpPr>
        <p:spPr>
          <a:xfrm>
            <a:off x="1327871" y="1613861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CONTEXTO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ED80425-3103-422B-D0BD-63C479919E05}"/>
              </a:ext>
            </a:extLst>
          </p:cNvPr>
          <p:cNvSpPr/>
          <p:nvPr/>
        </p:nvSpPr>
        <p:spPr>
          <a:xfrm>
            <a:off x="1602191" y="2221598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en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Spring Boot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gestionar una clínica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Entidades: Dueño, Mascota, Cita, Tratamiento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PostgreSQL + H2 (pruebas)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Thymeleaf (HTML/CSS/JS)</a:t>
            </a:r>
            <a:endParaRPr lang="en-US" sz="13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5E43516-EF2B-A827-26F3-07F87222FCCD}"/>
              </a:ext>
            </a:extLst>
          </p:cNvPr>
          <p:cNvSpPr/>
          <p:nvPr/>
        </p:nvSpPr>
        <p:spPr>
          <a:xfrm>
            <a:off x="6096000" y="1573505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BFC3C57-C744-9BE5-17EB-26548A1E06BD}"/>
              </a:ext>
            </a:extLst>
          </p:cNvPr>
          <p:cNvSpPr/>
          <p:nvPr/>
        </p:nvSpPr>
        <p:spPr>
          <a:xfrm>
            <a:off x="6096000" y="1573505"/>
            <a:ext cx="4114800" cy="41148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s-419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3E99B76-818E-8932-69A2-8D636EDD5F2F}"/>
              </a:ext>
            </a:extLst>
          </p:cNvPr>
          <p:cNvSpPr/>
          <p:nvPr/>
        </p:nvSpPr>
        <p:spPr>
          <a:xfrm>
            <a:off x="6096000" y="14982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STACK DE CALIDAD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C6E61FB-AD3D-D7C9-1936-77186104E27A}"/>
              </a:ext>
            </a:extLst>
          </p:cNvPr>
          <p:cNvSpPr/>
          <p:nvPr/>
        </p:nvSpPr>
        <p:spPr>
          <a:xfrm>
            <a:off x="6278880" y="2019436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JUnit 5 + JaCoCo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Selenium WebDriver (POM)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Apache JMeter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SonarQube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Docker + Docker Compose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GitHub Actions CI/CD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63395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D77E9AD8-C759-8CFA-0B0A-D55CFFD8D730}"/>
              </a:ext>
            </a:extLst>
          </p:cNvPr>
          <p:cNvSpPr/>
          <p:nvPr/>
        </p:nvSpPr>
        <p:spPr>
          <a:xfrm>
            <a:off x="1524000" y="1120878"/>
            <a:ext cx="9144000" cy="77724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9723A4E4-F8CA-895F-CD1D-F40317974612}"/>
              </a:ext>
            </a:extLst>
          </p:cNvPr>
          <p:cNvSpPr/>
          <p:nvPr/>
        </p:nvSpPr>
        <p:spPr>
          <a:xfrm>
            <a:off x="1981200" y="112087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2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3368AE59-8E34-746B-3777-F52BA2CC984C}"/>
              </a:ext>
            </a:extLst>
          </p:cNvPr>
          <p:cNvSpPr/>
          <p:nvPr/>
        </p:nvSpPr>
        <p:spPr>
          <a:xfrm>
            <a:off x="1844040" y="2035278"/>
            <a:ext cx="8503920" cy="822960"/>
          </a:xfrm>
          <a:prstGeom prst="rect">
            <a:avLst/>
          </a:prstGeom>
          <a:solidFill>
            <a:srgbClr val="0A9396">
              <a:alpha val="85000"/>
            </a:srgbClr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EBC6619D-65BB-AEBE-E1FF-5B432D33A50D}"/>
              </a:ext>
            </a:extLst>
          </p:cNvPr>
          <p:cNvSpPr/>
          <p:nvPr/>
        </p:nvSpPr>
        <p:spPr>
          <a:xfrm>
            <a:off x="2026920" y="208099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de forma integral QA/QC, estándares ISO/IEC 25010 e ISO 29119 y herramientas modernas en el desarrollo y validación de una app web veterinaria en Java.</a:t>
            </a:r>
            <a:endParaRPr lang="en-US" sz="120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A4617E11-4B70-A6F2-9AD9-5ADF6DCF0CBC}"/>
              </a:ext>
            </a:extLst>
          </p:cNvPr>
          <p:cNvSpPr/>
          <p:nvPr/>
        </p:nvSpPr>
        <p:spPr>
          <a:xfrm>
            <a:off x="1844040" y="304111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BAC616F9-9BAA-2AD0-B51D-B942C01A48B2}"/>
              </a:ext>
            </a:extLst>
          </p:cNvPr>
          <p:cNvSpPr/>
          <p:nvPr/>
        </p:nvSpPr>
        <p:spPr>
          <a:xfrm>
            <a:off x="1844040" y="3041118"/>
            <a:ext cx="384048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0192834F-1B79-7BC6-3335-A491DAD50756}"/>
              </a:ext>
            </a:extLst>
          </p:cNvPr>
          <p:cNvSpPr/>
          <p:nvPr/>
        </p:nvSpPr>
        <p:spPr>
          <a:xfrm>
            <a:off x="1844040" y="304111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9B00"/>
                </a:solidFill>
              </a:rPr>
              <a:t>1</a:t>
            </a:r>
            <a:endParaRPr lang="en-US" sz="18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D8424D17-CA95-DC03-0DB8-72549BDA3D05}"/>
              </a:ext>
            </a:extLst>
          </p:cNvPr>
          <p:cNvSpPr/>
          <p:nvPr/>
        </p:nvSpPr>
        <p:spPr>
          <a:xfrm>
            <a:off x="2301240" y="311427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≥ 80% con JUnit 5 + JaCoCo sobre la capa Service</a:t>
            </a:r>
            <a:endParaRPr lang="en-US" sz="1150" dirty="0"/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5D0199AE-8ACE-6983-CEE0-7D62EAAAFF00}"/>
              </a:ext>
            </a:extLst>
          </p:cNvPr>
          <p:cNvSpPr/>
          <p:nvPr/>
        </p:nvSpPr>
        <p:spPr>
          <a:xfrm>
            <a:off x="1844040" y="395551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E6C273F8-6976-364E-F3D6-19A8FAA5C04D}"/>
              </a:ext>
            </a:extLst>
          </p:cNvPr>
          <p:cNvSpPr/>
          <p:nvPr/>
        </p:nvSpPr>
        <p:spPr>
          <a:xfrm>
            <a:off x="1844040" y="3955518"/>
            <a:ext cx="384048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C00581D9-007C-5FF8-7146-98785EDBDBC4}"/>
              </a:ext>
            </a:extLst>
          </p:cNvPr>
          <p:cNvSpPr/>
          <p:nvPr/>
        </p:nvSpPr>
        <p:spPr>
          <a:xfrm>
            <a:off x="1844040" y="395551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9B00"/>
                </a:solidFill>
              </a:rPr>
              <a:t>2</a:t>
            </a:r>
            <a:endParaRPr lang="en-US" sz="18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689132F4-5106-BD0E-3A71-F3E513DF0086}"/>
              </a:ext>
            </a:extLst>
          </p:cNvPr>
          <p:cNvSpPr/>
          <p:nvPr/>
        </p:nvSpPr>
        <p:spPr>
          <a:xfrm>
            <a:off x="2301240" y="402867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flujos críticos automatizados con Selenium WebDriver (POM)</a:t>
            </a:r>
            <a:endParaRPr lang="en-US" sz="1150" dirty="0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01716566-3D26-83AB-F42E-CDECA46D0450}"/>
              </a:ext>
            </a:extLst>
          </p:cNvPr>
          <p:cNvSpPr/>
          <p:nvPr/>
        </p:nvSpPr>
        <p:spPr>
          <a:xfrm>
            <a:off x="1844040" y="486991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293567FC-91AD-FC1F-3E6E-AE6F072FF4B5}"/>
              </a:ext>
            </a:extLst>
          </p:cNvPr>
          <p:cNvSpPr/>
          <p:nvPr/>
        </p:nvSpPr>
        <p:spPr>
          <a:xfrm>
            <a:off x="1844040" y="4869918"/>
            <a:ext cx="384048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310F9C87-B822-D34E-0B08-4CB88102EE5A}"/>
              </a:ext>
            </a:extLst>
          </p:cNvPr>
          <p:cNvSpPr/>
          <p:nvPr/>
        </p:nvSpPr>
        <p:spPr>
          <a:xfrm>
            <a:off x="1844040" y="486991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9B00"/>
                </a:solidFill>
              </a:rPr>
              <a:t>3</a:t>
            </a:r>
            <a:endParaRPr lang="en-US" sz="18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DAFCFD2A-E130-7B19-F41C-FDE9220C3B31}"/>
              </a:ext>
            </a:extLst>
          </p:cNvPr>
          <p:cNvSpPr/>
          <p:nvPr/>
        </p:nvSpPr>
        <p:spPr>
          <a:xfrm>
            <a:off x="2301240" y="494307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carga escalonadas (5, 50, 150 usuarios) con JMeter</a:t>
            </a:r>
            <a:endParaRPr lang="en-US" sz="1150" dirty="0"/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CCCA3C77-DF8D-4471-BE6D-EDF2631F40C9}"/>
              </a:ext>
            </a:extLst>
          </p:cNvPr>
          <p:cNvSpPr/>
          <p:nvPr/>
        </p:nvSpPr>
        <p:spPr>
          <a:xfrm>
            <a:off x="6278880" y="304111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E20B43A9-F288-6BC6-1E0F-9F558DB08BD1}"/>
              </a:ext>
            </a:extLst>
          </p:cNvPr>
          <p:cNvSpPr/>
          <p:nvPr/>
        </p:nvSpPr>
        <p:spPr>
          <a:xfrm>
            <a:off x="6278880" y="3041118"/>
            <a:ext cx="384048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F7A7E2CB-F070-A07C-203E-DB942C797337}"/>
              </a:ext>
            </a:extLst>
          </p:cNvPr>
          <p:cNvSpPr/>
          <p:nvPr/>
        </p:nvSpPr>
        <p:spPr>
          <a:xfrm>
            <a:off x="6278880" y="304111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9B00"/>
                </a:solidFill>
              </a:rPr>
              <a:t>4</a:t>
            </a:r>
            <a:endParaRPr lang="en-US" sz="18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8D40B5EE-605F-C0B1-4A6F-B6075C163210}"/>
              </a:ext>
            </a:extLst>
          </p:cNvPr>
          <p:cNvSpPr/>
          <p:nvPr/>
        </p:nvSpPr>
        <p:spPr>
          <a:xfrm>
            <a:off x="6736080" y="311427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estático: defect density, code smells, vulnerabilidades en SonarQube</a:t>
            </a:r>
            <a:endParaRPr lang="en-US" sz="1150" dirty="0"/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06433730-7DBC-7038-C045-A55093B89C6A}"/>
              </a:ext>
            </a:extLst>
          </p:cNvPr>
          <p:cNvSpPr/>
          <p:nvPr/>
        </p:nvSpPr>
        <p:spPr>
          <a:xfrm>
            <a:off x="6278880" y="395551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47016A67-E263-B0C6-F20E-D79345BF2B48}"/>
              </a:ext>
            </a:extLst>
          </p:cNvPr>
          <p:cNvSpPr/>
          <p:nvPr/>
        </p:nvSpPr>
        <p:spPr>
          <a:xfrm>
            <a:off x="6278880" y="3955518"/>
            <a:ext cx="384048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01C8C188-42B7-4CC9-C8C9-6A3819FB844B}"/>
              </a:ext>
            </a:extLst>
          </p:cNvPr>
          <p:cNvSpPr/>
          <p:nvPr/>
        </p:nvSpPr>
        <p:spPr>
          <a:xfrm>
            <a:off x="6278880" y="395551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E9B00"/>
                </a:solidFill>
              </a:rPr>
              <a:t>5</a:t>
            </a:r>
            <a:endParaRPr lang="en-US" sz="18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C5280FEA-4229-8483-CD32-B2BB53336E3B}"/>
              </a:ext>
            </a:extLst>
          </p:cNvPr>
          <p:cNvSpPr/>
          <p:nvPr/>
        </p:nvSpPr>
        <p:spPr>
          <a:xfrm>
            <a:off x="6736080" y="402867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con GitHub Actions + contenedores Docker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11787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>
            <a:extLst>
              <a:ext uri="{FF2B5EF4-FFF2-40B4-BE49-F238E27FC236}">
                <a16:creationId xmlns:a16="http://schemas.microsoft.com/office/drawing/2014/main" id="{A8B5573D-F6BE-8406-EB5A-1FD2BFA20CA9}"/>
              </a:ext>
            </a:extLst>
          </p:cNvPr>
          <p:cNvSpPr/>
          <p:nvPr/>
        </p:nvSpPr>
        <p:spPr>
          <a:xfrm>
            <a:off x="1981200" y="1015181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Estándares Internacionales</a:t>
            </a:r>
            <a:endParaRPr lang="en-US" sz="2400" dirty="0"/>
          </a:p>
        </p:txBody>
      </p:sp>
      <p:sp>
        <p:nvSpPr>
          <p:cNvPr id="65" name="Shape 1">
            <a:extLst>
              <a:ext uri="{FF2B5EF4-FFF2-40B4-BE49-F238E27FC236}">
                <a16:creationId xmlns:a16="http://schemas.microsoft.com/office/drawing/2014/main" id="{B7182001-7A6B-C4EC-9543-F2C7946B4A26}"/>
              </a:ext>
            </a:extLst>
          </p:cNvPr>
          <p:cNvSpPr/>
          <p:nvPr/>
        </p:nvSpPr>
        <p:spPr>
          <a:xfrm>
            <a:off x="1981200" y="1682693"/>
            <a:ext cx="8229600" cy="27432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6" name="Shape 2">
            <a:extLst>
              <a:ext uri="{FF2B5EF4-FFF2-40B4-BE49-F238E27FC236}">
                <a16:creationId xmlns:a16="http://schemas.microsoft.com/office/drawing/2014/main" id="{56383472-CD88-BCD5-21F5-4E1049B6AFB1}"/>
              </a:ext>
            </a:extLst>
          </p:cNvPr>
          <p:cNvSpPr/>
          <p:nvPr/>
        </p:nvSpPr>
        <p:spPr>
          <a:xfrm>
            <a:off x="1889760" y="1838141"/>
            <a:ext cx="265176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1AE068AE-5F75-07D3-81EC-A62195359DA0}"/>
              </a:ext>
            </a:extLst>
          </p:cNvPr>
          <p:cNvSpPr/>
          <p:nvPr/>
        </p:nvSpPr>
        <p:spPr>
          <a:xfrm>
            <a:off x="1889760" y="1838141"/>
            <a:ext cx="2651760" cy="54864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39AF6E83-1160-CC04-02D9-0CBEB773D808}"/>
              </a:ext>
            </a:extLst>
          </p:cNvPr>
          <p:cNvSpPr/>
          <p:nvPr/>
        </p:nvSpPr>
        <p:spPr>
          <a:xfrm>
            <a:off x="1981200" y="1838141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1300" dirty="0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A5A93656-B2F9-42E3-7677-EC792ED3E85E}"/>
              </a:ext>
            </a:extLst>
          </p:cNvPr>
          <p:cNvSpPr/>
          <p:nvPr/>
        </p:nvSpPr>
        <p:spPr>
          <a:xfrm>
            <a:off x="1889760" y="2386781"/>
            <a:ext cx="265176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8B90D7E3-6370-E675-0347-A1F07785DD03}"/>
              </a:ext>
            </a:extLst>
          </p:cNvPr>
          <p:cNvSpPr/>
          <p:nvPr/>
        </p:nvSpPr>
        <p:spPr>
          <a:xfrm>
            <a:off x="1981200" y="2386781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</a:t>
            </a:r>
            <a:endParaRPr lang="en-US" sz="10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678033FA-0901-84C1-87CC-54E2C4EFB32B}"/>
              </a:ext>
            </a:extLst>
          </p:cNvPr>
          <p:cNvSpPr/>
          <p:nvPr/>
        </p:nvSpPr>
        <p:spPr>
          <a:xfrm>
            <a:off x="1999488" y="2816549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 características: Funcionalidad, Desempeño, Usabilidad, Fiabilidad, Seguridad, Mantenibilidad, Compatibilidad y Portabilidad.</a:t>
            </a:r>
            <a:endParaRPr lang="en-US" sz="1150" dirty="0"/>
          </a:p>
        </p:txBody>
      </p:sp>
      <p:sp>
        <p:nvSpPr>
          <p:cNvPr id="72" name="Shape 8">
            <a:extLst>
              <a:ext uri="{FF2B5EF4-FFF2-40B4-BE49-F238E27FC236}">
                <a16:creationId xmlns:a16="http://schemas.microsoft.com/office/drawing/2014/main" id="{12EBD935-4580-37E5-1485-B3B9719F87AF}"/>
              </a:ext>
            </a:extLst>
          </p:cNvPr>
          <p:cNvSpPr/>
          <p:nvPr/>
        </p:nvSpPr>
        <p:spPr>
          <a:xfrm>
            <a:off x="4770120" y="1838141"/>
            <a:ext cx="265176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1E6858FF-E30A-5DCC-C504-D53B5CB060C9}"/>
              </a:ext>
            </a:extLst>
          </p:cNvPr>
          <p:cNvSpPr/>
          <p:nvPr/>
        </p:nvSpPr>
        <p:spPr>
          <a:xfrm>
            <a:off x="4770120" y="1838141"/>
            <a:ext cx="2651760" cy="54864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3661D1AD-74D7-56F8-CB13-92F9C136BCB2}"/>
              </a:ext>
            </a:extLst>
          </p:cNvPr>
          <p:cNvSpPr/>
          <p:nvPr/>
        </p:nvSpPr>
        <p:spPr>
          <a:xfrm>
            <a:off x="4861560" y="1838141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29119</a:t>
            </a:r>
            <a:endParaRPr lang="en-US" sz="1300" dirty="0"/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F0B2E8D4-A045-AD70-083A-BA3F307796CF}"/>
              </a:ext>
            </a:extLst>
          </p:cNvPr>
          <p:cNvSpPr/>
          <p:nvPr/>
        </p:nvSpPr>
        <p:spPr>
          <a:xfrm>
            <a:off x="4770120" y="2386781"/>
            <a:ext cx="265176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27553CFB-14FA-70C5-79CA-8C036C7ABD8B}"/>
              </a:ext>
            </a:extLst>
          </p:cNvPr>
          <p:cNvSpPr/>
          <p:nvPr/>
        </p:nvSpPr>
        <p:spPr>
          <a:xfrm>
            <a:off x="4861560" y="2386781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 Prueba</a:t>
            </a:r>
            <a:endParaRPr lang="en-US" sz="100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C84C8C0E-D891-89B4-434E-72316E7CAA6C}"/>
              </a:ext>
            </a:extLst>
          </p:cNvPr>
          <p:cNvSpPr/>
          <p:nvPr/>
        </p:nvSpPr>
        <p:spPr>
          <a:xfrm>
            <a:off x="4879848" y="2816549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Terminología, estructura, documentación y técnicas analíticas para todos los niveles de prueba de software.</a:t>
            </a:r>
            <a:endParaRPr lang="en-US" sz="1150" dirty="0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C3BC333-1C72-9813-6651-D63A6A4872B4}"/>
              </a:ext>
            </a:extLst>
          </p:cNvPr>
          <p:cNvSpPr/>
          <p:nvPr/>
        </p:nvSpPr>
        <p:spPr>
          <a:xfrm>
            <a:off x="7650480" y="1838141"/>
            <a:ext cx="265176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B8569725-1A30-02BB-F833-BDC1ACF4AA63}"/>
              </a:ext>
            </a:extLst>
          </p:cNvPr>
          <p:cNvSpPr/>
          <p:nvPr/>
        </p:nvSpPr>
        <p:spPr>
          <a:xfrm>
            <a:off x="7650480" y="1838141"/>
            <a:ext cx="2651760" cy="548640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B743C4B8-A984-604A-ECAE-023206ECA14A}"/>
              </a:ext>
            </a:extLst>
          </p:cNvPr>
          <p:cNvSpPr/>
          <p:nvPr/>
        </p:nvSpPr>
        <p:spPr>
          <a:xfrm>
            <a:off x="7741920" y="1838141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QA vs QC</a:t>
            </a:r>
            <a:endParaRPr lang="en-US" sz="1300" dirty="0"/>
          </a:p>
        </p:txBody>
      </p:sp>
      <p:sp>
        <p:nvSpPr>
          <p:cNvPr id="81" name="Shape 17">
            <a:extLst>
              <a:ext uri="{FF2B5EF4-FFF2-40B4-BE49-F238E27FC236}">
                <a16:creationId xmlns:a16="http://schemas.microsoft.com/office/drawing/2014/main" id="{7BCB3978-64E6-BF53-2ECC-F87AEDC840BA}"/>
              </a:ext>
            </a:extLst>
          </p:cNvPr>
          <p:cNvSpPr/>
          <p:nvPr/>
        </p:nvSpPr>
        <p:spPr>
          <a:xfrm>
            <a:off x="7650480" y="2386781"/>
            <a:ext cx="2651760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682A2A91-D8DE-40AA-38E3-DB8E6530435A}"/>
              </a:ext>
            </a:extLst>
          </p:cNvPr>
          <p:cNvSpPr/>
          <p:nvPr/>
        </p:nvSpPr>
        <p:spPr>
          <a:xfrm>
            <a:off x="7741920" y="2386781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y Control</a:t>
            </a:r>
            <a:endParaRPr lang="en-US" sz="1000" dirty="0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42A57FBC-D4FF-D3F6-9596-D874D9D92309}"/>
              </a:ext>
            </a:extLst>
          </p:cNvPr>
          <p:cNvSpPr/>
          <p:nvPr/>
        </p:nvSpPr>
        <p:spPr>
          <a:xfrm>
            <a:off x="7760208" y="2816549"/>
            <a:ext cx="2423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QA (proceso preventivo) + QC (producto reactivo). La sinergia entre ambos garantiza sistemas robustos y resilientes.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076322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358796E-5290-3DBF-87A3-9FFD6D8808A8}"/>
              </a:ext>
            </a:extLst>
          </p:cNvPr>
          <p:cNvSpPr/>
          <p:nvPr/>
        </p:nvSpPr>
        <p:spPr>
          <a:xfrm>
            <a:off x="1627238" y="1949737"/>
            <a:ext cx="5029200" cy="658368"/>
          </a:xfrm>
          <a:prstGeom prst="rect">
            <a:avLst/>
          </a:prstGeom>
          <a:solidFill>
            <a:srgbClr val="0A9396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303FA5-6677-E28D-C0DA-506C2B17EA0D}"/>
              </a:ext>
            </a:extLst>
          </p:cNvPr>
          <p:cNvSpPr/>
          <p:nvPr/>
        </p:nvSpPr>
        <p:spPr>
          <a:xfrm>
            <a:off x="1627238" y="1949737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Controladores (MVC)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607B349-43FF-8489-76DC-98806A5EEAD8}"/>
              </a:ext>
            </a:extLst>
          </p:cNvPr>
          <p:cNvSpPr/>
          <p:nvPr/>
        </p:nvSpPr>
        <p:spPr>
          <a:xfrm>
            <a:off x="1627238" y="2726977"/>
            <a:ext cx="5029200" cy="658368"/>
          </a:xfrm>
          <a:prstGeom prst="rect">
            <a:avLst/>
          </a:prstGeom>
          <a:solidFill>
            <a:srgbClr val="005F73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038A8F-C0C2-E06E-1A79-47472342E044}"/>
              </a:ext>
            </a:extLst>
          </p:cNvPr>
          <p:cNvSpPr/>
          <p:nvPr/>
        </p:nvSpPr>
        <p:spPr>
          <a:xfrm>
            <a:off x="1627238" y="2726977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(Lógica de Negocio)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F0A20CF-256F-BBE9-9E89-E993BD621C69}"/>
              </a:ext>
            </a:extLst>
          </p:cNvPr>
          <p:cNvSpPr/>
          <p:nvPr/>
        </p:nvSpPr>
        <p:spPr>
          <a:xfrm>
            <a:off x="1627238" y="3504217"/>
            <a:ext cx="5029200" cy="65836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42C47B3-BBFB-8AAA-BE27-0BC55A824EC1}"/>
              </a:ext>
            </a:extLst>
          </p:cNvPr>
          <p:cNvSpPr/>
          <p:nvPr/>
        </p:nvSpPr>
        <p:spPr>
          <a:xfrm>
            <a:off x="1627238" y="3504217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(Spring Data JPA)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0D5C61C-72A2-FBA9-2F3A-1288E202BF7A}"/>
              </a:ext>
            </a:extLst>
          </p:cNvPr>
          <p:cNvSpPr/>
          <p:nvPr/>
        </p:nvSpPr>
        <p:spPr>
          <a:xfrm>
            <a:off x="1627238" y="4281457"/>
            <a:ext cx="5029200" cy="658368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E0E5E49-42F2-53CE-AFAD-A997BB87CA7A}"/>
              </a:ext>
            </a:extLst>
          </p:cNvPr>
          <p:cNvSpPr/>
          <p:nvPr/>
        </p:nvSpPr>
        <p:spPr>
          <a:xfrm>
            <a:off x="1627238" y="4281457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(PostgreSQL / H2)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1C7E29-3AD9-96CF-EA2B-9D9F2B8CB947}"/>
              </a:ext>
            </a:extLst>
          </p:cNvPr>
          <p:cNvSpPr/>
          <p:nvPr/>
        </p:nvSpPr>
        <p:spPr>
          <a:xfrm>
            <a:off x="3867518" y="2608105"/>
            <a:ext cx="548640" cy="137160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B2810A1-B020-5F13-1BFA-4DA38F3E5872}"/>
              </a:ext>
            </a:extLst>
          </p:cNvPr>
          <p:cNvSpPr/>
          <p:nvPr/>
        </p:nvSpPr>
        <p:spPr>
          <a:xfrm>
            <a:off x="3867518" y="3385345"/>
            <a:ext cx="548640" cy="137160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59E034C-4BD2-0FE5-2905-EE45BF8B7B4D}"/>
              </a:ext>
            </a:extLst>
          </p:cNvPr>
          <p:cNvSpPr/>
          <p:nvPr/>
        </p:nvSpPr>
        <p:spPr>
          <a:xfrm>
            <a:off x="3867518" y="4162585"/>
            <a:ext cx="548640" cy="137160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364D1E3-93AB-3768-1168-3A7ED00F4695}"/>
              </a:ext>
            </a:extLst>
          </p:cNvPr>
          <p:cNvSpPr/>
          <p:nvPr/>
        </p:nvSpPr>
        <p:spPr>
          <a:xfrm>
            <a:off x="6930758" y="1904017"/>
            <a:ext cx="30632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ACAE286-1869-7ED9-1A11-8A29A920FDAC}"/>
              </a:ext>
            </a:extLst>
          </p:cNvPr>
          <p:cNvSpPr/>
          <p:nvPr/>
        </p:nvSpPr>
        <p:spPr>
          <a:xfrm>
            <a:off x="6930758" y="1904017"/>
            <a:ext cx="3063240" cy="438912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8AB3655-27FE-2C9C-A959-799311F83CD5}"/>
              </a:ext>
            </a:extLst>
          </p:cNvPr>
          <p:cNvSpPr/>
          <p:nvPr/>
        </p:nvSpPr>
        <p:spPr>
          <a:xfrm>
            <a:off x="6930758" y="1904017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ENTIDADES DE DOMINIO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033FDC0-DED8-18A1-4336-78512D4153A3}"/>
              </a:ext>
            </a:extLst>
          </p:cNvPr>
          <p:cNvSpPr/>
          <p:nvPr/>
        </p:nvSpPr>
        <p:spPr>
          <a:xfrm>
            <a:off x="7067918" y="2452657"/>
            <a:ext cx="2788920" cy="502920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03BE401-EF72-FFB7-BE2D-D1217B642C65}"/>
              </a:ext>
            </a:extLst>
          </p:cNvPr>
          <p:cNvSpPr/>
          <p:nvPr/>
        </p:nvSpPr>
        <p:spPr>
          <a:xfrm>
            <a:off x="7095350" y="2470945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Dueño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E38DA99-F449-A667-0305-7D997ED6D1D3}"/>
              </a:ext>
            </a:extLst>
          </p:cNvPr>
          <p:cNvSpPr/>
          <p:nvPr/>
        </p:nvSpPr>
        <p:spPr>
          <a:xfrm>
            <a:off x="8210918" y="2470945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1:N con Mascota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D9C98D7-43F0-D62A-FE6A-EC75F2311FC6}"/>
              </a:ext>
            </a:extLst>
          </p:cNvPr>
          <p:cNvSpPr/>
          <p:nvPr/>
        </p:nvSpPr>
        <p:spPr>
          <a:xfrm>
            <a:off x="7067918" y="3065305"/>
            <a:ext cx="2788920" cy="502920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6FB3A2E-92BB-1B01-59D6-B621851A902C}"/>
              </a:ext>
            </a:extLst>
          </p:cNvPr>
          <p:cNvSpPr/>
          <p:nvPr/>
        </p:nvSpPr>
        <p:spPr>
          <a:xfrm>
            <a:off x="7095350" y="3083593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Mascota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22B0586-1EE4-153F-AED8-F11EC885DCF6}"/>
              </a:ext>
            </a:extLst>
          </p:cNvPr>
          <p:cNvSpPr/>
          <p:nvPr/>
        </p:nvSpPr>
        <p:spPr>
          <a:xfrm>
            <a:off x="8210918" y="3083593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N:1 Dueño / 1:N Citas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B3BA2E9-7C91-B17B-324F-5EBCE2222DE0}"/>
              </a:ext>
            </a:extLst>
          </p:cNvPr>
          <p:cNvSpPr/>
          <p:nvPr/>
        </p:nvSpPr>
        <p:spPr>
          <a:xfrm>
            <a:off x="7067918" y="3677953"/>
            <a:ext cx="2788920" cy="502920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95D2ED9-7D64-E9FD-6287-57A20F577734}"/>
              </a:ext>
            </a:extLst>
          </p:cNvPr>
          <p:cNvSpPr/>
          <p:nvPr/>
        </p:nvSpPr>
        <p:spPr>
          <a:xfrm>
            <a:off x="7095350" y="3696241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Cita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1249076-7FB5-2DC1-7070-F632F6B04D0D}"/>
              </a:ext>
            </a:extLst>
          </p:cNvPr>
          <p:cNvSpPr/>
          <p:nvPr/>
        </p:nvSpPr>
        <p:spPr>
          <a:xfrm>
            <a:off x="8210918" y="3696241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N:1 con Mascota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CE67FDD-626D-C85B-41A9-2697438F77CA}"/>
              </a:ext>
            </a:extLst>
          </p:cNvPr>
          <p:cNvSpPr/>
          <p:nvPr/>
        </p:nvSpPr>
        <p:spPr>
          <a:xfrm>
            <a:off x="7067918" y="4290601"/>
            <a:ext cx="2788920" cy="502920"/>
          </a:xfrm>
          <a:prstGeom prst="rect">
            <a:avLst/>
          </a:prstGeom>
          <a:solidFill>
            <a:srgbClr val="F8FAFB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5BD1186-A6E7-6399-4A17-99463865AE93}"/>
              </a:ext>
            </a:extLst>
          </p:cNvPr>
          <p:cNvSpPr/>
          <p:nvPr/>
        </p:nvSpPr>
        <p:spPr>
          <a:xfrm>
            <a:off x="7095350" y="4308889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F73"/>
                </a:solidFill>
              </a:rPr>
              <a:t>Tratamiento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A4A2F5E-D8CE-3F3D-2C9F-508A06043FE9}"/>
              </a:ext>
            </a:extLst>
          </p:cNvPr>
          <p:cNvSpPr/>
          <p:nvPr/>
        </p:nvSpPr>
        <p:spPr>
          <a:xfrm>
            <a:off x="8210918" y="4308889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Rel. Mascota / Cita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AD47DBA-C858-F504-C7CD-566DEE03DDFC}"/>
              </a:ext>
            </a:extLst>
          </p:cNvPr>
          <p:cNvSpPr/>
          <p:nvPr/>
        </p:nvSpPr>
        <p:spPr>
          <a:xfrm>
            <a:off x="1627238" y="5058697"/>
            <a:ext cx="5029200" cy="457200"/>
          </a:xfrm>
          <a:prstGeom prst="rect">
            <a:avLst/>
          </a:prstGeom>
          <a:solidFill>
            <a:srgbClr val="EE9B00">
              <a:alpha val="8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0C5BA8-C4B2-6034-49D7-C07AB025F776}"/>
              </a:ext>
            </a:extLst>
          </p:cNvPr>
          <p:cNvSpPr/>
          <p:nvPr/>
        </p:nvSpPr>
        <p:spPr>
          <a:xfrm>
            <a:off x="1627238" y="5058697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Vista: Thymeleaf (HTML + CSS + JS) — probada con Selenium</a:t>
            </a:r>
            <a:endParaRPr lang="en-US" sz="11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27734AE0-77A7-867A-30D7-CA952195E034}"/>
              </a:ext>
            </a:extLst>
          </p:cNvPr>
          <p:cNvSpPr/>
          <p:nvPr/>
        </p:nvSpPr>
        <p:spPr>
          <a:xfrm>
            <a:off x="1445342" y="806737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45BFE9F8-B6FF-A04D-FE18-A930400C9587}"/>
              </a:ext>
            </a:extLst>
          </p:cNvPr>
          <p:cNvSpPr/>
          <p:nvPr/>
        </p:nvSpPr>
        <p:spPr>
          <a:xfrm>
            <a:off x="1902542" y="806737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Aplicación Web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030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77F0292-EB82-69BC-E626-C7D221D43F7B}"/>
              </a:ext>
            </a:extLst>
          </p:cNvPr>
          <p:cNvSpPr/>
          <p:nvPr/>
        </p:nvSpPr>
        <p:spPr>
          <a:xfrm>
            <a:off x="1524000" y="747252"/>
            <a:ext cx="9144000" cy="77724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8239E6-EC7A-6560-1909-F8D6A35E2193}"/>
              </a:ext>
            </a:extLst>
          </p:cNvPr>
          <p:cNvSpPr/>
          <p:nvPr/>
        </p:nvSpPr>
        <p:spPr>
          <a:xfrm>
            <a:off x="1981200" y="74725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— JUnit 5 + JaCoCo</a:t>
            </a:r>
            <a:endParaRPr lang="en-US" sz="2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3615EC9-6F0A-9767-FBC6-19A491D64376}"/>
              </a:ext>
            </a:extLst>
          </p:cNvPr>
          <p:cNvSpPr/>
          <p:nvPr/>
        </p:nvSpPr>
        <p:spPr>
          <a:xfrm>
            <a:off x="1844040" y="1707372"/>
            <a:ext cx="36576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C1A008A-2E45-181C-3DB9-9CC94155B23D}"/>
              </a:ext>
            </a:extLst>
          </p:cNvPr>
          <p:cNvSpPr/>
          <p:nvPr/>
        </p:nvSpPr>
        <p:spPr>
          <a:xfrm>
            <a:off x="1844040" y="17073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PRUEBA</a:t>
            </a:r>
            <a:endParaRPr lang="en-US" sz="1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4EBBCF6-23C7-0058-43EA-74162DFA9E15}"/>
              </a:ext>
            </a:extLst>
          </p:cNvPr>
          <p:cNvSpPr/>
          <p:nvPr/>
        </p:nvSpPr>
        <p:spPr>
          <a:xfrm>
            <a:off x="1981200" y="213714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con Mockito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 de MascotaRepository, CitaRepository, etc.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de escenarios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path, casos límite, flujos negativos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evaluadas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MascotaService, DuenioService, CitaService, TratamientoService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E58A540-84A4-9958-CF35-299A1BEE2E62}"/>
              </a:ext>
            </a:extLst>
          </p:cNvPr>
          <p:cNvSpPr/>
          <p:nvPr/>
        </p:nvSpPr>
        <p:spPr>
          <a:xfrm>
            <a:off x="5775960" y="1707372"/>
            <a:ext cx="45720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A395CFA-10DF-BE15-62F3-384129B4041C}"/>
              </a:ext>
            </a:extLst>
          </p:cNvPr>
          <p:cNvSpPr/>
          <p:nvPr/>
        </p:nvSpPr>
        <p:spPr>
          <a:xfrm>
            <a:off x="5775960" y="17073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COBERTURA</a:t>
            </a:r>
            <a:endParaRPr lang="en-US" sz="1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3B3D3E5-5952-35DB-8265-0AA67F250111}"/>
              </a:ext>
            </a:extLst>
          </p:cNvPr>
          <p:cNvSpPr/>
          <p:nvPr/>
        </p:nvSpPr>
        <p:spPr>
          <a:xfrm>
            <a:off x="5913120" y="22102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MascotaService</a:t>
            </a:r>
            <a:endParaRPr lang="en-US" sz="11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A98AECD-02C2-4179-4F6D-7563453E2A65}"/>
              </a:ext>
            </a:extLst>
          </p:cNvPr>
          <p:cNvSpPr/>
          <p:nvPr/>
        </p:nvSpPr>
        <p:spPr>
          <a:xfrm>
            <a:off x="5913120" y="2539476"/>
            <a:ext cx="39319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A1897A0-83F4-3010-7259-BD323FEE3B3E}"/>
              </a:ext>
            </a:extLst>
          </p:cNvPr>
          <p:cNvSpPr/>
          <p:nvPr/>
        </p:nvSpPr>
        <p:spPr>
          <a:xfrm>
            <a:off x="5913120" y="2539476"/>
            <a:ext cx="3669792" cy="201168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B1C473C-EDBF-FDAA-5A1D-0C4ABB3A8CEE}"/>
              </a:ext>
            </a:extLst>
          </p:cNvPr>
          <p:cNvSpPr/>
          <p:nvPr/>
        </p:nvSpPr>
        <p:spPr>
          <a:xfrm>
            <a:off x="9753600" y="24846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9396"/>
                </a:solidFill>
              </a:rPr>
              <a:t>95.1%</a:t>
            </a:r>
            <a:endParaRPr lang="en-US" sz="11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610AE4E-5051-6A22-C098-E07EE475CF9B}"/>
              </a:ext>
            </a:extLst>
          </p:cNvPr>
          <p:cNvSpPr/>
          <p:nvPr/>
        </p:nvSpPr>
        <p:spPr>
          <a:xfrm>
            <a:off x="5913120" y="29875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DuenioService</a:t>
            </a:r>
            <a:endParaRPr lang="en-US" sz="11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8330B94-C946-001C-934B-8C135D0AFD69}"/>
              </a:ext>
            </a:extLst>
          </p:cNvPr>
          <p:cNvSpPr/>
          <p:nvPr/>
        </p:nvSpPr>
        <p:spPr>
          <a:xfrm>
            <a:off x="5913120" y="3316716"/>
            <a:ext cx="39319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F033378A-26CB-3DD6-C7D4-C25838018DEB}"/>
              </a:ext>
            </a:extLst>
          </p:cNvPr>
          <p:cNvSpPr/>
          <p:nvPr/>
        </p:nvSpPr>
        <p:spPr>
          <a:xfrm>
            <a:off x="5913120" y="3316716"/>
            <a:ext cx="3495040" cy="201168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9421C49-B00D-A429-E6FD-E626BBA49CE6}"/>
              </a:ext>
            </a:extLst>
          </p:cNvPr>
          <p:cNvSpPr/>
          <p:nvPr/>
        </p:nvSpPr>
        <p:spPr>
          <a:xfrm>
            <a:off x="9753600" y="32618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9396"/>
                </a:solidFill>
              </a:rPr>
              <a:t>90.3%</a:t>
            </a:r>
            <a:endParaRPr lang="en-US" sz="11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96675BCE-713F-A4CD-88D7-DC76A787E35E}"/>
              </a:ext>
            </a:extLst>
          </p:cNvPr>
          <p:cNvSpPr/>
          <p:nvPr/>
        </p:nvSpPr>
        <p:spPr>
          <a:xfrm>
            <a:off x="5913120" y="37647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CitaService</a:t>
            </a:r>
            <a:endParaRPr lang="en-US" sz="11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FB8345A6-7288-5116-E37C-30B50406310B}"/>
              </a:ext>
            </a:extLst>
          </p:cNvPr>
          <p:cNvSpPr/>
          <p:nvPr/>
        </p:nvSpPr>
        <p:spPr>
          <a:xfrm>
            <a:off x="5913120" y="4093956"/>
            <a:ext cx="39319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ED9CA9CF-EA68-FBAD-DB56-8B92BB3A9A94}"/>
              </a:ext>
            </a:extLst>
          </p:cNvPr>
          <p:cNvSpPr/>
          <p:nvPr/>
        </p:nvSpPr>
        <p:spPr>
          <a:xfrm>
            <a:off x="5913120" y="4093956"/>
            <a:ext cx="3206699" cy="201168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E00468A-C823-1353-92A3-C3F9CC2B048A}"/>
              </a:ext>
            </a:extLst>
          </p:cNvPr>
          <p:cNvSpPr/>
          <p:nvPr/>
        </p:nvSpPr>
        <p:spPr>
          <a:xfrm>
            <a:off x="9753600" y="40390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A9396"/>
                </a:solidFill>
              </a:rPr>
              <a:t>83%</a:t>
            </a:r>
            <a:endParaRPr lang="en-US" sz="11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C4E284F-E3A3-9F10-3CFF-284D05FE5029}"/>
              </a:ext>
            </a:extLst>
          </p:cNvPr>
          <p:cNvSpPr/>
          <p:nvPr/>
        </p:nvSpPr>
        <p:spPr>
          <a:xfrm>
            <a:off x="5913120" y="45420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CFD179F2-1BEA-7A17-E04D-F9C7E0838E78}"/>
              </a:ext>
            </a:extLst>
          </p:cNvPr>
          <p:cNvSpPr/>
          <p:nvPr/>
        </p:nvSpPr>
        <p:spPr>
          <a:xfrm>
            <a:off x="5913120" y="4871196"/>
            <a:ext cx="3931920" cy="2011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178D8AE8-5FBD-03F5-50C3-6B8C613A7893}"/>
              </a:ext>
            </a:extLst>
          </p:cNvPr>
          <p:cNvSpPr/>
          <p:nvPr/>
        </p:nvSpPr>
        <p:spPr>
          <a:xfrm>
            <a:off x="5913120" y="4871196"/>
            <a:ext cx="3425139" cy="201168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0099FC3C-CF4F-C5E5-697C-A63D128CA7ED}"/>
              </a:ext>
            </a:extLst>
          </p:cNvPr>
          <p:cNvSpPr/>
          <p:nvPr/>
        </p:nvSpPr>
        <p:spPr>
          <a:xfrm>
            <a:off x="9753600" y="48163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5F73"/>
                </a:solidFill>
              </a:rPr>
              <a:t>88.7%</a:t>
            </a:r>
            <a:endParaRPr lang="en-US" sz="110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7CD4F611-CE4E-98B5-5DB4-C225C30C2E59}"/>
              </a:ext>
            </a:extLst>
          </p:cNvPr>
          <p:cNvSpPr/>
          <p:nvPr/>
        </p:nvSpPr>
        <p:spPr>
          <a:xfrm>
            <a:off x="6096000" y="4907772"/>
            <a:ext cx="2560320" cy="411480"/>
          </a:xfrm>
          <a:prstGeom prst="roundRect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F75898C-943B-FA65-CC9F-E48F67DD413A}"/>
              </a:ext>
            </a:extLst>
          </p:cNvPr>
          <p:cNvSpPr/>
          <p:nvPr/>
        </p:nvSpPr>
        <p:spPr>
          <a:xfrm>
            <a:off x="6096000" y="49077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✔  META 80% SUPERADA — 88.7%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8115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C86129E-4522-61EE-6C4C-7977056889FD}"/>
              </a:ext>
            </a:extLst>
          </p:cNvPr>
          <p:cNvSpPr/>
          <p:nvPr/>
        </p:nvSpPr>
        <p:spPr>
          <a:xfrm>
            <a:off x="1524000" y="806245"/>
            <a:ext cx="9144000" cy="77724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A21341F-BD1B-79AE-CAD0-AA2D2D8183C2}"/>
              </a:ext>
            </a:extLst>
          </p:cNvPr>
          <p:cNvSpPr/>
          <p:nvPr/>
        </p:nvSpPr>
        <p:spPr>
          <a:xfrm>
            <a:off x="1981200" y="806245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— Selenium WebDriver + POM</a:t>
            </a:r>
            <a:endParaRPr lang="en-US" sz="21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677BF5D-64D3-FAB9-1F03-4D31FC77024B}"/>
              </a:ext>
            </a:extLst>
          </p:cNvPr>
          <p:cNvSpPr/>
          <p:nvPr/>
        </p:nvSpPr>
        <p:spPr>
          <a:xfrm>
            <a:off x="1844040" y="1766365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9A6838F-F26B-959D-3628-568D834347A9}"/>
              </a:ext>
            </a:extLst>
          </p:cNvPr>
          <p:cNvSpPr/>
          <p:nvPr/>
        </p:nvSpPr>
        <p:spPr>
          <a:xfrm>
            <a:off x="1844040" y="1766365"/>
            <a:ext cx="384048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7D8061-2B23-BED5-2CF4-6BD01C7BF764}"/>
              </a:ext>
            </a:extLst>
          </p:cNvPr>
          <p:cNvSpPr/>
          <p:nvPr/>
        </p:nvSpPr>
        <p:spPr>
          <a:xfrm>
            <a:off x="1844040" y="1766365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D2BD"/>
                </a:solidFill>
              </a:rPr>
              <a:t>PAGE OBJECT MODEL</a:t>
            </a:r>
            <a:endParaRPr lang="en-US" sz="11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F557A66-8E31-5766-F22F-DCB320FE9566}"/>
              </a:ext>
            </a:extLst>
          </p:cNvPr>
          <p:cNvSpPr/>
          <p:nvPr/>
        </p:nvSpPr>
        <p:spPr>
          <a:xfrm>
            <a:off x="1981200" y="2250997"/>
            <a:ext cx="3520440" cy="347472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A8C2259-A65A-84F1-DE94-E9AE0EFCF0FC}"/>
              </a:ext>
            </a:extLst>
          </p:cNvPr>
          <p:cNvSpPr/>
          <p:nvPr/>
        </p:nvSpPr>
        <p:spPr>
          <a:xfrm>
            <a:off x="2090928" y="2269285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BasePage.java</a:t>
            </a:r>
            <a:endParaRPr lang="en-US" sz="11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A9AE6F7-EA13-5C06-116B-39A56D783729}"/>
              </a:ext>
            </a:extLst>
          </p:cNvPr>
          <p:cNvSpPr/>
          <p:nvPr/>
        </p:nvSpPr>
        <p:spPr>
          <a:xfrm>
            <a:off x="1981200" y="2689909"/>
            <a:ext cx="35204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9141E75-D0C6-AED4-1F99-84A850453F28}"/>
              </a:ext>
            </a:extLst>
          </p:cNvPr>
          <p:cNvSpPr/>
          <p:nvPr/>
        </p:nvSpPr>
        <p:spPr>
          <a:xfrm>
            <a:off x="2090928" y="2708197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LoginPage.java</a:t>
            </a:r>
            <a:endParaRPr lang="en-US" sz="11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5B76FEFD-BFA3-FD6D-E0AD-F4FEBF42BCBA}"/>
              </a:ext>
            </a:extLst>
          </p:cNvPr>
          <p:cNvSpPr/>
          <p:nvPr/>
        </p:nvSpPr>
        <p:spPr>
          <a:xfrm>
            <a:off x="1981200" y="3128821"/>
            <a:ext cx="3520440" cy="347472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2BB77E9-2EE6-C7B2-7351-1AB8BA29EE3A}"/>
              </a:ext>
            </a:extLst>
          </p:cNvPr>
          <p:cNvSpPr/>
          <p:nvPr/>
        </p:nvSpPr>
        <p:spPr>
          <a:xfrm>
            <a:off x="2090928" y="3147109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DuenosPage.java</a:t>
            </a:r>
            <a:endParaRPr lang="en-US" sz="11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6B17332-6DFC-EEF4-767E-3430FF4C348B}"/>
              </a:ext>
            </a:extLst>
          </p:cNvPr>
          <p:cNvSpPr/>
          <p:nvPr/>
        </p:nvSpPr>
        <p:spPr>
          <a:xfrm>
            <a:off x="1981200" y="3567733"/>
            <a:ext cx="35204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3A125B9-38AF-4858-0541-05D5CE1B0B90}"/>
              </a:ext>
            </a:extLst>
          </p:cNvPr>
          <p:cNvSpPr/>
          <p:nvPr/>
        </p:nvSpPr>
        <p:spPr>
          <a:xfrm>
            <a:off x="2090928" y="3586021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MascotasPage.java</a:t>
            </a:r>
            <a:endParaRPr lang="en-US" sz="11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6FC8C00E-DB48-3E22-5327-E6AF8A80A3AA}"/>
              </a:ext>
            </a:extLst>
          </p:cNvPr>
          <p:cNvSpPr/>
          <p:nvPr/>
        </p:nvSpPr>
        <p:spPr>
          <a:xfrm>
            <a:off x="1981200" y="4006645"/>
            <a:ext cx="3520440" cy="347472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6BC2E10-8831-0EDD-BC0C-557C508B96D8}"/>
              </a:ext>
            </a:extLst>
          </p:cNvPr>
          <p:cNvSpPr/>
          <p:nvPr/>
        </p:nvSpPr>
        <p:spPr>
          <a:xfrm>
            <a:off x="2090928" y="4024933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CitasPage.java</a:t>
            </a:r>
            <a:endParaRPr lang="en-US" sz="11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AE8EC360-9FB0-DEEA-35FA-F35C4E2E54DC}"/>
              </a:ext>
            </a:extLst>
          </p:cNvPr>
          <p:cNvSpPr/>
          <p:nvPr/>
        </p:nvSpPr>
        <p:spPr>
          <a:xfrm>
            <a:off x="1981200" y="4445557"/>
            <a:ext cx="352044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B880BE7-213A-D7FC-9BFB-188B33CA8220}"/>
              </a:ext>
            </a:extLst>
          </p:cNvPr>
          <p:cNvSpPr/>
          <p:nvPr/>
        </p:nvSpPr>
        <p:spPr>
          <a:xfrm>
            <a:off x="2090928" y="4463845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TratamientosPage.java</a:t>
            </a:r>
            <a:endParaRPr lang="en-US" sz="11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EEA19F0C-8D13-173B-4107-DA01ECFF93E3}"/>
              </a:ext>
            </a:extLst>
          </p:cNvPr>
          <p:cNvSpPr/>
          <p:nvPr/>
        </p:nvSpPr>
        <p:spPr>
          <a:xfrm>
            <a:off x="1981200" y="4884469"/>
            <a:ext cx="3520440" cy="347472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CE7E9E71-81C8-6ED3-C0EC-E26B425E0E45}"/>
              </a:ext>
            </a:extLst>
          </p:cNvPr>
          <p:cNvSpPr/>
          <p:nvPr/>
        </p:nvSpPr>
        <p:spPr>
          <a:xfrm>
            <a:off x="2090928" y="4902757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9396"/>
                </a:solidFill>
              </a:rPr>
              <a:t>WebDriverConfig.java (Chrome + Firefox)</a:t>
            </a:r>
            <a:endParaRPr lang="en-US" sz="11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18351027-2483-47E4-837E-262FA95F220A}"/>
              </a:ext>
            </a:extLst>
          </p:cNvPr>
          <p:cNvSpPr/>
          <p:nvPr/>
        </p:nvSpPr>
        <p:spPr>
          <a:xfrm>
            <a:off x="5867400" y="1766365"/>
            <a:ext cx="44805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16E02088-3A6A-4401-166F-C227CA42306C}"/>
              </a:ext>
            </a:extLst>
          </p:cNvPr>
          <p:cNvSpPr/>
          <p:nvPr/>
        </p:nvSpPr>
        <p:spPr>
          <a:xfrm>
            <a:off x="5867400" y="1766365"/>
            <a:ext cx="4480560" cy="384048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BBCE376-57C6-46B5-E898-248345032DB2}"/>
              </a:ext>
            </a:extLst>
          </p:cNvPr>
          <p:cNvSpPr/>
          <p:nvPr/>
        </p:nvSpPr>
        <p:spPr>
          <a:xfrm>
            <a:off x="5867400" y="1766365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CASOS DE PRUEBA — RESULTADO: 100% ✔</a:t>
            </a:r>
            <a:endParaRPr lang="en-US" sz="11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3A7CBD70-68E0-D4F6-14BA-25FBFC118916}"/>
              </a:ext>
            </a:extLst>
          </p:cNvPr>
          <p:cNvSpPr/>
          <p:nvPr/>
        </p:nvSpPr>
        <p:spPr>
          <a:xfrm>
            <a:off x="5958840" y="2269285"/>
            <a:ext cx="4297680" cy="512064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034B1370-A652-C900-5172-0E32CF3C3A34}"/>
              </a:ext>
            </a:extLst>
          </p:cNvPr>
          <p:cNvSpPr/>
          <p:nvPr/>
        </p:nvSpPr>
        <p:spPr>
          <a:xfrm>
            <a:off x="5958840" y="2333293"/>
            <a:ext cx="658368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884DC86-B937-D2D2-3AF0-E98DAE69418D}"/>
              </a:ext>
            </a:extLst>
          </p:cNvPr>
          <p:cNvSpPr/>
          <p:nvPr/>
        </p:nvSpPr>
        <p:spPr>
          <a:xfrm>
            <a:off x="5958840" y="2333293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E9B00"/>
                </a:solidFill>
              </a:rPr>
              <a:t>TC-01</a:t>
            </a:r>
            <a:endParaRPr lang="en-US" sz="1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B5DA189F-62C3-5DCA-8885-CD936C0B73CC}"/>
              </a:ext>
            </a:extLst>
          </p:cNvPr>
          <p:cNvSpPr/>
          <p:nvPr/>
        </p:nvSpPr>
        <p:spPr>
          <a:xfrm>
            <a:off x="6672072" y="2360725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Registro Exitoso de Dueño</a:t>
            </a:r>
            <a:endParaRPr lang="en-US" sz="115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03517F49-6791-5BAE-CE75-3D35C8E23545}"/>
              </a:ext>
            </a:extLst>
          </p:cNvPr>
          <p:cNvSpPr/>
          <p:nvPr/>
        </p:nvSpPr>
        <p:spPr>
          <a:xfrm>
            <a:off x="10009632" y="2415589"/>
            <a:ext cx="219456" cy="219456"/>
          </a:xfrm>
          <a:prstGeom prst="ellipse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0379EA92-4A4C-0D79-8229-598266885AD6}"/>
              </a:ext>
            </a:extLst>
          </p:cNvPr>
          <p:cNvSpPr/>
          <p:nvPr/>
        </p:nvSpPr>
        <p:spPr>
          <a:xfrm>
            <a:off x="5958840" y="2891077"/>
            <a:ext cx="42976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CCF40D47-9A0E-5B95-158A-0AC460B79B71}"/>
              </a:ext>
            </a:extLst>
          </p:cNvPr>
          <p:cNvSpPr/>
          <p:nvPr/>
        </p:nvSpPr>
        <p:spPr>
          <a:xfrm>
            <a:off x="5958840" y="2955085"/>
            <a:ext cx="658368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7890E52-6920-5CE1-A11E-62A2F6DFFBFD}"/>
              </a:ext>
            </a:extLst>
          </p:cNvPr>
          <p:cNvSpPr/>
          <p:nvPr/>
        </p:nvSpPr>
        <p:spPr>
          <a:xfrm>
            <a:off x="5958840" y="2955085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E9B00"/>
                </a:solidFill>
              </a:rPr>
              <a:t>TC-02</a:t>
            </a:r>
            <a:endParaRPr lang="en-US" sz="10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376574E2-0E60-FB57-446A-47D7C65EB89D}"/>
              </a:ext>
            </a:extLst>
          </p:cNvPr>
          <p:cNvSpPr/>
          <p:nvPr/>
        </p:nvSpPr>
        <p:spPr>
          <a:xfrm>
            <a:off x="6672072" y="2982517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Asociación Dueño-Mascota</a:t>
            </a:r>
            <a:endParaRPr lang="en-US" sz="115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0C86EABD-C571-F4E6-31B6-83E4A9970FAB}"/>
              </a:ext>
            </a:extLst>
          </p:cNvPr>
          <p:cNvSpPr/>
          <p:nvPr/>
        </p:nvSpPr>
        <p:spPr>
          <a:xfrm>
            <a:off x="10009632" y="3037381"/>
            <a:ext cx="219456" cy="219456"/>
          </a:xfrm>
          <a:prstGeom prst="ellipse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4430DF3F-BA7B-B6E1-6FC2-7ED066CD547E}"/>
              </a:ext>
            </a:extLst>
          </p:cNvPr>
          <p:cNvSpPr/>
          <p:nvPr/>
        </p:nvSpPr>
        <p:spPr>
          <a:xfrm>
            <a:off x="5958840" y="3512869"/>
            <a:ext cx="4297680" cy="512064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41EC9E8B-41AF-702B-FCD7-9174AD52AA69}"/>
              </a:ext>
            </a:extLst>
          </p:cNvPr>
          <p:cNvSpPr/>
          <p:nvPr/>
        </p:nvSpPr>
        <p:spPr>
          <a:xfrm>
            <a:off x="5958840" y="3576877"/>
            <a:ext cx="658368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8C9A64EC-8D44-B8BD-098D-BFE331156B97}"/>
              </a:ext>
            </a:extLst>
          </p:cNvPr>
          <p:cNvSpPr/>
          <p:nvPr/>
        </p:nvSpPr>
        <p:spPr>
          <a:xfrm>
            <a:off x="5958840" y="3576877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E9B00"/>
                </a:solidFill>
              </a:rPr>
              <a:t>TC-03</a:t>
            </a:r>
            <a:endParaRPr lang="en-US" sz="1000" dirty="0"/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D2041D28-D68A-2404-50A2-A452C8BDB86B}"/>
              </a:ext>
            </a:extLst>
          </p:cNvPr>
          <p:cNvSpPr/>
          <p:nvPr/>
        </p:nvSpPr>
        <p:spPr>
          <a:xfrm>
            <a:off x="6672072" y="3604309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Agendamiento de Cita Médica</a:t>
            </a:r>
            <a:endParaRPr lang="en-US" sz="1150" dirty="0"/>
          </a:p>
        </p:txBody>
      </p:sp>
      <p:sp>
        <p:nvSpPr>
          <p:cNvPr id="40" name="Shape 36">
            <a:extLst>
              <a:ext uri="{FF2B5EF4-FFF2-40B4-BE49-F238E27FC236}">
                <a16:creationId xmlns:a16="http://schemas.microsoft.com/office/drawing/2014/main" id="{97A51C2C-E2F2-069A-B634-BE703F4D20D7}"/>
              </a:ext>
            </a:extLst>
          </p:cNvPr>
          <p:cNvSpPr/>
          <p:nvPr/>
        </p:nvSpPr>
        <p:spPr>
          <a:xfrm>
            <a:off x="10009632" y="3659173"/>
            <a:ext cx="219456" cy="219456"/>
          </a:xfrm>
          <a:prstGeom prst="ellipse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B3BF2428-CBBA-2F89-3EBE-2AED991E8BA8}"/>
              </a:ext>
            </a:extLst>
          </p:cNvPr>
          <p:cNvSpPr/>
          <p:nvPr/>
        </p:nvSpPr>
        <p:spPr>
          <a:xfrm>
            <a:off x="5958840" y="4134661"/>
            <a:ext cx="429768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AAF85020-0C86-DD00-8254-2189FDA9D4E9}"/>
              </a:ext>
            </a:extLst>
          </p:cNvPr>
          <p:cNvSpPr/>
          <p:nvPr/>
        </p:nvSpPr>
        <p:spPr>
          <a:xfrm>
            <a:off x="5958840" y="4198669"/>
            <a:ext cx="658368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47924EFB-3A00-E9B2-2570-317EEF15DD52}"/>
              </a:ext>
            </a:extLst>
          </p:cNvPr>
          <p:cNvSpPr/>
          <p:nvPr/>
        </p:nvSpPr>
        <p:spPr>
          <a:xfrm>
            <a:off x="5958840" y="4198669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E9B00"/>
                </a:solidFill>
              </a:rPr>
              <a:t>TC-04</a:t>
            </a:r>
            <a:endParaRPr lang="en-US" sz="1000" dirty="0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E83C3324-484B-836F-7530-7E0D0C2F25D2}"/>
              </a:ext>
            </a:extLst>
          </p:cNvPr>
          <p:cNvSpPr/>
          <p:nvPr/>
        </p:nvSpPr>
        <p:spPr>
          <a:xfrm>
            <a:off x="6672072" y="4226101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Edición de Tratamiento Clínico</a:t>
            </a:r>
            <a:endParaRPr lang="en-US" sz="115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3F22EF1C-805F-EF86-5521-4A44AD87A8CA}"/>
              </a:ext>
            </a:extLst>
          </p:cNvPr>
          <p:cNvSpPr/>
          <p:nvPr/>
        </p:nvSpPr>
        <p:spPr>
          <a:xfrm>
            <a:off x="10009632" y="4280965"/>
            <a:ext cx="219456" cy="219456"/>
          </a:xfrm>
          <a:prstGeom prst="ellipse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6" name="Shape 42">
            <a:extLst>
              <a:ext uri="{FF2B5EF4-FFF2-40B4-BE49-F238E27FC236}">
                <a16:creationId xmlns:a16="http://schemas.microsoft.com/office/drawing/2014/main" id="{F5A63B9B-C4ED-460D-7E63-BC5E6BD78924}"/>
              </a:ext>
            </a:extLst>
          </p:cNvPr>
          <p:cNvSpPr/>
          <p:nvPr/>
        </p:nvSpPr>
        <p:spPr>
          <a:xfrm>
            <a:off x="5958840" y="4756453"/>
            <a:ext cx="4297680" cy="512064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AE33AC89-816B-6602-B751-4C2F4CBB9B1F}"/>
              </a:ext>
            </a:extLst>
          </p:cNvPr>
          <p:cNvSpPr/>
          <p:nvPr/>
        </p:nvSpPr>
        <p:spPr>
          <a:xfrm>
            <a:off x="5958840" y="4820461"/>
            <a:ext cx="658368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666DE305-8FF2-E78B-3C91-114319AC5751}"/>
              </a:ext>
            </a:extLst>
          </p:cNvPr>
          <p:cNvSpPr/>
          <p:nvPr/>
        </p:nvSpPr>
        <p:spPr>
          <a:xfrm>
            <a:off x="5958840" y="4820461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E9B00"/>
                </a:solidFill>
              </a:rPr>
              <a:t>TC-05</a:t>
            </a:r>
            <a:endParaRPr lang="en-US" sz="1000" dirty="0"/>
          </a:p>
        </p:txBody>
      </p:sp>
      <p:sp>
        <p:nvSpPr>
          <p:cNvPr id="49" name="Text 45">
            <a:extLst>
              <a:ext uri="{FF2B5EF4-FFF2-40B4-BE49-F238E27FC236}">
                <a16:creationId xmlns:a16="http://schemas.microsoft.com/office/drawing/2014/main" id="{B5650ADA-81E7-4B9D-4161-5C0556DD72C3}"/>
              </a:ext>
            </a:extLst>
          </p:cNvPr>
          <p:cNvSpPr/>
          <p:nvPr/>
        </p:nvSpPr>
        <p:spPr>
          <a:xfrm>
            <a:off x="6672072" y="4847893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Flujo Negativo: Campos Vacíos</a:t>
            </a:r>
            <a:endParaRPr lang="en-US" sz="1150" dirty="0"/>
          </a:p>
        </p:txBody>
      </p:sp>
      <p:sp>
        <p:nvSpPr>
          <p:cNvPr id="50" name="Shape 46">
            <a:extLst>
              <a:ext uri="{FF2B5EF4-FFF2-40B4-BE49-F238E27FC236}">
                <a16:creationId xmlns:a16="http://schemas.microsoft.com/office/drawing/2014/main" id="{6C3761DE-3D5F-A0F1-6581-25BED85A070A}"/>
              </a:ext>
            </a:extLst>
          </p:cNvPr>
          <p:cNvSpPr/>
          <p:nvPr/>
        </p:nvSpPr>
        <p:spPr>
          <a:xfrm>
            <a:off x="10009632" y="4902757"/>
            <a:ext cx="219456" cy="219456"/>
          </a:xfrm>
          <a:prstGeom prst="ellipse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8861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8B155DE-50BD-D420-B5E8-43789DB44589}"/>
              </a:ext>
            </a:extLst>
          </p:cNvPr>
          <p:cNvSpPr/>
          <p:nvPr/>
        </p:nvSpPr>
        <p:spPr>
          <a:xfrm>
            <a:off x="1863212" y="762983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 — Apache JMeter</a:t>
            </a:r>
            <a:endParaRPr lang="en-US" sz="24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6F6F815-6C41-306F-8769-D1EBF2B5399F}"/>
              </a:ext>
            </a:extLst>
          </p:cNvPr>
          <p:cNvSpPr/>
          <p:nvPr/>
        </p:nvSpPr>
        <p:spPr>
          <a:xfrm>
            <a:off x="1863212" y="1384775"/>
            <a:ext cx="8229600" cy="36576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F214454-7032-40EF-BAB0-33507175A2A4}"/>
              </a:ext>
            </a:extLst>
          </p:cNvPr>
          <p:cNvSpPr/>
          <p:nvPr/>
        </p:nvSpPr>
        <p:spPr>
          <a:xfrm>
            <a:off x="1771772" y="1585943"/>
            <a:ext cx="2651760" cy="32004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CD0F38C3-E2AA-D3BC-099C-4D19A28ADD76}"/>
              </a:ext>
            </a:extLst>
          </p:cNvPr>
          <p:cNvSpPr/>
          <p:nvPr/>
        </p:nvSpPr>
        <p:spPr>
          <a:xfrm>
            <a:off x="1771772" y="1585943"/>
            <a:ext cx="2651760" cy="50292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6F505CA-284B-45DD-5A52-740AC2BB81B8}"/>
              </a:ext>
            </a:extLst>
          </p:cNvPr>
          <p:cNvSpPr/>
          <p:nvPr/>
        </p:nvSpPr>
        <p:spPr>
          <a:xfrm>
            <a:off x="1771772" y="1585943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Carga Normal</a:t>
            </a:r>
            <a:endParaRPr lang="en-US" sz="1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C2E1AAE-72C2-BD45-EBFA-38C6FEDE9CE5}"/>
              </a:ext>
            </a:extLst>
          </p:cNvPr>
          <p:cNvSpPr/>
          <p:nvPr/>
        </p:nvSpPr>
        <p:spPr>
          <a:xfrm>
            <a:off x="1771772" y="2088863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Baseline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F6BE5E8-98AE-DE5C-06DC-4BD8BDBF31C0}"/>
              </a:ext>
            </a:extLst>
          </p:cNvPr>
          <p:cNvSpPr/>
          <p:nvPr/>
        </p:nvSpPr>
        <p:spPr>
          <a:xfrm>
            <a:off x="1771772" y="2454623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/>
              <a:t>5</a:t>
            </a:r>
            <a:endParaRPr lang="en-US" sz="5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0234BFE-3217-8BFF-0DD1-7C0F9B1F1763}"/>
              </a:ext>
            </a:extLst>
          </p:cNvPr>
          <p:cNvSpPr/>
          <p:nvPr/>
        </p:nvSpPr>
        <p:spPr>
          <a:xfrm>
            <a:off x="1771772" y="3305015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usuarios concurrentes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909DFD83-71A2-FDDF-6D70-392CAF257B3E}"/>
              </a:ext>
            </a:extLst>
          </p:cNvPr>
          <p:cNvSpPr/>
          <p:nvPr/>
        </p:nvSpPr>
        <p:spPr>
          <a:xfrm>
            <a:off x="1954652" y="3643343"/>
            <a:ext cx="2286000" cy="27432"/>
          </a:xfrm>
          <a:prstGeom prst="rect">
            <a:avLst/>
          </a:prstGeom>
          <a:solidFill>
            <a:srgbClr val="0A9396">
              <a:alpha val="6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41950E2-D5D0-8505-1E54-6244A68984D8}"/>
              </a:ext>
            </a:extLst>
          </p:cNvPr>
          <p:cNvSpPr/>
          <p:nvPr/>
        </p:nvSpPr>
        <p:spPr>
          <a:xfrm>
            <a:off x="1771772" y="3725639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Ramp-up: 10s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9C773F2-0A2D-C578-991A-695ACFF6185F}"/>
              </a:ext>
            </a:extLst>
          </p:cNvPr>
          <p:cNvSpPr/>
          <p:nvPr/>
        </p:nvSpPr>
        <p:spPr>
          <a:xfrm>
            <a:off x="1771772" y="4036535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Tiempo medio: 210 ms</a:t>
            </a:r>
            <a:endParaRPr lang="en-US" sz="11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83D64BE-A66F-1F91-D5B2-B5239842F7E4}"/>
              </a:ext>
            </a:extLst>
          </p:cNvPr>
          <p:cNvSpPr/>
          <p:nvPr/>
        </p:nvSpPr>
        <p:spPr>
          <a:xfrm>
            <a:off x="4652132" y="1585943"/>
            <a:ext cx="2651760" cy="32004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DF8DD2BD-A230-F608-3017-5F088B24C9CB}"/>
              </a:ext>
            </a:extLst>
          </p:cNvPr>
          <p:cNvSpPr/>
          <p:nvPr/>
        </p:nvSpPr>
        <p:spPr>
          <a:xfrm>
            <a:off x="4652132" y="1585943"/>
            <a:ext cx="2651760" cy="502920"/>
          </a:xfrm>
          <a:prstGeom prst="rect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8507604-1B64-A56D-3388-49FF7C6BAB4D}"/>
              </a:ext>
            </a:extLst>
          </p:cNvPr>
          <p:cNvSpPr/>
          <p:nvPr/>
        </p:nvSpPr>
        <p:spPr>
          <a:xfrm>
            <a:off x="4652132" y="1585943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Carga Alta</a:t>
            </a:r>
            <a:endParaRPr lang="en-US" sz="14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82988D6-18B3-62C5-FAE7-5E0F2B5AE9C5}"/>
              </a:ext>
            </a:extLst>
          </p:cNvPr>
          <p:cNvSpPr/>
          <p:nvPr/>
        </p:nvSpPr>
        <p:spPr>
          <a:xfrm>
            <a:off x="4652132" y="2088863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Pico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97C4714-862E-A889-E29F-5AAAA79C8108}"/>
              </a:ext>
            </a:extLst>
          </p:cNvPr>
          <p:cNvSpPr/>
          <p:nvPr/>
        </p:nvSpPr>
        <p:spPr>
          <a:xfrm>
            <a:off x="4652132" y="2454623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/>
              <a:t>50</a:t>
            </a:r>
            <a:endParaRPr lang="en-US" sz="5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D8088003-5DFA-AF1F-A962-30345B7498E6}"/>
              </a:ext>
            </a:extLst>
          </p:cNvPr>
          <p:cNvSpPr/>
          <p:nvPr/>
        </p:nvSpPr>
        <p:spPr>
          <a:xfrm>
            <a:off x="4652132" y="3305015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usuarios concurrentes</a:t>
            </a: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2FCDCAD-1905-5815-41C7-B5E29CBC9D7A}"/>
              </a:ext>
            </a:extLst>
          </p:cNvPr>
          <p:cNvSpPr/>
          <p:nvPr/>
        </p:nvSpPr>
        <p:spPr>
          <a:xfrm>
            <a:off x="4835012" y="3643343"/>
            <a:ext cx="2286000" cy="27432"/>
          </a:xfrm>
          <a:prstGeom prst="rect">
            <a:avLst/>
          </a:prstGeom>
          <a:solidFill>
            <a:srgbClr val="005F73">
              <a:alpha val="6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D1CE2985-A67C-2170-8953-3A1DB3EBBFBD}"/>
              </a:ext>
            </a:extLst>
          </p:cNvPr>
          <p:cNvSpPr/>
          <p:nvPr/>
        </p:nvSpPr>
        <p:spPr>
          <a:xfrm>
            <a:off x="4652132" y="3725639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Ramp-up: 30s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CD40BE5-9EB6-AFFD-539C-A53C51193C8C}"/>
              </a:ext>
            </a:extLst>
          </p:cNvPr>
          <p:cNvSpPr/>
          <p:nvPr/>
        </p:nvSpPr>
        <p:spPr>
          <a:xfrm>
            <a:off x="4652132" y="4036535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Pool DB evaluado</a:t>
            </a:r>
            <a:endParaRPr lang="en-US" sz="11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D3693BF0-3B94-EB8A-112F-BD9F2B97D99E}"/>
              </a:ext>
            </a:extLst>
          </p:cNvPr>
          <p:cNvSpPr/>
          <p:nvPr/>
        </p:nvSpPr>
        <p:spPr>
          <a:xfrm>
            <a:off x="7532492" y="1585943"/>
            <a:ext cx="2651760" cy="32004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890CBD7C-8BBA-677D-606D-330FCBA388EE}"/>
              </a:ext>
            </a:extLst>
          </p:cNvPr>
          <p:cNvSpPr/>
          <p:nvPr/>
        </p:nvSpPr>
        <p:spPr>
          <a:xfrm>
            <a:off x="7532492" y="1585943"/>
            <a:ext cx="2651760" cy="502920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F9899F5-8160-2517-7857-424323265931}"/>
              </a:ext>
            </a:extLst>
          </p:cNvPr>
          <p:cNvSpPr/>
          <p:nvPr/>
        </p:nvSpPr>
        <p:spPr>
          <a:xfrm>
            <a:off x="7532492" y="1585943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/>
              <a:t>Estrés Crítico</a:t>
            </a:r>
            <a:endParaRPr lang="en-US" sz="14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CE734C2B-5F5E-03E7-C3B2-E27E9709AC6E}"/>
              </a:ext>
            </a:extLst>
          </p:cNvPr>
          <p:cNvSpPr/>
          <p:nvPr/>
        </p:nvSpPr>
        <p:spPr>
          <a:xfrm>
            <a:off x="7532492" y="2088863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Ruptura</a:t>
            </a: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546FE56B-B7D9-91B8-86EA-3C3061607D53}"/>
              </a:ext>
            </a:extLst>
          </p:cNvPr>
          <p:cNvSpPr/>
          <p:nvPr/>
        </p:nvSpPr>
        <p:spPr>
          <a:xfrm>
            <a:off x="7532492" y="2454623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/>
              <a:t>150</a:t>
            </a:r>
            <a:endParaRPr lang="en-US" sz="52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F941B879-0373-422F-D6A0-0EE62EA1CC38}"/>
              </a:ext>
            </a:extLst>
          </p:cNvPr>
          <p:cNvSpPr/>
          <p:nvPr/>
        </p:nvSpPr>
        <p:spPr>
          <a:xfrm>
            <a:off x="7532492" y="3305015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/>
              <a:t>usuarios concurrentes</a:t>
            </a:r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28A930B1-B937-EBEF-BFF5-4B98DA90AB9F}"/>
              </a:ext>
            </a:extLst>
          </p:cNvPr>
          <p:cNvSpPr/>
          <p:nvPr/>
        </p:nvSpPr>
        <p:spPr>
          <a:xfrm>
            <a:off x="7715372" y="3643343"/>
            <a:ext cx="2286000" cy="27432"/>
          </a:xfrm>
          <a:prstGeom prst="rect">
            <a:avLst/>
          </a:prstGeom>
          <a:solidFill>
            <a:srgbClr val="EE9B00">
              <a:alpha val="60000"/>
            </a:srgbClr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423B152B-8C43-0110-FC5D-99D4D39A4D5D}"/>
              </a:ext>
            </a:extLst>
          </p:cNvPr>
          <p:cNvSpPr/>
          <p:nvPr/>
        </p:nvSpPr>
        <p:spPr>
          <a:xfrm>
            <a:off x="7532492" y="3725639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Ramp-up: 60s</a:t>
            </a: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14C9D4C0-39AA-FF4D-9B08-0B61783C8CE5}"/>
              </a:ext>
            </a:extLst>
          </p:cNvPr>
          <p:cNvSpPr/>
          <p:nvPr/>
        </p:nvSpPr>
        <p:spPr>
          <a:xfrm>
            <a:off x="7532492" y="4036535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MTTR medido</a:t>
            </a:r>
            <a:endParaRPr lang="en-US" sz="110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3B635046-8739-F131-C4F0-5E20172CBEE5}"/>
              </a:ext>
            </a:extLst>
          </p:cNvPr>
          <p:cNvSpPr/>
          <p:nvPr/>
        </p:nvSpPr>
        <p:spPr>
          <a:xfrm>
            <a:off x="1771772" y="4950935"/>
            <a:ext cx="8412480" cy="475488"/>
          </a:xfrm>
          <a:prstGeom prst="rect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2C73D6E5-9307-B686-04FC-362D9BD41035}"/>
              </a:ext>
            </a:extLst>
          </p:cNvPr>
          <p:cNvSpPr/>
          <p:nvPr/>
        </p:nvSpPr>
        <p:spPr>
          <a:xfrm>
            <a:off x="1771772" y="4950935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✔  Porcentaje de Error: 0% en todos los escenarios  |  HikariCP gestionó conexiones sin rechazos  |  Throughput estable bajo estrés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63663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DA8C8177-194A-3201-4C20-EB637D1E4457}"/>
              </a:ext>
            </a:extLst>
          </p:cNvPr>
          <p:cNvSpPr/>
          <p:nvPr/>
        </p:nvSpPr>
        <p:spPr>
          <a:xfrm>
            <a:off x="1317523" y="678426"/>
            <a:ext cx="9144000" cy="77724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14EF45C-0510-6A7D-5B54-6E036DE7EFA5}"/>
              </a:ext>
            </a:extLst>
          </p:cNvPr>
          <p:cNvSpPr/>
          <p:nvPr/>
        </p:nvSpPr>
        <p:spPr>
          <a:xfrm>
            <a:off x="1774723" y="67842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Estático de Código — SonarQube</a:t>
            </a:r>
            <a:endParaRPr lang="en-US" sz="2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8DEAE0E-E6AE-F5CA-9E91-45F23D31E411}"/>
              </a:ext>
            </a:extLst>
          </p:cNvPr>
          <p:cNvSpPr/>
          <p:nvPr/>
        </p:nvSpPr>
        <p:spPr>
          <a:xfrm>
            <a:off x="1637563" y="1684266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5963947-D4FC-A448-980A-840D493B492F}"/>
              </a:ext>
            </a:extLst>
          </p:cNvPr>
          <p:cNvSpPr/>
          <p:nvPr/>
        </p:nvSpPr>
        <p:spPr>
          <a:xfrm>
            <a:off x="2231923" y="1867146"/>
            <a:ext cx="731520" cy="731520"/>
          </a:xfrm>
          <a:prstGeom prst="ellipse">
            <a:avLst/>
          </a:prstGeom>
          <a:solidFill>
            <a:srgbClr val="2D9B5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C9AFEF7-211D-C7C9-F0F5-E6BD18074F85}"/>
              </a:ext>
            </a:extLst>
          </p:cNvPr>
          <p:cNvSpPr/>
          <p:nvPr/>
        </p:nvSpPr>
        <p:spPr>
          <a:xfrm>
            <a:off x="2231923" y="186714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✔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3BDA35A-2C24-D48D-14D2-471F181910ED}"/>
              </a:ext>
            </a:extLst>
          </p:cNvPr>
          <p:cNvSpPr/>
          <p:nvPr/>
        </p:nvSpPr>
        <p:spPr>
          <a:xfrm>
            <a:off x="1637563" y="273582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6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F99A29F-26CA-82C3-7185-3EC2B98BFEA2}"/>
              </a:ext>
            </a:extLst>
          </p:cNvPr>
          <p:cNvSpPr/>
          <p:nvPr/>
        </p:nvSpPr>
        <p:spPr>
          <a:xfrm>
            <a:off x="1637563" y="317473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BA37959-BB77-A410-831A-9EF9B2FB0652}"/>
              </a:ext>
            </a:extLst>
          </p:cNvPr>
          <p:cNvSpPr/>
          <p:nvPr/>
        </p:nvSpPr>
        <p:spPr>
          <a:xfrm>
            <a:off x="3786403" y="1684266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10E0EE6-250A-0303-1F6E-A0A270B0B829}"/>
              </a:ext>
            </a:extLst>
          </p:cNvPr>
          <p:cNvSpPr/>
          <p:nvPr/>
        </p:nvSpPr>
        <p:spPr>
          <a:xfrm>
            <a:off x="4380763" y="1867146"/>
            <a:ext cx="731520" cy="731520"/>
          </a:xfrm>
          <a:prstGeom prst="ellipse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922EE16-8E31-E258-F6A2-F2D5D3020E3E}"/>
              </a:ext>
            </a:extLst>
          </p:cNvPr>
          <p:cNvSpPr/>
          <p:nvPr/>
        </p:nvSpPr>
        <p:spPr>
          <a:xfrm>
            <a:off x="4380763" y="186714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DDC5E97-539B-E216-46E3-0A42B26F165E}"/>
              </a:ext>
            </a:extLst>
          </p:cNvPr>
          <p:cNvSpPr/>
          <p:nvPr/>
        </p:nvSpPr>
        <p:spPr>
          <a:xfrm>
            <a:off x="3786403" y="273582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</a:t>
            </a:r>
            <a:endParaRPr lang="en-US" sz="1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5CEF597-989A-D9D4-F132-5141CD58499D}"/>
              </a:ext>
            </a:extLst>
          </p:cNvPr>
          <p:cNvSpPr/>
          <p:nvPr/>
        </p:nvSpPr>
        <p:spPr>
          <a:xfrm>
            <a:off x="3786403" y="317473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</a:t>
            </a:r>
            <a:endParaRPr lang="en-US" sz="11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60F6287-5354-8ABB-6EA9-6DAA3BFF55B4}"/>
              </a:ext>
            </a:extLst>
          </p:cNvPr>
          <p:cNvSpPr/>
          <p:nvPr/>
        </p:nvSpPr>
        <p:spPr>
          <a:xfrm>
            <a:off x="5935243" y="1684266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6E7D72FE-4B9E-91C1-2F3A-EA999D00B375}"/>
              </a:ext>
            </a:extLst>
          </p:cNvPr>
          <p:cNvSpPr/>
          <p:nvPr/>
        </p:nvSpPr>
        <p:spPr>
          <a:xfrm>
            <a:off x="6529603" y="1867146"/>
            <a:ext cx="731520" cy="731520"/>
          </a:xfrm>
          <a:prstGeom prst="ellipse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1F8BA67-1BBE-775D-FABC-01AD779F84CC}"/>
              </a:ext>
            </a:extLst>
          </p:cNvPr>
          <p:cNvSpPr/>
          <p:nvPr/>
        </p:nvSpPr>
        <p:spPr>
          <a:xfrm>
            <a:off x="6529603" y="186714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%</a:t>
            </a:r>
            <a:endParaRPr lang="en-US" sz="18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C6068D3B-CDFD-5FD7-194B-7FC6D8461203}"/>
              </a:ext>
            </a:extLst>
          </p:cNvPr>
          <p:cNvSpPr/>
          <p:nvPr/>
        </p:nvSpPr>
        <p:spPr>
          <a:xfrm>
            <a:off x="5935243" y="273582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16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1D3C0655-A1CB-43FF-D605-CAD5D601A92B}"/>
              </a:ext>
            </a:extLst>
          </p:cNvPr>
          <p:cNvSpPr/>
          <p:nvPr/>
        </p:nvSpPr>
        <p:spPr>
          <a:xfrm>
            <a:off x="5935243" y="317473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Duplicación</a:t>
            </a:r>
            <a:endParaRPr lang="en-US" sz="11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C90B805D-D393-EAA5-64E1-7CFAFC379B4E}"/>
              </a:ext>
            </a:extLst>
          </p:cNvPr>
          <p:cNvSpPr/>
          <p:nvPr/>
        </p:nvSpPr>
        <p:spPr>
          <a:xfrm>
            <a:off x="8084083" y="1684266"/>
            <a:ext cx="1920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F6F84BC9-25F8-8131-7D62-ED43126D99E6}"/>
              </a:ext>
            </a:extLst>
          </p:cNvPr>
          <p:cNvSpPr/>
          <p:nvPr/>
        </p:nvSpPr>
        <p:spPr>
          <a:xfrm>
            <a:off x="8678443" y="1867146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E69358E-96E1-4F69-0287-F9862DE71A72}"/>
              </a:ext>
            </a:extLst>
          </p:cNvPr>
          <p:cNvSpPr/>
          <p:nvPr/>
        </p:nvSpPr>
        <p:spPr>
          <a:xfrm>
            <a:off x="8678443" y="186714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3E663EE3-C865-38D6-89AE-7D60DB3EABB4}"/>
              </a:ext>
            </a:extLst>
          </p:cNvPr>
          <p:cNvSpPr/>
          <p:nvPr/>
        </p:nvSpPr>
        <p:spPr>
          <a:xfrm>
            <a:off x="8084083" y="273582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críticas</a:t>
            </a:r>
            <a:endParaRPr lang="en-US" sz="16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CE3CCE1-7B31-AC55-D75B-6434A9222281}"/>
              </a:ext>
            </a:extLst>
          </p:cNvPr>
          <p:cNvSpPr/>
          <p:nvPr/>
        </p:nvSpPr>
        <p:spPr>
          <a:xfrm>
            <a:off x="8084083" y="317473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SQL</a:t>
            </a:r>
            <a:endParaRPr lang="en-US" sz="11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8118442-1675-9422-5B18-E0B88477F9DE}"/>
              </a:ext>
            </a:extLst>
          </p:cNvPr>
          <p:cNvSpPr/>
          <p:nvPr/>
        </p:nvSpPr>
        <p:spPr>
          <a:xfrm>
            <a:off x="1637563" y="3741666"/>
            <a:ext cx="85039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CE6CB45D-69D2-C03A-6949-B8341212330B}"/>
              </a:ext>
            </a:extLst>
          </p:cNvPr>
          <p:cNvSpPr/>
          <p:nvPr/>
        </p:nvSpPr>
        <p:spPr>
          <a:xfrm>
            <a:off x="1637563" y="3741666"/>
            <a:ext cx="73152" cy="178308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01B05BBE-21F7-B26B-2D9E-CC24720D270A}"/>
              </a:ext>
            </a:extLst>
          </p:cNvPr>
          <p:cNvSpPr/>
          <p:nvPr/>
        </p:nvSpPr>
        <p:spPr>
          <a:xfrm>
            <a:off x="1820443" y="3833106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analizó SonarQube?
Defect Density: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identificados por cada 1,000 líneas de código. 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 alta, violaciones a OOP.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JaCoCo: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dinámica + análisis estático en una sola plataforma. Configurado vía </a:t>
            </a: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sonar-project.properties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raíz del proyecto.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0873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16B3DAF-CD05-A44F-EEFE-B3DB93B532CF}"/>
              </a:ext>
            </a:extLst>
          </p:cNvPr>
          <p:cNvSpPr/>
          <p:nvPr/>
        </p:nvSpPr>
        <p:spPr>
          <a:xfrm>
            <a:off x="1715729" y="821977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GitHub Actions — Pipeline CI/CD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732D7058-932D-E1E3-1E50-D101683353DD}"/>
              </a:ext>
            </a:extLst>
          </p:cNvPr>
          <p:cNvSpPr/>
          <p:nvPr/>
        </p:nvSpPr>
        <p:spPr>
          <a:xfrm>
            <a:off x="1715729" y="1462057"/>
            <a:ext cx="8229600" cy="36576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E4EE8A9-AFCC-711C-7275-E17F78935E0A}"/>
              </a:ext>
            </a:extLst>
          </p:cNvPr>
          <p:cNvSpPr/>
          <p:nvPr/>
        </p:nvSpPr>
        <p:spPr>
          <a:xfrm>
            <a:off x="1715729" y="1644937"/>
            <a:ext cx="2606040" cy="2286000"/>
          </a:xfrm>
          <a:prstGeom prst="rect">
            <a:avLst/>
          </a:prstGeom>
          <a:solidFill>
            <a:srgbClr val="1A2E3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C5A636F-282E-3D65-DAF1-18C7642472DE}"/>
              </a:ext>
            </a:extLst>
          </p:cNvPr>
          <p:cNvSpPr/>
          <p:nvPr/>
        </p:nvSpPr>
        <p:spPr>
          <a:xfrm>
            <a:off x="2721569" y="1754665"/>
            <a:ext cx="594360" cy="594360"/>
          </a:xfrm>
          <a:prstGeom prst="ellipse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2A3F867-070E-422F-8750-A93EC4167678}"/>
              </a:ext>
            </a:extLst>
          </p:cNvPr>
          <p:cNvSpPr/>
          <p:nvPr/>
        </p:nvSpPr>
        <p:spPr>
          <a:xfrm>
            <a:off x="2721569" y="175466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  <a:endParaRPr lang="en-US" sz="1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677650D-54CE-A64D-AAB3-8F624C59D0B0}"/>
              </a:ext>
            </a:extLst>
          </p:cNvPr>
          <p:cNvSpPr/>
          <p:nvPr/>
        </p:nvSpPr>
        <p:spPr>
          <a:xfrm>
            <a:off x="1715729" y="2467897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unit-tests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9A21251-A86A-DB67-26CB-12FCE6237036}"/>
              </a:ext>
            </a:extLst>
          </p:cNvPr>
          <p:cNvSpPr/>
          <p:nvPr/>
        </p:nvSpPr>
        <p:spPr>
          <a:xfrm>
            <a:off x="1807169" y="2906809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JaCoCo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cobertura o falla el build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A7B3408-4C58-1C6B-4912-093146FA32D3}"/>
              </a:ext>
            </a:extLst>
          </p:cNvPr>
          <p:cNvSpPr/>
          <p:nvPr/>
        </p:nvSpPr>
        <p:spPr>
          <a:xfrm>
            <a:off x="4330913" y="2696497"/>
            <a:ext cx="246888" cy="9144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3E36E55-B88A-3530-B369-7A5CAADDEEA9}"/>
              </a:ext>
            </a:extLst>
          </p:cNvPr>
          <p:cNvSpPr/>
          <p:nvPr/>
        </p:nvSpPr>
        <p:spPr>
          <a:xfrm>
            <a:off x="4568657" y="1644937"/>
            <a:ext cx="2606040" cy="2286000"/>
          </a:xfrm>
          <a:prstGeom prst="rect">
            <a:avLst/>
          </a:prstGeom>
          <a:solidFill>
            <a:srgbClr val="1A2E3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9AF85B5-0629-FFF4-7185-66DFF0BD9131}"/>
              </a:ext>
            </a:extLst>
          </p:cNvPr>
          <p:cNvSpPr/>
          <p:nvPr/>
        </p:nvSpPr>
        <p:spPr>
          <a:xfrm>
            <a:off x="5574497" y="1754665"/>
            <a:ext cx="594360" cy="594360"/>
          </a:xfrm>
          <a:prstGeom prst="ellipse">
            <a:avLst/>
          </a:prstGeom>
          <a:solidFill>
            <a:srgbClr val="005F73"/>
          </a:solidFill>
          <a:ln/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1307093-2BEB-39E5-B882-CA45ED21FD3A}"/>
              </a:ext>
            </a:extLst>
          </p:cNvPr>
          <p:cNvSpPr/>
          <p:nvPr/>
        </p:nvSpPr>
        <p:spPr>
          <a:xfrm>
            <a:off x="5574497" y="175466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endParaRPr lang="en-US" sz="1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B61F35B-B8BB-1C3B-DCC1-5936A7AA6F5C}"/>
              </a:ext>
            </a:extLst>
          </p:cNvPr>
          <p:cNvSpPr/>
          <p:nvPr/>
        </p:nvSpPr>
        <p:spPr>
          <a:xfrm>
            <a:off x="4568657" y="2467897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build-docker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627D06D-D7B5-DDDF-E435-66122AF2BA27}"/>
              </a:ext>
            </a:extLst>
          </p:cNvPr>
          <p:cNvSpPr/>
          <p:nvPr/>
        </p:nvSpPr>
        <p:spPr>
          <a:xfrm>
            <a:off x="4660097" y="2906809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imagen .jar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del contenedor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ED65459A-8595-4462-F7A3-A8B6BF13AE73}"/>
              </a:ext>
            </a:extLst>
          </p:cNvPr>
          <p:cNvSpPr/>
          <p:nvPr/>
        </p:nvSpPr>
        <p:spPr>
          <a:xfrm>
            <a:off x="7183841" y="2696497"/>
            <a:ext cx="246888" cy="91440"/>
          </a:xfrm>
          <a:prstGeom prst="rect">
            <a:avLst/>
          </a:prstGeom>
          <a:solidFill>
            <a:srgbClr val="0A9396"/>
          </a:solidFill>
          <a:ln/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1074107-453D-B039-D2C0-87664B931CA0}"/>
              </a:ext>
            </a:extLst>
          </p:cNvPr>
          <p:cNvSpPr/>
          <p:nvPr/>
        </p:nvSpPr>
        <p:spPr>
          <a:xfrm>
            <a:off x="7421585" y="1644937"/>
            <a:ext cx="2606040" cy="2286000"/>
          </a:xfrm>
          <a:prstGeom prst="rect">
            <a:avLst/>
          </a:prstGeom>
          <a:solidFill>
            <a:srgbClr val="1A2E3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111AA1D5-446A-5408-1BFD-B4109FFEF128}"/>
              </a:ext>
            </a:extLst>
          </p:cNvPr>
          <p:cNvSpPr/>
          <p:nvPr/>
        </p:nvSpPr>
        <p:spPr>
          <a:xfrm>
            <a:off x="8427425" y="1754665"/>
            <a:ext cx="594360" cy="594360"/>
          </a:xfrm>
          <a:prstGeom prst="ellipse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906ED76-DF36-3BDA-276A-639A8B855626}"/>
              </a:ext>
            </a:extLst>
          </p:cNvPr>
          <p:cNvSpPr/>
          <p:nvPr/>
        </p:nvSpPr>
        <p:spPr>
          <a:xfrm>
            <a:off x="8427425" y="175466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  <a:endParaRPr lang="en-US" sz="1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B459612-58D6-2E95-A9E4-DA734D1804CA}"/>
              </a:ext>
            </a:extLst>
          </p:cNvPr>
          <p:cNvSpPr/>
          <p:nvPr/>
        </p:nvSpPr>
        <p:spPr>
          <a:xfrm>
            <a:off x="7421585" y="2467897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sonar-analysis</a:t>
            </a:r>
            <a:endParaRPr lang="en-US" sz="13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DB70E0D-9DFA-CE8E-AB11-B60BF9C68029}"/>
              </a:ext>
            </a:extLst>
          </p:cNvPr>
          <p:cNvSpPr/>
          <p:nvPr/>
        </p:nvSpPr>
        <p:spPr>
          <a:xfrm>
            <a:off x="7513025" y="2906809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métricas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Cloud</a:t>
            </a:r>
            <a:endParaRPr lang="en-US" sz="11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687C5E13-DAD3-304C-76C0-89BBF196E66E}"/>
              </a:ext>
            </a:extLst>
          </p:cNvPr>
          <p:cNvSpPr/>
          <p:nvPr/>
        </p:nvSpPr>
        <p:spPr>
          <a:xfrm>
            <a:off x="1578569" y="4095529"/>
            <a:ext cx="8503920" cy="1417320"/>
          </a:xfrm>
          <a:prstGeom prst="rect">
            <a:avLst/>
          </a:prstGeom>
          <a:solidFill>
            <a:srgbClr val="1A2E3F"/>
          </a:solidFill>
          <a:ln/>
          <a:effectLst>
            <a:outerShdw blurRad="1016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40AE29B9-41E4-D148-9695-C7F797681C19}"/>
              </a:ext>
            </a:extLst>
          </p:cNvPr>
          <p:cNvSpPr/>
          <p:nvPr/>
        </p:nvSpPr>
        <p:spPr>
          <a:xfrm>
            <a:off x="1578569" y="4095529"/>
            <a:ext cx="73152" cy="1417320"/>
          </a:xfrm>
          <a:prstGeom prst="rect">
            <a:avLst/>
          </a:prstGeom>
          <a:solidFill>
            <a:srgbClr val="EE9B00"/>
          </a:solidFill>
          <a:ln/>
        </p:spPr>
        <p:txBody>
          <a:bodyPr/>
          <a:lstStyle/>
          <a:p>
            <a:endParaRPr lang="es-419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B9B4781-3997-EB92-8057-487F4099E80C}"/>
              </a:ext>
            </a:extLst>
          </p:cNvPr>
          <p:cNvSpPr/>
          <p:nvPr/>
        </p:nvSpPr>
        <p:spPr>
          <a:xfrm>
            <a:off x="1761449" y="413210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Clave</a:t>
            </a:r>
            <a:endParaRPr lang="en-US" sz="12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FF3E756E-25E1-DF3B-AE6B-784DDC4AFDB2}"/>
              </a:ext>
            </a:extLst>
          </p:cNvPr>
          <p:cNvSpPr/>
          <p:nvPr/>
        </p:nvSpPr>
        <p:spPr>
          <a:xfrm>
            <a:off x="1761449" y="4461289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CI/CD elimina el problema 'funciona en mi máquina'. El código defectuoso es rechazado antes de afectar producción. La sinergia ISO 29119 + POM + Docker transforma un proyecto académico en una solución profesional escalable.</a:t>
            </a:r>
            <a:endParaRPr lang="en-US" sz="125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394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742</Words>
  <Application>Microsoft Office PowerPoint</Application>
  <PresentationFormat>Panorámica</PresentationFormat>
  <Paragraphs>147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ximena chala</cp:lastModifiedBy>
  <cp:revision>7</cp:revision>
  <dcterms:created xsi:type="dcterms:W3CDTF">2026-01-26T14:49:45Z</dcterms:created>
  <dcterms:modified xsi:type="dcterms:W3CDTF">2026-05-12T11:25:20Z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
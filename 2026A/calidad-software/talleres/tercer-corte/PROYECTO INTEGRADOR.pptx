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4">
  <p:sldMasterIdLst>
    <p:sldMasterId id="2147483677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58"/>
  </p:normalViewPr>
  <p:slideViewPr>
    <p:cSldViewPr snapToGrid="0">
      <p:cViewPr varScale="1">
        <p:scale>
          <a:sx n="90" d="100"/>
          <a:sy n="90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6517A-6E51-D8FF-5518-33DCF1BB8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5F916A-7D6A-E8AF-439A-8D6840C6F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46680D-0A49-4B54-F51B-03AA27F6B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96F560-F0B8-AB29-82CA-A2DDE7D3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D50BE2-EBBD-61B9-3E6C-B4C2BA988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8766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836D1-D4F9-8F5A-DCDD-25408D7D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51DC57-A21A-5278-EC55-4C245B3FC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2E49EC-4920-0E2F-9C8B-0B674CB07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31254A-3742-246E-D797-82A0482FE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15C84-0D5E-FBD8-F4A6-A48214F7C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3980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FBBEC-EF89-8C3C-71B9-577DC266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7EF770-ACB6-2BA3-E667-9EBABFB4A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AD28F8-48D0-258C-AD9D-D166F7F2D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8163DA-7927-EC0F-B832-B0D9CEF24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D2D961-09A6-F702-5A58-9A2E9D96B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4478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AE57A-7BC8-A4F0-8EC3-29FA071B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DB23D6-B010-B5CB-011A-B03D0B3E9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0C2A42-464D-5E30-A614-F5201EA43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7E369D-DA34-3508-5F83-FE255ACE6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AF6228-C474-55C2-F2A3-A80C9ECB9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2CA109-4F43-98C5-5BA6-85F5B496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908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ADADB-6CDF-BDB1-1300-FAEA2D84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7B4924-BB64-D547-A28B-666362350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7D8AA5-BF4A-D02D-E702-0FBE685A5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BC7471-CDF8-0C0F-6D28-4001FC283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33769A5-222B-5317-4503-6E9D363E28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17FE0D7-3EEC-E3E6-7C86-CF7C18AB6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8EFF3E5-4BD9-D039-6F0A-0A92B04A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F0DEE6-C861-6117-2772-892873D9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8347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1AA1F-2C39-64AF-4C6F-BF1C4453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E135E8-59EC-9B87-4141-B4E0DEA15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2565AFD-1683-D460-140D-9F48CBCBA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711735-1F41-F218-7243-AC89EA548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115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188DA81-50FE-72AF-6F22-3D317B92F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ADFFC1-222F-FA4F-F745-4AECF65CE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B47231-DA7E-E86D-0ECA-3CD935CB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9125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A5293-4CAF-8D46-B44D-99EAF11FD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A782D5-A60C-369C-7F2E-20DC36F50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C7E45F-8F4D-4A4A-AD2B-580AA0500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49A9D3-41A6-5F05-3785-C76553A32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39118E-A5D9-04A8-223B-C952BE301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FCCC82-59BC-CBA8-F9A5-1C4603AD8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877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C677B-1ABC-81D6-857F-7E1F6785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8FFF9DA-1F76-6604-0F69-D17DFFA8AD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FD3A44-53F9-E2AD-4B37-3C2CD8A25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A3A846-4373-5BFE-DCED-CDECAACA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137096-4AD9-8D1E-B119-EDDF0F3EA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ADAE5B-0E78-C71A-B918-853E86CE0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4844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2BA9E-020E-BCD8-9EA9-9BDFB1673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D2EE6B7-CD7D-EA57-7B4D-87C2F63C8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BA0735-0CBD-5147-C06C-3B03006C1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CAF2C5-C162-2021-6EDC-A7164630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AD3F66-F4A3-A221-BA4A-2F327442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1594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4F149B-9E13-3157-0B62-971D8EB52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87BBD2-5343-3A5D-564E-2D534BC7D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B2F397-0E8A-92C8-93C4-9018446E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6F7EEE-EA06-5E8F-8174-D1B755A7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7410F1-59DC-8093-6A75-33AE1285C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3931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D6B204-4AEE-9E74-8DF2-926D69EDA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631246-8F97-5699-6653-D3A77D764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3B2563-9278-5DCC-E5B5-CCE80A0280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20EEB8-BE6E-8941-AA31-476C523FF41C}" type="datetimeFigureOut">
              <a:rPr lang="es-CO" smtClean="0"/>
              <a:t>16/05/2026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AD3EE7-759B-C8A2-7A15-CC1FFB801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BE85B8-1FF9-DDC6-E068-D7EEA7240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690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4BA439F-19D5-D478-19B2-3F5D7E18F17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76" cy="685885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4684EA1-B5A4-8C6C-B3C4-318F2909F23A}"/>
              </a:ext>
            </a:extLst>
          </p:cNvPr>
          <p:cNvSpPr txBox="1"/>
          <p:nvPr/>
        </p:nvSpPr>
        <p:spPr>
          <a:xfrm>
            <a:off x="-101600" y="3260804"/>
            <a:ext cx="51307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chemeClr val="bg1"/>
                </a:solidFill>
              </a:rPr>
              <a:t>Oscar Mauricio Areiza Paramo (9023125050)</a:t>
            </a:r>
          </a:p>
          <a:p>
            <a:pPr algn="ctr"/>
            <a:r>
              <a:rPr lang="es-CO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s-CO" dirty="0">
                <a:solidFill>
                  <a:schemeClr val="bg1"/>
                </a:solidFill>
              </a:rPr>
              <a:t>Ingeniería De Sistemas </a:t>
            </a:r>
          </a:p>
          <a:p>
            <a:pPr algn="ctr"/>
            <a:r>
              <a:rPr lang="es-CO" dirty="0">
                <a:solidFill>
                  <a:schemeClr val="bg1"/>
                </a:solidFill>
              </a:rPr>
              <a:t>(Calidad de Software 2026A)</a:t>
            </a:r>
          </a:p>
          <a:p>
            <a:pPr algn="ctr"/>
            <a:r>
              <a:rPr lang="es-CO" dirty="0">
                <a:solidFill>
                  <a:schemeClr val="bg1"/>
                </a:solidFill>
              </a:rPr>
              <a:t> </a:t>
            </a:r>
          </a:p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50D3626-B4AB-0A25-F195-368489F24F66}"/>
              </a:ext>
            </a:extLst>
          </p:cNvPr>
          <p:cNvSpPr txBox="1"/>
          <p:nvPr/>
        </p:nvSpPr>
        <p:spPr>
          <a:xfrm>
            <a:off x="6044438" y="2439537"/>
            <a:ext cx="513079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/>
              <a:t>Sistema de Gestión de Pruebas Integrales para Aplicación Web</a:t>
            </a:r>
          </a:p>
          <a:p>
            <a:pPr algn="ctr"/>
            <a:br>
              <a:rPr lang="es-CO" b="1" dirty="0"/>
            </a:br>
            <a:r>
              <a:rPr lang="es-CO" dirty="0"/>
              <a:t>Aplicación de Estándares, Métricas y Herramientas Modernas de QA/QC</a:t>
            </a:r>
          </a:p>
          <a:p>
            <a:pPr algn="ctr"/>
            <a:r>
              <a:rPr lang="es-CO" dirty="0">
                <a:solidFill>
                  <a:schemeClr val="bg1"/>
                </a:solidFill>
              </a:rPr>
              <a:t> </a:t>
            </a:r>
          </a:p>
          <a:p>
            <a:pPr algn="ctr"/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A8344A4-1B53-E742-282E-79A328F9CEB2}"/>
              </a:ext>
            </a:extLst>
          </p:cNvPr>
          <p:cNvSpPr txBox="1"/>
          <p:nvPr/>
        </p:nvSpPr>
        <p:spPr>
          <a:xfrm>
            <a:off x="0" y="1214904"/>
            <a:ext cx="513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</a:rPr>
              <a:t>Sistema De Gestión De Prestamos De laboratorio SGP_LAB</a:t>
            </a:r>
            <a:endParaRPr lang="es-CO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380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AB6885-994A-BFA4-7FEE-9592E5AE1C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" y="0"/>
            <a:ext cx="12190476" cy="685885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9697C4C-F619-2C5D-5FC9-5A41D38B5FDE}"/>
              </a:ext>
            </a:extLst>
          </p:cNvPr>
          <p:cNvSpPr txBox="1"/>
          <p:nvPr/>
        </p:nvSpPr>
        <p:spPr>
          <a:xfrm>
            <a:off x="1354665" y="664571"/>
            <a:ext cx="898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/>
              <a:t>Alcance y Requerimientos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29420C4-F81F-8802-EA59-51F406E6238C}"/>
              </a:ext>
            </a:extLst>
          </p:cNvPr>
          <p:cNvSpPr txBox="1"/>
          <p:nvPr/>
        </p:nvSpPr>
        <p:spPr>
          <a:xfrm>
            <a:off x="1571729" y="1680982"/>
            <a:ext cx="927946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Objetivo: </a:t>
            </a:r>
            <a:r>
              <a:rPr lang="es-ES" sz="2400" dirty="0"/>
              <a:t>Digitalizar el préstamo de equipos de laboratorio</a:t>
            </a:r>
          </a:p>
          <a:p>
            <a:endParaRPr lang="es-ES" sz="2400" dirty="0"/>
          </a:p>
          <a:p>
            <a:r>
              <a:rPr lang="es-ES" sz="2400" b="1" dirty="0"/>
              <a:t>Módulos: </a:t>
            </a:r>
            <a:r>
              <a:rPr lang="es-ES" sz="2400" dirty="0"/>
              <a:t>Usuarios, Equipos, Préstamos, Penalizaciones</a:t>
            </a:r>
          </a:p>
          <a:p>
            <a:r>
              <a:rPr lang="es-ES" sz="2400" dirty="0"/>
              <a:t>Roles: Administrador y Cliente</a:t>
            </a:r>
          </a:p>
          <a:p>
            <a:endParaRPr lang="es-ES" sz="2400" dirty="0"/>
          </a:p>
          <a:p>
            <a:r>
              <a:rPr lang="es-ES" sz="2400" b="1" dirty="0"/>
              <a:t>RF: </a:t>
            </a:r>
            <a:r>
              <a:rPr lang="es-ES" sz="2400" dirty="0"/>
              <a:t>Autenticación SHA-256 + JWT, CRUD completo, control de stock, penalizaciones</a:t>
            </a:r>
          </a:p>
          <a:p>
            <a:endParaRPr lang="es-ES" sz="2400" dirty="0"/>
          </a:p>
          <a:p>
            <a:r>
              <a:rPr lang="es-ES" sz="2400" b="1" dirty="0"/>
              <a:t>RNF: </a:t>
            </a:r>
            <a:r>
              <a:rPr lang="es-ES" sz="2400" dirty="0"/>
              <a:t>Cobertura &gt;80%, respuesta &lt;500ms, error &lt;5%, sin vulnerabilidades críticas, despliegue Docker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3463395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976B7-B682-1B09-43B4-CD055589A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B944419-1B34-FFEE-001A-DBADF9B7EC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" y="0"/>
            <a:ext cx="12190476" cy="685885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A9A9FD6-FA1C-73D3-39DA-12DF550948E4}"/>
              </a:ext>
            </a:extLst>
          </p:cNvPr>
          <p:cNvSpPr txBox="1"/>
          <p:nvPr/>
        </p:nvSpPr>
        <p:spPr>
          <a:xfrm>
            <a:off x="1498599" y="642748"/>
            <a:ext cx="898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/>
              <a:t>Arquitectura y Herramientas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E2ACB9A-F441-3085-E0A2-2FE9AAED5827}"/>
              </a:ext>
            </a:extLst>
          </p:cNvPr>
          <p:cNvSpPr txBox="1"/>
          <p:nvPr/>
        </p:nvSpPr>
        <p:spPr>
          <a:xfrm>
            <a:off x="1769533" y="1642533"/>
            <a:ext cx="8830734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 </a:t>
            </a:r>
            <a:r>
              <a:rPr lang="es-CO" sz="2400" b="1" dirty="0" err="1"/>
              <a:t>Backend</a:t>
            </a:r>
            <a:r>
              <a:rPr lang="es-CO" sz="2400" dirty="0"/>
              <a:t>: Spring Boot 3 + Java 17 + Spring Security + JPA</a:t>
            </a:r>
          </a:p>
          <a:p>
            <a:pPr algn="ctr"/>
            <a:r>
              <a:rPr lang="es-CO" sz="2400" dirty="0"/>
              <a:t> </a:t>
            </a:r>
            <a:br>
              <a:rPr lang="es-CO" sz="2400" dirty="0"/>
            </a:br>
            <a:r>
              <a:rPr lang="es-CO" sz="2400" b="1" dirty="0" err="1"/>
              <a:t>Frontend</a:t>
            </a:r>
            <a:r>
              <a:rPr lang="es-CO" sz="2400" b="1" dirty="0"/>
              <a:t>: </a:t>
            </a:r>
            <a:r>
              <a:rPr lang="es-CO" sz="2400" dirty="0"/>
              <a:t>Vue 3 + </a:t>
            </a:r>
            <a:r>
              <a:rPr lang="es-CO" sz="2400" dirty="0" err="1"/>
              <a:t>Vuetify</a:t>
            </a:r>
            <a:r>
              <a:rPr lang="es-CO" sz="2400" dirty="0"/>
              <a:t> 3 + Axios </a:t>
            </a:r>
          </a:p>
          <a:p>
            <a:pPr algn="ctr"/>
            <a:br>
              <a:rPr lang="es-CO" sz="2400" dirty="0"/>
            </a:br>
            <a:r>
              <a:rPr lang="es-CO" sz="2400" b="1" dirty="0"/>
              <a:t>Base de datos: </a:t>
            </a:r>
            <a:r>
              <a:rPr lang="es-CO" sz="2400" dirty="0"/>
              <a:t>PostgreSQL </a:t>
            </a:r>
          </a:p>
          <a:p>
            <a:pPr algn="ctr"/>
            <a:br>
              <a:rPr lang="es-CO" sz="2400" dirty="0"/>
            </a:br>
            <a:r>
              <a:rPr lang="es-CO" sz="2400" b="1" dirty="0"/>
              <a:t>Contenedores</a:t>
            </a:r>
            <a:r>
              <a:rPr lang="es-CO" sz="2400" dirty="0"/>
              <a:t>: Docker </a:t>
            </a:r>
            <a:r>
              <a:rPr lang="es-CO" sz="2400" dirty="0" err="1"/>
              <a:t>Compose</a:t>
            </a:r>
            <a:r>
              <a:rPr lang="es-CO" sz="2400" dirty="0"/>
              <a:t> </a:t>
            </a:r>
          </a:p>
          <a:p>
            <a:pPr algn="ctr"/>
            <a:br>
              <a:rPr lang="es-CO" sz="2400" dirty="0"/>
            </a:br>
            <a:r>
              <a:rPr lang="es-CO" sz="2400" b="1" dirty="0"/>
              <a:t>Calidad: </a:t>
            </a:r>
            <a:r>
              <a:rPr lang="es-CO" sz="2400" dirty="0" err="1"/>
              <a:t>JaCoCo</a:t>
            </a:r>
            <a:r>
              <a:rPr lang="es-CO" sz="2400" dirty="0"/>
              <a:t>, SonarQube, </a:t>
            </a:r>
            <a:r>
              <a:rPr lang="es-CO" sz="2400" dirty="0" err="1"/>
              <a:t>JMeter</a:t>
            </a:r>
            <a:r>
              <a:rPr lang="es-CO" sz="2400" dirty="0"/>
              <a:t>, Jenkins </a:t>
            </a:r>
          </a:p>
          <a:p>
            <a:pPr algn="ctr"/>
            <a:endParaRPr lang="es-CO" sz="2000" dirty="0"/>
          </a:p>
          <a:p>
            <a:pPr algn="ctr"/>
            <a:br>
              <a:rPr lang="es-CO" sz="2000" dirty="0"/>
            </a:br>
            <a:r>
              <a:rPr lang="es-CO" sz="2800" b="1" dirty="0" err="1"/>
              <a:t>Frontend</a:t>
            </a:r>
            <a:r>
              <a:rPr lang="es-CO" sz="2800" b="1" dirty="0"/>
              <a:t> → </a:t>
            </a:r>
            <a:r>
              <a:rPr lang="es-CO" sz="2800" b="1" dirty="0" err="1"/>
              <a:t>Nginx</a:t>
            </a:r>
            <a:r>
              <a:rPr lang="es-CO" sz="2800" b="1" dirty="0"/>
              <a:t> → </a:t>
            </a:r>
            <a:r>
              <a:rPr lang="es-CO" sz="2800" b="1" dirty="0" err="1"/>
              <a:t>Backend</a:t>
            </a:r>
            <a:r>
              <a:rPr lang="es-CO" sz="2800" b="1" dirty="0"/>
              <a:t> → PostgreSQL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87714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A18A3-D389-EA41-C1D7-4113A3F8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440ED7F-7D0E-17B7-485D-BAFBC79F0D3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" y="0"/>
            <a:ext cx="12190476" cy="685885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6BF96B0-4413-AF9F-0948-14D73FFA565E}"/>
              </a:ext>
            </a:extLst>
          </p:cNvPr>
          <p:cNvSpPr txBox="1"/>
          <p:nvPr/>
        </p:nvSpPr>
        <p:spPr>
          <a:xfrm>
            <a:off x="304799" y="639171"/>
            <a:ext cx="898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/>
              <a:t>Construcción V1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DB35A28-7D53-7C0A-A12D-B925DD416E5D}"/>
              </a:ext>
            </a:extLst>
          </p:cNvPr>
          <p:cNvSpPr txBox="1"/>
          <p:nvPr/>
        </p:nvSpPr>
        <p:spPr>
          <a:xfrm>
            <a:off x="838200" y="1602932"/>
            <a:ext cx="928123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Login simulado con selector de rol </a:t>
            </a:r>
          </a:p>
          <a:p>
            <a:endParaRPr lang="es-ES" sz="2400" dirty="0"/>
          </a:p>
          <a:p>
            <a:r>
              <a:rPr lang="es-ES" sz="2400" dirty="0"/>
              <a:t>Contraseñas en texto plano </a:t>
            </a:r>
          </a:p>
          <a:p>
            <a:endParaRPr lang="es-ES" sz="2400" dirty="0"/>
          </a:p>
          <a:p>
            <a:r>
              <a:rPr lang="es-ES" sz="2400" dirty="0" err="1"/>
              <a:t>Endpoints</a:t>
            </a:r>
            <a:r>
              <a:rPr lang="es-ES" sz="2400" dirty="0"/>
              <a:t> sin protección </a:t>
            </a:r>
          </a:p>
          <a:p>
            <a:endParaRPr lang="es-ES" sz="2400" dirty="0"/>
          </a:p>
          <a:p>
            <a:r>
              <a:rPr lang="es-ES" sz="2400" dirty="0"/>
              <a:t>Entidades JPA expuestas directamente en respuestas </a:t>
            </a:r>
          </a:p>
          <a:p>
            <a:endParaRPr lang="es-ES" sz="2400" dirty="0"/>
          </a:p>
          <a:p>
            <a:r>
              <a:rPr lang="es-ES" sz="2400" dirty="0"/>
              <a:t>Sin manejador global de excepciones (todo devolvía HTTP 500)</a:t>
            </a:r>
          </a:p>
          <a:p>
            <a:r>
              <a:rPr lang="es-ES" sz="2400" dirty="0"/>
              <a:t> </a:t>
            </a:r>
          </a:p>
          <a:p>
            <a:r>
              <a:rPr lang="es-ES" sz="2400" dirty="0" err="1"/>
              <a:t>Tests</a:t>
            </a:r>
            <a:r>
              <a:rPr lang="es-ES" sz="2400" dirty="0"/>
              <a:t> escritos para fallar, cobertura inferior al 20%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1852011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706BF-D1A6-AC4D-6FF5-E9A965B65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5262F15-72CC-0D29-1FC8-44D1E739CA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" y="0"/>
            <a:ext cx="12190476" cy="685885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34A9E84-FF8D-CECB-3E1A-D45327E3F158}"/>
              </a:ext>
            </a:extLst>
          </p:cNvPr>
          <p:cNvSpPr txBox="1"/>
          <p:nvPr/>
        </p:nvSpPr>
        <p:spPr>
          <a:xfrm>
            <a:off x="304799" y="639171"/>
            <a:ext cx="898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/>
              <a:t>Diagnóstico de Calidad V1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9FF165-8498-2334-CFC8-A29AABD20187}"/>
              </a:ext>
            </a:extLst>
          </p:cNvPr>
          <p:cNvSpPr txBox="1"/>
          <p:nvPr/>
        </p:nvSpPr>
        <p:spPr>
          <a:xfrm>
            <a:off x="890583" y="1801562"/>
            <a:ext cx="1094740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 err="1"/>
              <a:t>Tests</a:t>
            </a:r>
            <a:r>
              <a:rPr lang="es-ES" sz="2400" b="1" dirty="0"/>
              <a:t> unitarios</a:t>
            </a:r>
            <a:r>
              <a:rPr lang="es-ES" sz="2400" dirty="0"/>
              <a:t>: Múltiples fallos </a:t>
            </a:r>
          </a:p>
          <a:p>
            <a:endParaRPr lang="es-ES" sz="2400" dirty="0"/>
          </a:p>
          <a:p>
            <a:r>
              <a:rPr lang="es-ES" sz="2400" b="1" dirty="0" err="1"/>
              <a:t>JaCoCo</a:t>
            </a:r>
            <a:r>
              <a:rPr lang="es-ES" sz="2400" b="1" dirty="0"/>
              <a:t>:</a:t>
            </a:r>
            <a:r>
              <a:rPr lang="es-ES" sz="2400" dirty="0"/>
              <a:t> Cobertura inferior al 20% </a:t>
            </a:r>
          </a:p>
          <a:p>
            <a:endParaRPr lang="es-ES" sz="2400" dirty="0"/>
          </a:p>
          <a:p>
            <a:r>
              <a:rPr lang="es-ES" sz="2400" b="1" dirty="0"/>
              <a:t>SonarQube</a:t>
            </a:r>
            <a:r>
              <a:rPr lang="es-ES" sz="2400" dirty="0"/>
              <a:t>: Alta deuda técnica y vulnerabilidades </a:t>
            </a:r>
          </a:p>
          <a:p>
            <a:endParaRPr lang="es-ES" sz="2400" dirty="0"/>
          </a:p>
          <a:p>
            <a:r>
              <a:rPr lang="es-ES" sz="2400" b="1" dirty="0" err="1"/>
              <a:t>JMeter</a:t>
            </a:r>
            <a:r>
              <a:rPr lang="es-ES" sz="2400" b="1" dirty="0"/>
              <a:t>: </a:t>
            </a:r>
            <a:r>
              <a:rPr lang="es-ES" sz="2400" dirty="0"/>
              <a:t>No se pudieron ejecutar por errores en el </a:t>
            </a:r>
            <a:r>
              <a:rPr lang="es-ES" sz="2800" dirty="0"/>
              <a:t>código</a:t>
            </a:r>
            <a:endParaRPr lang="es-ES" sz="2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FE9EFF5-27CD-E8E4-AE72-18BCF63AC6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1264" r="76522"/>
          <a:stretch>
            <a:fillRect/>
          </a:stretch>
        </p:blipFill>
        <p:spPr>
          <a:xfrm>
            <a:off x="8212574" y="1507559"/>
            <a:ext cx="3378200" cy="2200777"/>
          </a:xfrm>
          <a:prstGeom prst="rect">
            <a:avLst/>
          </a:prstGeom>
        </p:spPr>
      </p:pic>
      <p:pic>
        <p:nvPicPr>
          <p:cNvPr id="6" name="Imagen 5" descr="SonarQube: Introduction. 📚 This Article Series: | by Martin Tien |  Stackademic">
            <a:extLst>
              <a:ext uri="{FF2B5EF4-FFF2-40B4-BE49-F238E27FC236}">
                <a16:creationId xmlns:a16="http://schemas.microsoft.com/office/drawing/2014/main" id="{C29D1A9F-C891-900E-BE1E-8DE93C279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86" y="5079646"/>
            <a:ext cx="2534116" cy="784071"/>
          </a:xfrm>
          <a:prstGeom prst="rect">
            <a:avLst/>
          </a:prstGeom>
        </p:spPr>
      </p:pic>
      <p:pic>
        <p:nvPicPr>
          <p:cNvPr id="7" name="Imagen 6" descr="Buenas prácticas JMeter – Onesait Platform Community">
            <a:extLst>
              <a:ext uri="{FF2B5EF4-FFF2-40B4-BE49-F238E27FC236}">
                <a16:creationId xmlns:a16="http://schemas.microsoft.com/office/drawing/2014/main" id="{B08F894F-E843-E020-A3C4-F1DAB7790A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9223" y="4540773"/>
            <a:ext cx="3378200" cy="1879124"/>
          </a:xfrm>
          <a:prstGeom prst="rect">
            <a:avLst/>
          </a:prstGeom>
        </p:spPr>
      </p:pic>
      <p:pic>
        <p:nvPicPr>
          <p:cNvPr id="8" name="Imagen 7" descr="Generate Code Coverage Report with JaCoCo for Maven project">
            <a:extLst>
              <a:ext uri="{FF2B5EF4-FFF2-40B4-BE49-F238E27FC236}">
                <a16:creationId xmlns:a16="http://schemas.microsoft.com/office/drawing/2014/main" id="{BD851E44-5E0E-9908-3B7F-E7F1ACF1E9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5868" y="4692571"/>
            <a:ext cx="3670289" cy="165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029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AE07-60A4-391E-B757-88B5E4B9E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C550918-7077-1ED7-3A46-C632BC92E90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" y="0"/>
            <a:ext cx="12190476" cy="685885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6429BFA-5401-A4B7-AA98-64C22D32658A}"/>
              </a:ext>
            </a:extLst>
          </p:cNvPr>
          <p:cNvSpPr txBox="1"/>
          <p:nvPr/>
        </p:nvSpPr>
        <p:spPr>
          <a:xfrm>
            <a:off x="592666" y="639171"/>
            <a:ext cx="898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/>
              <a:t>Hallazgos Críticos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1FA4058-7054-3CA0-28D1-11708205B1BE}"/>
              </a:ext>
            </a:extLst>
          </p:cNvPr>
          <p:cNvSpPr txBox="1"/>
          <p:nvPr/>
        </p:nvSpPr>
        <p:spPr>
          <a:xfrm>
            <a:off x="713247" y="2070908"/>
            <a:ext cx="1060026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err="1"/>
              <a:t>Backend</a:t>
            </a:r>
            <a:r>
              <a:rPr lang="es-ES" sz="2800" b="1" dirty="0"/>
              <a:t> (</a:t>
            </a:r>
            <a:r>
              <a:rPr lang="es-ES" sz="2800" dirty="0"/>
              <a:t>11 defectos): Login falso, sin cifrado, sin JWT, entidades expuestas, sin excepciones globales, validaciones manuales, sin </a:t>
            </a:r>
            <a:r>
              <a:rPr lang="es-ES" sz="2800" dirty="0" err="1"/>
              <a:t>DTOs</a:t>
            </a:r>
            <a:r>
              <a:rPr lang="es-ES" sz="2800" dirty="0"/>
              <a:t>, credenciales </a:t>
            </a:r>
            <a:r>
              <a:rPr lang="es-ES" sz="2800" dirty="0" err="1"/>
              <a:t>hardcodeadas</a:t>
            </a:r>
            <a:r>
              <a:rPr lang="es-ES" sz="2800" dirty="0"/>
              <a:t>, sin perfiles, </a:t>
            </a:r>
            <a:r>
              <a:rPr lang="es-ES" sz="2800" dirty="0" err="1"/>
              <a:t>tests</a:t>
            </a:r>
            <a:r>
              <a:rPr lang="es-ES" sz="2800" dirty="0"/>
              <a:t> rotos, paquetes mal nombrados </a:t>
            </a:r>
          </a:p>
          <a:p>
            <a:endParaRPr lang="es-ES" sz="2800" dirty="0"/>
          </a:p>
          <a:p>
            <a:r>
              <a:rPr lang="es-ES" sz="2800" b="1" dirty="0" err="1"/>
              <a:t>Frontend</a:t>
            </a:r>
            <a:r>
              <a:rPr lang="es-ES" sz="2800" b="1" dirty="0"/>
              <a:t> (</a:t>
            </a:r>
            <a:r>
              <a:rPr lang="es-ES" sz="2800" dirty="0"/>
              <a:t>6 defectos): Login no conectaba al </a:t>
            </a:r>
            <a:r>
              <a:rPr lang="es-ES" sz="2800" dirty="0" err="1"/>
              <a:t>backend</a:t>
            </a:r>
            <a:r>
              <a:rPr lang="es-ES" sz="2800" dirty="0"/>
              <a:t>, sin interceptor JWT, sin manejo de sesión, métodos inconsistentes, sin adaptadores, </a:t>
            </a:r>
            <a:r>
              <a:rPr lang="es-ES" sz="2800" dirty="0" err="1"/>
              <a:t>views</a:t>
            </a:r>
            <a:r>
              <a:rPr lang="es-ES" sz="2800" dirty="0"/>
              <a:t> fallando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3165085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94277-B013-F9A5-4ED9-A45C36EBA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01F8CF2-C25B-189F-7E95-25AA9A56C9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" y="0"/>
            <a:ext cx="12190476" cy="685885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66DF5AB-DDB2-DB27-1C7D-45B3672C9F6D}"/>
              </a:ext>
            </a:extLst>
          </p:cNvPr>
          <p:cNvSpPr txBox="1"/>
          <p:nvPr/>
        </p:nvSpPr>
        <p:spPr>
          <a:xfrm>
            <a:off x="389466" y="512171"/>
            <a:ext cx="898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/>
              <a:t>Estrategia de Corrección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E21DF93-FF60-24DA-E412-72D49D2ABCE8}"/>
              </a:ext>
            </a:extLst>
          </p:cNvPr>
          <p:cNvSpPr txBox="1"/>
          <p:nvPr/>
        </p:nvSpPr>
        <p:spPr>
          <a:xfrm>
            <a:off x="592667" y="1233494"/>
            <a:ext cx="103462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/>
              <a:t>Fase 1-3: </a:t>
            </a:r>
            <a:r>
              <a:rPr lang="es-CO" sz="2400" dirty="0"/>
              <a:t>Reestructuración </a:t>
            </a:r>
            <a:r>
              <a:rPr lang="es-CO" sz="2400" dirty="0" err="1"/>
              <a:t>backend</a:t>
            </a:r>
            <a:r>
              <a:rPr lang="es-CO" sz="2400" dirty="0"/>
              <a:t> (entidades, </a:t>
            </a:r>
            <a:r>
              <a:rPr lang="es-CO" sz="2400" dirty="0" err="1"/>
              <a:t>DTOs</a:t>
            </a:r>
            <a:r>
              <a:rPr lang="es-CO" sz="2400" dirty="0"/>
              <a:t>, servicios, </a:t>
            </a:r>
            <a:r>
              <a:rPr lang="es-CO" sz="2400" dirty="0" err="1"/>
              <a:t>controllers</a:t>
            </a:r>
            <a:r>
              <a:rPr lang="es-CO" sz="2400" dirty="0"/>
              <a:t>, seguridad SHA-256 + JWT)</a:t>
            </a:r>
          </a:p>
          <a:p>
            <a:r>
              <a:rPr lang="es-CO" sz="2400" b="1" dirty="0"/>
              <a:t>Fase 4</a:t>
            </a:r>
            <a:r>
              <a:rPr lang="es-CO" sz="2400" dirty="0"/>
              <a:t>: Suite de 114 </a:t>
            </a:r>
            <a:r>
              <a:rPr lang="es-CO" sz="2400" dirty="0" err="1"/>
              <a:t>tests</a:t>
            </a:r>
            <a:r>
              <a:rPr lang="es-CO" sz="2400" dirty="0"/>
              <a:t> unitarios </a:t>
            </a:r>
          </a:p>
          <a:p>
            <a:r>
              <a:rPr lang="es-CO" sz="2400" b="1" dirty="0"/>
              <a:t>Fase 5: </a:t>
            </a:r>
            <a:r>
              <a:rPr lang="es-CO" sz="2400" dirty="0"/>
              <a:t>Refactorización </a:t>
            </a:r>
            <a:r>
              <a:rPr lang="es-CO" sz="2400" dirty="0" err="1"/>
              <a:t>frontend</a:t>
            </a:r>
            <a:r>
              <a:rPr lang="es-CO" sz="2400" dirty="0"/>
              <a:t> (</a:t>
            </a:r>
            <a:r>
              <a:rPr lang="es-CO" sz="2400" dirty="0" err="1"/>
              <a:t>login</a:t>
            </a:r>
            <a:r>
              <a:rPr lang="es-CO" sz="2400" dirty="0"/>
              <a:t> real, interceptor JWT, adaptadores)</a:t>
            </a:r>
          </a:p>
          <a:p>
            <a:r>
              <a:rPr lang="es-CO" sz="2400" b="1" dirty="0"/>
              <a:t>Fase 6: </a:t>
            </a:r>
            <a:r>
              <a:rPr lang="es-CO" sz="2400" dirty="0"/>
              <a:t>Automatización (</a:t>
            </a:r>
            <a:r>
              <a:rPr lang="es-CO" sz="2400" dirty="0" err="1"/>
              <a:t>JMeter</a:t>
            </a:r>
            <a:r>
              <a:rPr lang="es-CO" sz="2400" dirty="0"/>
              <a:t>, Jenkins, SonarQube, </a:t>
            </a:r>
            <a:r>
              <a:rPr lang="es-CO" sz="2400" dirty="0" err="1"/>
              <a:t>JaCoCo</a:t>
            </a:r>
            <a:r>
              <a:rPr lang="es-CO" sz="2400" dirty="0"/>
              <a:t>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D9818A0-EF5D-A743-1B62-8C4C1EBC81FD}"/>
              </a:ext>
            </a:extLst>
          </p:cNvPr>
          <p:cNvSpPr txBox="1"/>
          <p:nvPr/>
        </p:nvSpPr>
        <p:spPr>
          <a:xfrm>
            <a:off x="829734" y="3266441"/>
            <a:ext cx="898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/>
              <a:t>Correcciones Aplicadas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466D22D-7C8F-9252-1F29-4F2A4CD37321}"/>
              </a:ext>
            </a:extLst>
          </p:cNvPr>
          <p:cNvSpPr txBox="1"/>
          <p:nvPr/>
        </p:nvSpPr>
        <p:spPr>
          <a:xfrm>
            <a:off x="520699" y="3883616"/>
            <a:ext cx="118448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 err="1"/>
              <a:t>Backend</a:t>
            </a:r>
            <a:r>
              <a:rPr lang="es-CO" sz="2400" b="1" dirty="0"/>
              <a:t>: </a:t>
            </a:r>
            <a:r>
              <a:rPr lang="es-CO" sz="2400" dirty="0"/>
              <a:t>Cifrado SHA-256 con </a:t>
            </a:r>
            <a:r>
              <a:rPr lang="es-CO" sz="2400" dirty="0" err="1"/>
              <a:t>salt</a:t>
            </a:r>
            <a:r>
              <a:rPr lang="es-CO" sz="2400" dirty="0"/>
              <a:t>, JWT con Spring Security, </a:t>
            </a:r>
            <a:r>
              <a:rPr lang="es-CO" sz="2400" dirty="0" err="1"/>
              <a:t>DTOs</a:t>
            </a:r>
            <a:r>
              <a:rPr lang="es-CO" sz="2400" dirty="0"/>
              <a:t>, </a:t>
            </a:r>
            <a:r>
              <a:rPr lang="es-CO" sz="2400" dirty="0" err="1"/>
              <a:t>GlobalExceptionHandler</a:t>
            </a:r>
            <a:r>
              <a:rPr lang="es-CO" sz="2400" dirty="0"/>
              <a:t>, Bean </a:t>
            </a:r>
            <a:r>
              <a:rPr lang="es-CO" sz="2400" dirty="0" err="1"/>
              <a:t>Validation</a:t>
            </a:r>
            <a:r>
              <a:rPr lang="es-CO" sz="2400" dirty="0"/>
              <a:t>, perfiles </a:t>
            </a:r>
            <a:r>
              <a:rPr lang="es-CO" sz="2400" dirty="0" err="1"/>
              <a:t>dev</a:t>
            </a:r>
            <a:r>
              <a:rPr lang="es-CO" sz="2400" dirty="0"/>
              <a:t>/test, 114 </a:t>
            </a:r>
            <a:r>
              <a:rPr lang="es-CO" sz="2400" dirty="0" err="1"/>
              <a:t>tests</a:t>
            </a:r>
            <a:r>
              <a:rPr lang="es-CO" sz="2400" dirty="0"/>
              <a:t> </a:t>
            </a:r>
          </a:p>
          <a:p>
            <a:endParaRPr lang="es-CO" sz="2400" dirty="0"/>
          </a:p>
          <a:p>
            <a:r>
              <a:rPr lang="es-CO" sz="2400" b="1" dirty="0" err="1"/>
              <a:t>Frontend</a:t>
            </a:r>
            <a:r>
              <a:rPr lang="es-CO" sz="2400" b="1" dirty="0"/>
              <a:t>: </a:t>
            </a:r>
            <a:r>
              <a:rPr lang="es-CO" sz="2400" dirty="0"/>
              <a:t>Login real con /api/</a:t>
            </a:r>
            <a:r>
              <a:rPr lang="es-CO" sz="2400" dirty="0" err="1"/>
              <a:t>auth</a:t>
            </a:r>
            <a:r>
              <a:rPr lang="es-CO" sz="2400" dirty="0"/>
              <a:t>/</a:t>
            </a:r>
            <a:r>
              <a:rPr lang="es-CO" sz="2400" dirty="0" err="1"/>
              <a:t>login</a:t>
            </a:r>
            <a:r>
              <a:rPr lang="es-CO" sz="2400" dirty="0"/>
              <a:t>, interceptor Axios con token JWT, manejo de expiración, adaptadores de respuesta, </a:t>
            </a:r>
            <a:r>
              <a:rPr lang="es-CO" sz="2400" dirty="0" err="1"/>
              <a:t>dashboard</a:t>
            </a:r>
            <a:r>
              <a:rPr lang="es-CO" sz="2400" dirty="0"/>
              <a:t> funcional por rol</a:t>
            </a:r>
          </a:p>
        </p:txBody>
      </p:sp>
    </p:spTree>
    <p:extLst>
      <p:ext uri="{BB962C8B-B14F-4D97-AF65-F5344CB8AC3E}">
        <p14:creationId xmlns:p14="http://schemas.microsoft.com/office/powerpoint/2010/main" val="898966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A8363-880E-3B42-90A9-5290DCC8E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9AAAA63-E345-300F-1C74-8AE78435733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" y="0"/>
            <a:ext cx="12190476" cy="685885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86569B8-3840-9A6C-C6AF-D7D43104E370}"/>
              </a:ext>
            </a:extLst>
          </p:cNvPr>
          <p:cNvSpPr txBox="1"/>
          <p:nvPr/>
        </p:nvSpPr>
        <p:spPr>
          <a:xfrm>
            <a:off x="1109132" y="546838"/>
            <a:ext cx="898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 err="1"/>
              <a:t>Tests</a:t>
            </a:r>
            <a:r>
              <a:rPr lang="es-ES" sz="2800" dirty="0"/>
              <a:t> Unitarios y </a:t>
            </a:r>
            <a:r>
              <a:rPr lang="es-ES" sz="2800" dirty="0" err="1"/>
              <a:t>JaCoCo</a:t>
            </a:r>
            <a:endParaRPr lang="es-CO" sz="2800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3DE9E65-CF29-C866-9211-42B4037CF9FF}"/>
              </a:ext>
            </a:extLst>
          </p:cNvPr>
          <p:cNvSpPr txBox="1"/>
          <p:nvPr/>
        </p:nvSpPr>
        <p:spPr>
          <a:xfrm>
            <a:off x="1176866" y="1313344"/>
            <a:ext cx="100245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dirty="0"/>
              <a:t>114 </a:t>
            </a:r>
            <a:r>
              <a:rPr lang="es-CO" sz="2400" dirty="0" err="1"/>
              <a:t>tests</a:t>
            </a:r>
            <a:r>
              <a:rPr lang="es-CO" sz="2400" dirty="0"/>
              <a:t> ejecutados: 114 exitosos, 0 fallos 	 Cobertura superior al 80% en líneas, 70% en ramas "</a:t>
            </a:r>
            <a:r>
              <a:rPr lang="es-CO" sz="2400" dirty="0" err="1"/>
              <a:t>All</a:t>
            </a:r>
            <a:r>
              <a:rPr lang="es-CO" sz="2400" dirty="0"/>
              <a:t> </a:t>
            </a:r>
            <a:r>
              <a:rPr lang="es-CO" sz="2400" dirty="0" err="1"/>
              <a:t>coverage</a:t>
            </a:r>
            <a:r>
              <a:rPr lang="es-CO" sz="2400" dirty="0"/>
              <a:t> </a:t>
            </a:r>
            <a:r>
              <a:rPr lang="es-CO" sz="2400" dirty="0" err="1"/>
              <a:t>checks</a:t>
            </a:r>
            <a:r>
              <a:rPr lang="es-CO" sz="2400" dirty="0"/>
              <a:t> </a:t>
            </a:r>
            <a:r>
              <a:rPr lang="es-CO" sz="2400" dirty="0" err="1"/>
              <a:t>have</a:t>
            </a:r>
            <a:r>
              <a:rPr lang="es-CO" sz="2400" dirty="0"/>
              <a:t> </a:t>
            </a:r>
            <a:r>
              <a:rPr lang="es-CO" sz="2400" dirty="0" err="1"/>
              <a:t>been</a:t>
            </a:r>
            <a:r>
              <a:rPr lang="es-CO" sz="2400" dirty="0"/>
              <a:t> </a:t>
            </a:r>
            <a:r>
              <a:rPr lang="es-CO" sz="2400" dirty="0" err="1"/>
              <a:t>met</a:t>
            </a:r>
            <a:r>
              <a:rPr lang="es-CO" sz="2400" dirty="0"/>
              <a:t>"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676A3CF-819A-A0EC-41CD-1D7986AF0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68" y="2387627"/>
            <a:ext cx="7538931" cy="3468352"/>
          </a:xfrm>
          <a:prstGeom prst="rect">
            <a:avLst/>
          </a:prstGeom>
        </p:spPr>
      </p:pic>
      <p:pic>
        <p:nvPicPr>
          <p:cNvPr id="6" name="Imagen 5" descr="Generate Code Coverage Report with JaCoCo for Maven project">
            <a:extLst>
              <a:ext uri="{FF2B5EF4-FFF2-40B4-BE49-F238E27FC236}">
                <a16:creationId xmlns:a16="http://schemas.microsoft.com/office/drawing/2014/main" id="{E96A1932-686B-C37A-C4F2-E4191BBD5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155" y="3106310"/>
            <a:ext cx="3670289" cy="165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784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4C47E-6056-5EB8-A671-FDBB10816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9E6AEDB-6AFE-E0C2-2534-A93F3E1B0E3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" y="0"/>
            <a:ext cx="12190476" cy="685885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5F28CF8-61B1-FEF4-6EC2-B25F1209885B}"/>
              </a:ext>
            </a:extLst>
          </p:cNvPr>
          <p:cNvSpPr txBox="1"/>
          <p:nvPr/>
        </p:nvSpPr>
        <p:spPr>
          <a:xfrm>
            <a:off x="304799" y="639171"/>
            <a:ext cx="898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dirty="0"/>
              <a:t>Resultados: SonarQube</a:t>
            </a:r>
            <a:endParaRPr lang="es-CO" sz="2800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B887C8F-7592-1D85-D18F-6FF8521A506F}"/>
              </a:ext>
            </a:extLst>
          </p:cNvPr>
          <p:cNvSpPr txBox="1"/>
          <p:nvPr/>
        </p:nvSpPr>
        <p:spPr>
          <a:xfrm>
            <a:off x="448733" y="1330306"/>
            <a:ext cx="10761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/>
              <a:t>Análisis completado exitosamente </a:t>
            </a:r>
          </a:p>
          <a:p>
            <a:r>
              <a:rPr lang="es-CO" sz="2400" dirty="0"/>
              <a:t>Métricas: Bugs, Code </a:t>
            </a:r>
            <a:r>
              <a:rPr lang="es-CO" sz="2400" dirty="0" err="1"/>
              <a:t>Smells</a:t>
            </a:r>
            <a:r>
              <a:rPr lang="es-CO" sz="2400" dirty="0"/>
              <a:t>, Vulnerabilidades, Cobertura, Duplicación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14DC9A-9D02-CB2A-C3F2-CE9E1C4241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6" t="21378" r="11059"/>
          <a:stretch>
            <a:fillRect/>
          </a:stretch>
        </p:blipFill>
        <p:spPr>
          <a:xfrm>
            <a:off x="570086" y="2461845"/>
            <a:ext cx="7483130" cy="3588640"/>
          </a:xfrm>
          <a:prstGeom prst="rect">
            <a:avLst/>
          </a:prstGeom>
        </p:spPr>
      </p:pic>
      <p:pic>
        <p:nvPicPr>
          <p:cNvPr id="6" name="Imagen 5" descr="SonarQube: Introduction. 📚 This Article Series: | by Martin Tien |  Stackademic">
            <a:extLst>
              <a:ext uri="{FF2B5EF4-FFF2-40B4-BE49-F238E27FC236}">
                <a16:creationId xmlns:a16="http://schemas.microsoft.com/office/drawing/2014/main" id="{0C2425BB-09E3-A0B1-4929-E26CBF221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7620" y="2281179"/>
            <a:ext cx="3848100" cy="1190625"/>
          </a:xfrm>
          <a:prstGeom prst="rect">
            <a:avLst/>
          </a:prstGeom>
        </p:spPr>
      </p:pic>
      <p:pic>
        <p:nvPicPr>
          <p:cNvPr id="8" name="Imagen 7" descr="Defect Density Metric | TestingDocs">
            <a:extLst>
              <a:ext uri="{FF2B5EF4-FFF2-40B4-BE49-F238E27FC236}">
                <a16:creationId xmlns:a16="http://schemas.microsoft.com/office/drawing/2014/main" id="{D8B6A6BA-0533-FA8F-BC4E-AEB9E0252A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3008"/>
          <a:stretch>
            <a:fillRect/>
          </a:stretch>
        </p:blipFill>
        <p:spPr>
          <a:xfrm>
            <a:off x="8217620" y="3690738"/>
            <a:ext cx="3754035" cy="183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500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64982-7F4F-76A7-BB54-D919AA17B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Buenas prácticas JMeter – Onesait Platform Community">
            <a:extLst>
              <a:ext uri="{FF2B5EF4-FFF2-40B4-BE49-F238E27FC236}">
                <a16:creationId xmlns:a16="http://schemas.microsoft.com/office/drawing/2014/main" id="{6305637D-6E9C-A84D-5FCB-BC00C7721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481" y="2319654"/>
            <a:ext cx="4425285" cy="246156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A9B6F6B-75E3-336D-F00E-BBF117620F85}"/>
              </a:ext>
            </a:extLst>
          </p:cNvPr>
          <p:cNvSpPr txBox="1"/>
          <p:nvPr/>
        </p:nvSpPr>
        <p:spPr>
          <a:xfrm>
            <a:off x="304799" y="639171"/>
            <a:ext cx="898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dirty="0"/>
              <a:t>Resultados: </a:t>
            </a:r>
            <a:r>
              <a:rPr lang="es-CO" sz="2800" dirty="0" err="1"/>
              <a:t>JMeter</a:t>
            </a:r>
            <a:endParaRPr lang="es-CO" sz="2800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A35FA43-E494-34C8-6A19-6FD01B0E701E}"/>
              </a:ext>
            </a:extLst>
          </p:cNvPr>
          <p:cNvSpPr txBox="1"/>
          <p:nvPr/>
        </p:nvSpPr>
        <p:spPr>
          <a:xfrm>
            <a:off x="1293167" y="1283787"/>
            <a:ext cx="9605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Carga normal (50 usuarios): 2020 peticiones, 32.9 </a:t>
            </a:r>
            <a:r>
              <a:rPr lang="es-ES" dirty="0" err="1"/>
              <a:t>req</a:t>
            </a:r>
            <a:r>
              <a:rPr lang="es-ES" dirty="0"/>
              <a:t>/s, 61ms promedio, 0.45% error Estrés (200 usuarios): Ejecutada exitosamente</a:t>
            </a:r>
            <a:endParaRPr lang="es-CO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338294A-60C0-B16A-2F47-AE42C3719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600" y="5170404"/>
            <a:ext cx="7052288" cy="15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Imagen 1">
            <a:extLst>
              <a:ext uri="{FF2B5EF4-FFF2-40B4-BE49-F238E27FC236}">
                <a16:creationId xmlns:a16="http://schemas.microsoft.com/office/drawing/2014/main" id="{EF672862-0A2E-ABC2-35F4-10F8FBC90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973" y="2130172"/>
            <a:ext cx="6806534" cy="2651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409B1A-0984-D333-403E-3FE9E59EF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5825" y="108373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960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4AE0D-3BBE-22DE-16FC-1C84FD6E5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031586D-DE67-94CC-16F2-33ABF5A0883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" y="0"/>
            <a:ext cx="12190476" cy="685885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23C034C8-1A01-0953-6BAC-EA574A3A552A}"/>
              </a:ext>
            </a:extLst>
          </p:cNvPr>
          <p:cNvSpPr txBox="1"/>
          <p:nvPr/>
        </p:nvSpPr>
        <p:spPr>
          <a:xfrm>
            <a:off x="304799" y="639171"/>
            <a:ext cx="8983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dirty="0"/>
              <a:t>Comparativa V1 vs V2</a:t>
            </a:r>
            <a:endParaRPr lang="es-CO" sz="2800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2308370-DB76-FC42-F1C7-1FEE473D7A0E}"/>
              </a:ext>
            </a:extLst>
          </p:cNvPr>
          <p:cNvSpPr txBox="1"/>
          <p:nvPr/>
        </p:nvSpPr>
        <p:spPr>
          <a:xfrm>
            <a:off x="922866" y="1667738"/>
            <a:ext cx="6604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/>
              <a:t>Cobertura: &lt;20% → &gt;80%</a:t>
            </a:r>
          </a:p>
          <a:p>
            <a:r>
              <a:rPr lang="es-CO" sz="2000" dirty="0"/>
              <a:t> </a:t>
            </a:r>
          </a:p>
          <a:p>
            <a:r>
              <a:rPr lang="es-CO" sz="2000" dirty="0" err="1"/>
              <a:t>Tests</a:t>
            </a:r>
            <a:r>
              <a:rPr lang="es-CO" sz="2000" dirty="0"/>
              <a:t>: Fallando → 114/114 exitosos</a:t>
            </a:r>
          </a:p>
          <a:p>
            <a:r>
              <a:rPr lang="es-CO" sz="2000" dirty="0"/>
              <a:t> </a:t>
            </a:r>
          </a:p>
          <a:p>
            <a:r>
              <a:rPr lang="es-CO" sz="2000" dirty="0"/>
              <a:t>Seguridad: Texto plano → SHA-256 + JWT Errores</a:t>
            </a:r>
          </a:p>
          <a:p>
            <a:endParaRPr lang="es-CO" sz="2000" dirty="0"/>
          </a:p>
          <a:p>
            <a:r>
              <a:rPr lang="es-CO" sz="2000" dirty="0"/>
              <a:t>API: HTTP 500 genérico → Códigos semánticos</a:t>
            </a:r>
          </a:p>
          <a:p>
            <a:endParaRPr lang="es-CO" sz="2000" dirty="0"/>
          </a:p>
          <a:p>
            <a:r>
              <a:rPr lang="es-CO" sz="2000" dirty="0"/>
              <a:t>Login: Simulado → Real con autenticación </a:t>
            </a:r>
          </a:p>
          <a:p>
            <a:endParaRPr lang="es-CO" sz="2000" dirty="0"/>
          </a:p>
          <a:p>
            <a:r>
              <a:rPr lang="es-CO" sz="2000" dirty="0"/>
              <a:t>Deuda técnica: Alta → Mínima</a:t>
            </a:r>
          </a:p>
          <a:p>
            <a:r>
              <a:rPr lang="es-CO" sz="2000" dirty="0"/>
              <a:t> </a:t>
            </a:r>
          </a:p>
          <a:p>
            <a:r>
              <a:rPr lang="es-CO" sz="2000" dirty="0"/>
              <a:t>Pruebas de carga: No ejecutables → 0.45% error</a:t>
            </a:r>
          </a:p>
        </p:txBody>
      </p:sp>
    </p:spTree>
    <p:extLst>
      <p:ext uri="{BB962C8B-B14F-4D97-AF65-F5344CB8AC3E}">
        <p14:creationId xmlns:p14="http://schemas.microsoft.com/office/powerpoint/2010/main" val="28249933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7b9d0d2-0928-4bc7-b1e7-d815d07dd502" xsi:nil="true"/>
    <lcf76f155ced4ddcb4097134ff3c332f xmlns="3b21ab7c-7e7a-493b-a43f-a219844d5b04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6AC4B3079F3F14986B23BC4E8B1044F" ma:contentTypeVersion="16" ma:contentTypeDescription="Crear nuevo documento." ma:contentTypeScope="" ma:versionID="04f898694b3caf94c38805e82f5c0fb9">
  <xsd:schema xmlns:xsd="http://www.w3.org/2001/XMLSchema" xmlns:xs="http://www.w3.org/2001/XMLSchema" xmlns:p="http://schemas.microsoft.com/office/2006/metadata/properties" xmlns:ns2="3b21ab7c-7e7a-493b-a43f-a219844d5b04" xmlns:ns3="c7b9d0d2-0928-4bc7-b1e7-d815d07dd502" targetNamespace="http://schemas.microsoft.com/office/2006/metadata/properties" ma:root="true" ma:fieldsID="1d46ddd55854086af038f8f8e7145c9b" ns2:_="" ns3:_="">
    <xsd:import namespace="3b21ab7c-7e7a-493b-a43f-a219844d5b04"/>
    <xsd:import namespace="c7b9d0d2-0928-4bc7-b1e7-d815d07dd5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21ab7c-7e7a-493b-a43f-a219844d5b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c63f703e-4260-42db-90e1-1bf1f8b4f7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b9d0d2-0928-4bc7-b1e7-d815d07dd50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22966853-71d8-4c3c-a2a1-eb1a25e46692}" ma:internalName="TaxCatchAll" ma:showField="CatchAllData" ma:web="c7b9d0d2-0928-4bc7-b1e7-d815d07dd5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03D28F-282C-474C-8EAC-7F31992D29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A55C560-F379-4979-BDAB-85ADD41BF196}">
  <ds:schemaRefs>
    <ds:schemaRef ds:uri="http://schemas.microsoft.com/office/2006/metadata/properties"/>
    <ds:schemaRef ds:uri="http://schemas.microsoft.com/office/infopath/2007/PartnerControls"/>
    <ds:schemaRef ds:uri="c7b9d0d2-0928-4bc7-b1e7-d815d07dd502"/>
    <ds:schemaRef ds:uri="3b21ab7c-7e7a-493b-a43f-a219844d5b04"/>
  </ds:schemaRefs>
</ds:datastoreItem>
</file>

<file path=customXml/itemProps3.xml><?xml version="1.0" encoding="utf-8"?>
<ds:datastoreItem xmlns:ds="http://schemas.openxmlformats.org/officeDocument/2006/customXml" ds:itemID="{10F9C096-F130-4ECE-8018-26CD4E103B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21ab7c-7e7a-493b-a43f-a219844d5b04"/>
    <ds:schemaRef ds:uri="c7b9d0d2-0928-4bc7-b1e7-d815d07dd5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2635</TotalTime>
  <Words>575</Words>
  <Application>Microsoft Office PowerPoint</Application>
  <PresentationFormat>Panorámica</PresentationFormat>
  <Paragraphs>80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acomunicaciones</dc:creator>
  <cp:lastModifiedBy>Oscar Areiza</cp:lastModifiedBy>
  <cp:revision>8</cp:revision>
  <dcterms:created xsi:type="dcterms:W3CDTF">2026-01-26T14:49:45Z</dcterms:created>
  <dcterms:modified xsi:type="dcterms:W3CDTF">2026-05-18T20:35:42Z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0x01010076AC4B3079F3F14986B23BC4E8B1044F</vt:lpwstr>
  </property>
</Properties>
</file>
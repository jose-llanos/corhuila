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Poppins Bold" charset="1" panose="00000800000000000000"/>
      <p:regular r:id="rId16"/>
    </p:embeddedFont>
    <p:embeddedFont>
      <p:font typeface="Poppins" charset="1" panose="00000500000000000000"/>
      <p:regular r:id="rId17"/>
    </p:embeddedFont>
    <p:embeddedFont>
      <p:font typeface="Open Sans Bold" charset="1" panose="020B0806030504020204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4.jpeg" Type="http://schemas.openxmlformats.org/officeDocument/2006/relationships/image"/><Relationship Id="rId4" Target="../media/image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6.png" Type="http://schemas.openxmlformats.org/officeDocument/2006/relationships/image"/><Relationship Id="rId4" Target="../media/image7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4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8.png" Type="http://schemas.openxmlformats.org/officeDocument/2006/relationships/image"/><Relationship Id="rId4" Target="../media/image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4.jpeg" Type="http://schemas.openxmlformats.org/officeDocument/2006/relationships/image"/><Relationship Id="rId4" Target="../media/image10.png" Type="http://schemas.openxmlformats.org/officeDocument/2006/relationships/image"/><Relationship Id="rId5" Target="../embeddings/oleObject1.bin" Type="http://schemas.openxmlformats.org/officeDocument/2006/relationships/oleObjec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11.png" Type="http://schemas.openxmlformats.org/officeDocument/2006/relationships/image"/><Relationship Id="rId4" Target="../media/image1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4.jpeg" Type="http://schemas.openxmlformats.org/officeDocument/2006/relationships/image"/><Relationship Id="rId4" Target="../media/image1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4.jpeg" Type="http://schemas.openxmlformats.org/officeDocument/2006/relationships/image"/><Relationship Id="rId4" Target="../media/image1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5714" cy="10288286"/>
            <a:chOff x="0" y="0"/>
            <a:chExt cx="24380952" cy="1371771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0952" cy="13717651"/>
            </a:xfrm>
            <a:custGeom>
              <a:avLst/>
              <a:gdLst/>
              <a:ahLst/>
              <a:cxnLst/>
              <a:rect r="r" b="b" t="t" l="l"/>
              <a:pathLst>
                <a:path h="13717651" w="24380952">
                  <a:moveTo>
                    <a:pt x="0" y="0"/>
                  </a:moveTo>
                  <a:lnTo>
                    <a:pt x="24380952" y="0"/>
                  </a:lnTo>
                  <a:lnTo>
                    <a:pt x="24380952" y="13717651"/>
                  </a:lnTo>
                  <a:lnTo>
                    <a:pt x="0" y="137176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9" t="0" r="-9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7913234" y="1982651"/>
            <a:ext cx="10062608" cy="5786000"/>
          </a:xfrm>
          <a:custGeom>
            <a:avLst/>
            <a:gdLst/>
            <a:ahLst/>
            <a:cxnLst/>
            <a:rect r="r" b="b" t="t" l="l"/>
            <a:pathLst>
              <a:path h="5786000" w="10062608">
                <a:moveTo>
                  <a:pt x="0" y="0"/>
                </a:moveTo>
                <a:lnTo>
                  <a:pt x="10062608" y="0"/>
                </a:lnTo>
                <a:lnTo>
                  <a:pt x="10062608" y="5785999"/>
                </a:lnTo>
                <a:lnTo>
                  <a:pt x="0" y="578599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11433" y="720170"/>
            <a:ext cx="6850971" cy="1262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64"/>
              </a:lnSpc>
            </a:pPr>
            <a:r>
              <a:rPr lang="en-US" b="true" sz="3546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PROYECTO INTEGRADOR</a:t>
            </a:r>
          </a:p>
          <a:p>
            <a:pPr algn="ctr">
              <a:lnSpc>
                <a:spcPts val="4964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423390" y="2036875"/>
            <a:ext cx="5027057" cy="10312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60"/>
              </a:lnSpc>
            </a:pPr>
            <a:r>
              <a:rPr lang="en-US" b="true" sz="29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Seam Yong Agudelo</a:t>
            </a:r>
          </a:p>
          <a:p>
            <a:pPr algn="ctr">
              <a:lnSpc>
                <a:spcPts val="4060"/>
              </a:lnSpc>
            </a:pPr>
            <a:r>
              <a:rPr lang="en-US" b="true" sz="29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Alex David Salgado Trujillo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24615" y="3752922"/>
            <a:ext cx="5341144" cy="516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60"/>
              </a:lnSpc>
            </a:pPr>
            <a:r>
              <a:rPr lang="en-US" sz="29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Materia: Calidad de Software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04873" y="4506558"/>
            <a:ext cx="6780628" cy="1076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Corporación Universitaria del Huila-Corhuila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75812" y="5821007"/>
            <a:ext cx="5322213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Docente: Jose Miguel Llanos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286" y="806129"/>
            <a:ext cx="18285714" cy="10288286"/>
            <a:chOff x="0" y="0"/>
            <a:chExt cx="24380952" cy="1371771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0952" cy="13717651"/>
            </a:xfrm>
            <a:custGeom>
              <a:avLst/>
              <a:gdLst/>
              <a:ahLst/>
              <a:cxnLst/>
              <a:rect r="r" b="b" t="t" l="l"/>
              <a:pathLst>
                <a:path h="13717651" w="24380952">
                  <a:moveTo>
                    <a:pt x="0" y="0"/>
                  </a:moveTo>
                  <a:lnTo>
                    <a:pt x="24380952" y="0"/>
                  </a:lnTo>
                  <a:lnTo>
                    <a:pt x="24380952" y="13717651"/>
                  </a:lnTo>
                  <a:lnTo>
                    <a:pt x="0" y="137176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9" t="0" r="-9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7839074" y="2782885"/>
            <a:ext cx="10177166" cy="4961368"/>
          </a:xfrm>
          <a:custGeom>
            <a:avLst/>
            <a:gdLst/>
            <a:ahLst/>
            <a:cxnLst/>
            <a:rect r="r" b="b" t="t" l="l"/>
            <a:pathLst>
              <a:path h="4961368" w="10177166">
                <a:moveTo>
                  <a:pt x="0" y="0"/>
                </a:moveTo>
                <a:lnTo>
                  <a:pt x="10177166" y="0"/>
                </a:lnTo>
                <a:lnTo>
                  <a:pt x="10177166" y="4961368"/>
                </a:lnTo>
                <a:lnTo>
                  <a:pt x="0" y="49613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697093" y="606104"/>
            <a:ext cx="11454646" cy="12274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520"/>
              </a:lnSpc>
              <a:spcBef>
                <a:spcPct val="0"/>
              </a:spcBef>
            </a:pPr>
            <a:r>
              <a:rPr lang="en-US" b="true" sz="68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Introducción del proyecto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0077" y="2687635"/>
            <a:ext cx="6047805" cy="5885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64"/>
              </a:lnSpc>
              <a:spcBef>
                <a:spcPct val="0"/>
              </a:spcBef>
            </a:pPr>
            <a:r>
              <a:rPr lang="en-US" sz="304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 desarrolló una aplicación web orientada a la gestión operativa de una panadería, permitiendo administrar productos, controlar inventario y gestionar pedidos mediante carrito de compras. Además, se implementó una estrategia integral de aseguramiento de calidad mediante pruebas de software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392515" y="1855075"/>
            <a:ext cx="7178423" cy="3858402"/>
          </a:xfrm>
          <a:custGeom>
            <a:avLst/>
            <a:gdLst/>
            <a:ahLst/>
            <a:cxnLst/>
            <a:rect r="r" b="b" t="t" l="l"/>
            <a:pathLst>
              <a:path h="3858402" w="7178423">
                <a:moveTo>
                  <a:pt x="0" y="0"/>
                </a:moveTo>
                <a:lnTo>
                  <a:pt x="7178423" y="0"/>
                </a:lnTo>
                <a:lnTo>
                  <a:pt x="7178423" y="3858403"/>
                </a:lnTo>
                <a:lnTo>
                  <a:pt x="0" y="385840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580027" y="5985669"/>
            <a:ext cx="6396700" cy="4117875"/>
          </a:xfrm>
          <a:custGeom>
            <a:avLst/>
            <a:gdLst/>
            <a:ahLst/>
            <a:cxnLst/>
            <a:rect r="r" b="b" t="t" l="l"/>
            <a:pathLst>
              <a:path h="4117875" w="6396700">
                <a:moveTo>
                  <a:pt x="0" y="0"/>
                </a:moveTo>
                <a:lnTo>
                  <a:pt x="6396700" y="0"/>
                </a:lnTo>
                <a:lnTo>
                  <a:pt x="6396700" y="4117875"/>
                </a:lnTo>
                <a:lnTo>
                  <a:pt x="0" y="41178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100036" y="469506"/>
            <a:ext cx="10087927" cy="1109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80"/>
              </a:lnSpc>
            </a:pPr>
            <a:r>
              <a:rPr lang="en-US" b="true" sz="62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Arquitectura del sistema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3010217"/>
            <a:ext cx="4362070" cy="3602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60"/>
              </a:lnSpc>
            </a:pPr>
            <a:r>
              <a:rPr lang="en-US" sz="2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</a:t>
            </a:r>
            <a:r>
              <a:rPr lang="en-US" sz="2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rontend Angular</a:t>
            </a:r>
          </a:p>
          <a:p>
            <a:pPr algn="ctr">
              <a:lnSpc>
                <a:spcPts val="4060"/>
              </a:lnSpc>
            </a:pPr>
            <a:r>
              <a:rPr lang="en-US" sz="2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↓</a:t>
            </a:r>
          </a:p>
          <a:p>
            <a:pPr algn="ctr">
              <a:lnSpc>
                <a:spcPts val="4060"/>
              </a:lnSpc>
            </a:pPr>
            <a:r>
              <a:rPr lang="en-US" sz="2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API REST</a:t>
            </a:r>
          </a:p>
          <a:p>
            <a:pPr algn="ctr">
              <a:lnSpc>
                <a:spcPts val="4060"/>
              </a:lnSpc>
            </a:pPr>
            <a:r>
              <a:rPr lang="en-US" sz="2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↓</a:t>
            </a:r>
          </a:p>
          <a:p>
            <a:pPr algn="ctr">
              <a:lnSpc>
                <a:spcPts val="4060"/>
              </a:lnSpc>
            </a:pPr>
            <a:r>
              <a:rPr lang="en-US" sz="2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Backend Spring Boot</a:t>
            </a:r>
          </a:p>
          <a:p>
            <a:pPr algn="ctr">
              <a:lnSpc>
                <a:spcPts val="4060"/>
              </a:lnSpc>
            </a:pPr>
            <a:r>
              <a:rPr lang="en-US" sz="2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↓</a:t>
            </a:r>
          </a:p>
          <a:p>
            <a:pPr algn="ctr">
              <a:lnSpc>
                <a:spcPts val="4060"/>
              </a:lnSpc>
            </a:pPr>
            <a:r>
              <a:rPr lang="en-US" sz="2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Base de datos MySQL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992447"/>
            <a:ext cx="18285714" cy="10288286"/>
            <a:chOff x="0" y="0"/>
            <a:chExt cx="24380952" cy="1371771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0952" cy="13717651"/>
            </a:xfrm>
            <a:custGeom>
              <a:avLst/>
              <a:gdLst/>
              <a:ahLst/>
              <a:cxnLst/>
              <a:rect r="r" b="b" t="t" l="l"/>
              <a:pathLst>
                <a:path h="13717651" w="24380952">
                  <a:moveTo>
                    <a:pt x="0" y="0"/>
                  </a:moveTo>
                  <a:lnTo>
                    <a:pt x="24380952" y="0"/>
                  </a:lnTo>
                  <a:lnTo>
                    <a:pt x="24380952" y="13717651"/>
                  </a:lnTo>
                  <a:lnTo>
                    <a:pt x="0" y="137176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9" t="0" r="-9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4779347" y="820997"/>
            <a:ext cx="8729306" cy="10693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60"/>
              </a:lnSpc>
              <a:spcBef>
                <a:spcPct val="0"/>
              </a:spcBef>
            </a:pPr>
            <a:r>
              <a:rPr lang="en-US" b="true" sz="59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Requisitos funcionales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29061" y="2836789"/>
            <a:ext cx="5572244" cy="7270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Gestión de pr</a:t>
            </a:r>
            <a:r>
              <a:rPr lang="en-US" b="true" sz="40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oductos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74779" y="3884623"/>
            <a:ext cx="4680810" cy="3088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0"/>
              </a:lnSpc>
              <a:spcBef>
                <a:spcPct val="0"/>
              </a:spcBef>
            </a:pPr>
            <a:r>
              <a:rPr lang="en-US" sz="2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•Consultar productos </a:t>
            </a:r>
          </a:p>
          <a:p>
            <a:pPr algn="l">
              <a:lnSpc>
                <a:spcPts val="4060"/>
              </a:lnSpc>
              <a:spcBef>
                <a:spcPct val="0"/>
              </a:spcBef>
            </a:pPr>
            <a:r>
              <a:rPr lang="en-US" sz="2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•Consultar producto por ID </a:t>
            </a:r>
          </a:p>
          <a:p>
            <a:pPr algn="l">
              <a:lnSpc>
                <a:spcPts val="4060"/>
              </a:lnSpc>
              <a:spcBef>
                <a:spcPct val="0"/>
              </a:spcBef>
            </a:pPr>
            <a:r>
              <a:rPr lang="en-US" sz="2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•Crear productos </a:t>
            </a:r>
          </a:p>
          <a:p>
            <a:pPr algn="l">
              <a:lnSpc>
                <a:spcPts val="4060"/>
              </a:lnSpc>
              <a:spcBef>
                <a:spcPct val="0"/>
              </a:spcBef>
            </a:pPr>
            <a:r>
              <a:rPr lang="en-US" sz="2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•Actualizar productos </a:t>
            </a:r>
          </a:p>
          <a:p>
            <a:pPr algn="l">
              <a:lnSpc>
                <a:spcPts val="4060"/>
              </a:lnSpc>
              <a:spcBef>
                <a:spcPct val="0"/>
              </a:spcBef>
            </a:pPr>
            <a:r>
              <a:rPr lang="en-US" sz="2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•Eliminar productos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861560" y="2836789"/>
            <a:ext cx="4795123" cy="7270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Gestión del </a:t>
            </a:r>
            <a:r>
              <a:rPr lang="en-US" b="true" sz="40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carrito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620788" y="3884623"/>
            <a:ext cx="5276668" cy="3602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0"/>
              </a:lnSpc>
              <a:spcBef>
                <a:spcPct val="0"/>
              </a:spcBef>
            </a:pPr>
            <a:r>
              <a:rPr lang="en-US" sz="2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•Agregar productos al carrito </a:t>
            </a:r>
          </a:p>
          <a:p>
            <a:pPr algn="l">
              <a:lnSpc>
                <a:spcPts val="4060"/>
              </a:lnSpc>
              <a:spcBef>
                <a:spcPct val="0"/>
              </a:spcBef>
            </a:pPr>
            <a:r>
              <a:rPr lang="en-US" sz="2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•Consultar carrito </a:t>
            </a:r>
          </a:p>
          <a:p>
            <a:pPr algn="l">
              <a:lnSpc>
                <a:spcPts val="4060"/>
              </a:lnSpc>
              <a:spcBef>
                <a:spcPct val="0"/>
              </a:spcBef>
            </a:pPr>
            <a:r>
              <a:rPr lang="en-US" sz="2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•Actualizar cantidades </a:t>
            </a:r>
          </a:p>
          <a:p>
            <a:pPr algn="l">
              <a:lnSpc>
                <a:spcPts val="4060"/>
              </a:lnSpc>
              <a:spcBef>
                <a:spcPct val="0"/>
              </a:spcBef>
            </a:pPr>
            <a:r>
              <a:rPr lang="en-US" sz="2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•Eliminar productos del carrito </a:t>
            </a:r>
          </a:p>
          <a:p>
            <a:pPr algn="l">
              <a:lnSpc>
                <a:spcPts val="4060"/>
              </a:lnSpc>
              <a:spcBef>
                <a:spcPct val="0"/>
              </a:spcBef>
            </a:pPr>
            <a:r>
              <a:rPr lang="en-US" sz="2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•Vaciar carrito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644985" y="2836789"/>
            <a:ext cx="3213854" cy="7270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Interfaz web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867791" y="3884623"/>
            <a:ext cx="4768243" cy="3602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0"/>
              </a:lnSpc>
              <a:spcBef>
                <a:spcPct val="0"/>
              </a:spcBef>
            </a:pPr>
            <a:r>
              <a:rPr lang="en-US" sz="2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•Navegación entre módulos </a:t>
            </a:r>
          </a:p>
          <a:p>
            <a:pPr algn="l">
              <a:lnSpc>
                <a:spcPts val="4060"/>
              </a:lnSpc>
              <a:spcBef>
                <a:spcPct val="0"/>
              </a:spcBef>
            </a:pPr>
            <a:r>
              <a:rPr lang="en-US" sz="2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•Visualización de inventario </a:t>
            </a:r>
          </a:p>
          <a:p>
            <a:pPr algn="l">
              <a:lnSpc>
                <a:spcPts val="4060"/>
              </a:lnSpc>
              <a:spcBef>
                <a:spcPct val="0"/>
              </a:spcBef>
            </a:pPr>
            <a:r>
              <a:rPr lang="en-US" sz="2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•Interacción cliente-servidor</a:t>
            </a:r>
          </a:p>
          <a:p>
            <a:pPr algn="l">
              <a:lnSpc>
                <a:spcPts val="406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952606" y="2892074"/>
            <a:ext cx="6483675" cy="3475152"/>
          </a:xfrm>
          <a:custGeom>
            <a:avLst/>
            <a:gdLst/>
            <a:ahLst/>
            <a:cxnLst/>
            <a:rect r="r" b="b" t="t" l="l"/>
            <a:pathLst>
              <a:path h="3475152" w="6483675">
                <a:moveTo>
                  <a:pt x="0" y="0"/>
                </a:moveTo>
                <a:lnTo>
                  <a:pt x="6483676" y="0"/>
                </a:lnTo>
                <a:lnTo>
                  <a:pt x="6483676" y="3475151"/>
                </a:lnTo>
                <a:lnTo>
                  <a:pt x="0" y="347515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977664" y="7717500"/>
            <a:ext cx="8777704" cy="2041943"/>
          </a:xfrm>
          <a:custGeom>
            <a:avLst/>
            <a:gdLst/>
            <a:ahLst/>
            <a:cxnLst/>
            <a:rect r="r" b="b" t="t" l="l"/>
            <a:pathLst>
              <a:path h="2041943" w="8777704">
                <a:moveTo>
                  <a:pt x="0" y="0"/>
                </a:moveTo>
                <a:lnTo>
                  <a:pt x="8777704" y="0"/>
                </a:lnTo>
                <a:lnTo>
                  <a:pt x="8777704" y="2041943"/>
                </a:lnTo>
                <a:lnTo>
                  <a:pt x="0" y="20419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136517" y="561975"/>
            <a:ext cx="14014967" cy="1227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520"/>
              </a:lnSpc>
            </a:pPr>
            <a:r>
              <a:rPr lang="en-US" sz="68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</a:t>
            </a:r>
            <a:r>
              <a:rPr lang="en-US" b="true" sz="68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ruebas Unitarias + Integración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2834924"/>
            <a:ext cx="6589615" cy="59997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493913" indent="-246957" lvl="1">
              <a:lnSpc>
                <a:spcPts val="3202"/>
              </a:lnSpc>
              <a:buFont typeface="Arial"/>
              <a:buChar char="•"/>
            </a:pPr>
            <a:r>
              <a:rPr lang="en-US" sz="228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JUnit → Validación de lógica de negocio</a:t>
            </a:r>
          </a:p>
          <a:p>
            <a:pPr algn="ctr" marL="493913" indent="-246957" lvl="1">
              <a:lnSpc>
                <a:spcPts val="3202"/>
              </a:lnSpc>
              <a:buFont typeface="Arial"/>
              <a:buChar char="•"/>
            </a:pPr>
            <a:r>
              <a:rPr lang="en-US" sz="228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H2 Database → Base de datos de prueba para integración</a:t>
            </a:r>
          </a:p>
          <a:p>
            <a:pPr algn="ctr" marL="493913" indent="-246957" lvl="1">
              <a:lnSpc>
                <a:spcPts val="3202"/>
              </a:lnSpc>
              <a:buFont typeface="Arial"/>
              <a:buChar char="•"/>
            </a:pPr>
            <a:r>
              <a:rPr lang="en-US" sz="228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JaCoCo → Medición de cobertura</a:t>
            </a:r>
          </a:p>
          <a:p>
            <a:pPr algn="ctr">
              <a:lnSpc>
                <a:spcPts val="3202"/>
              </a:lnSpc>
            </a:pPr>
          </a:p>
          <a:p>
            <a:pPr algn="ctr">
              <a:lnSpc>
                <a:spcPts val="3202"/>
              </a:lnSpc>
            </a:pPr>
          </a:p>
          <a:p>
            <a:pPr algn="ctr">
              <a:lnSpc>
                <a:spcPts val="3202"/>
              </a:lnSpc>
            </a:pPr>
          </a:p>
          <a:p>
            <a:pPr algn="ctr">
              <a:lnSpc>
                <a:spcPts val="3202"/>
              </a:lnSpc>
            </a:pPr>
          </a:p>
          <a:p>
            <a:pPr algn="l">
              <a:lnSpc>
                <a:spcPts val="3202"/>
              </a:lnSpc>
            </a:pPr>
            <a:r>
              <a:rPr lang="en-US" sz="228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✅ 3 pruebas de integración ejecutadas</a:t>
            </a:r>
          </a:p>
          <a:p>
            <a:pPr algn="l">
              <a:lnSpc>
                <a:spcPts val="3202"/>
              </a:lnSpc>
            </a:pPr>
            <a:r>
              <a:rPr lang="en-US" sz="228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✅ 5 pruebas unitarias ejecutadas</a:t>
            </a:r>
          </a:p>
          <a:p>
            <a:pPr algn="l">
              <a:lnSpc>
                <a:spcPts val="3202"/>
              </a:lnSpc>
            </a:pPr>
            <a:r>
              <a:rPr lang="en-US" sz="228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✅ 0 errores detectados</a:t>
            </a:r>
          </a:p>
          <a:p>
            <a:pPr algn="l">
              <a:lnSpc>
                <a:spcPts val="3202"/>
              </a:lnSpc>
            </a:pPr>
            <a:r>
              <a:rPr lang="en-US" sz="228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✅ Cobertura total del 90%</a:t>
            </a:r>
          </a:p>
          <a:p>
            <a:pPr algn="l">
              <a:lnSpc>
                <a:spcPts val="3202"/>
              </a:lnSpc>
            </a:pPr>
            <a:r>
              <a:rPr lang="en-US" sz="228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✅ BUILD SUCCESS</a:t>
            </a:r>
          </a:p>
          <a:p>
            <a:pPr algn="ctr">
              <a:lnSpc>
                <a:spcPts val="3202"/>
              </a:lnSpc>
            </a:pPr>
          </a:p>
          <a:p>
            <a:pPr algn="ctr">
              <a:lnSpc>
                <a:spcPts val="3202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930712" y="1941830"/>
            <a:ext cx="6001821" cy="6845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20"/>
              </a:lnSpc>
            </a:pPr>
            <a:r>
              <a:rPr lang="en-US" sz="38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He</a:t>
            </a:r>
            <a:r>
              <a:rPr lang="en-US" b="true" sz="38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rramientas utilizadas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31843" y="4772514"/>
            <a:ext cx="5379363" cy="684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20"/>
              </a:lnSpc>
            </a:pPr>
            <a:r>
              <a:rPr lang="en-US" sz="38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</a:t>
            </a:r>
            <a:r>
              <a:rPr lang="en-US" b="true" sz="38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esultados obtenidos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806129"/>
            <a:ext cx="18285714" cy="10288286"/>
            <a:chOff x="0" y="0"/>
            <a:chExt cx="24380952" cy="1371771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0952" cy="13717651"/>
            </a:xfrm>
            <a:custGeom>
              <a:avLst/>
              <a:gdLst/>
              <a:ahLst/>
              <a:cxnLst/>
              <a:rect r="r" b="b" t="t" l="l"/>
              <a:pathLst>
                <a:path h="13717651" w="24380952">
                  <a:moveTo>
                    <a:pt x="0" y="0"/>
                  </a:moveTo>
                  <a:lnTo>
                    <a:pt x="24380952" y="0"/>
                  </a:lnTo>
                  <a:lnTo>
                    <a:pt x="24380952" y="13717651"/>
                  </a:lnTo>
                  <a:lnTo>
                    <a:pt x="0" y="137176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9" t="0" r="-9" b="0"/>
              </a:stretch>
            </a:blipFill>
          </p:spPr>
        </p:sp>
      </p:grpSp>
      <p:graphicFrame>
        <p:nvGraphicFramePr>
          <p:cNvPr name="Object 5" id="5"/>
          <p:cNvGraphicFramePr/>
          <p:nvPr/>
        </p:nvGraphicFramePr>
        <p:xfrm>
          <a:off x="8172983" y="2854940"/>
          <a:ext cx="3771900" cy="3771900"/>
        </p:xfrm>
        <a:graphic>
          <a:graphicData uri="http://schemas.openxmlformats.org/presentationml/2006/ole">
            <p:oleObj imgW="4521200" imgH="4521200" r:id="rId5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6" id="6"/>
          <p:cNvSpPr txBox="true"/>
          <p:nvPr/>
        </p:nvSpPr>
        <p:spPr>
          <a:xfrm rot="0">
            <a:off x="0" y="672779"/>
            <a:ext cx="13824251" cy="17599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43"/>
              </a:lnSpc>
              <a:spcBef>
                <a:spcPct val="0"/>
              </a:spcBef>
            </a:pPr>
            <a:r>
              <a:rPr lang="en-US" b="true" sz="495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Pruebas funcionales con Selenium WebDrive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42591" y="3754726"/>
            <a:ext cx="7330972" cy="551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64"/>
              </a:lnSpc>
              <a:spcBef>
                <a:spcPct val="0"/>
              </a:spcBef>
            </a:pPr>
            <a:r>
              <a:rPr lang="en-US" sz="304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Selenium WebDriver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42591" y="2731115"/>
            <a:ext cx="7330972" cy="7270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40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Her</a:t>
            </a:r>
            <a:r>
              <a:rPr lang="en-US" sz="40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ramienta usada: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70082" y="4445831"/>
            <a:ext cx="4421267" cy="7270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Patrón aplicado: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42591" y="5347911"/>
            <a:ext cx="3652123" cy="541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70"/>
              </a:lnSpc>
            </a:pPr>
            <a:r>
              <a:rPr lang="en-US" sz="305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Pa</a:t>
            </a:r>
            <a:r>
              <a:rPr lang="en-US" sz="305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ge Object Model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11384" y="6032441"/>
            <a:ext cx="5781080" cy="71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Cantidad de p</a:t>
            </a:r>
            <a:r>
              <a:rPr lang="en-US" b="true" sz="39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ruebas: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42591" y="6664266"/>
            <a:ext cx="5598795" cy="1075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70"/>
              </a:lnSpc>
            </a:pPr>
            <a:r>
              <a:rPr lang="en-US" sz="305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5 p</a:t>
            </a:r>
            <a:r>
              <a:rPr lang="en-US" sz="305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ruebas ejecutadas</a:t>
            </a:r>
          </a:p>
          <a:p>
            <a:pPr algn="l">
              <a:lnSpc>
                <a:spcPts val="4270"/>
              </a:lnSpc>
            </a:pPr>
            <a:r>
              <a:rPr lang="en-US" sz="305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Resultado: 5 exitosas, 0 fallos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830610" y="1753056"/>
            <a:ext cx="7099023" cy="3948832"/>
          </a:xfrm>
          <a:custGeom>
            <a:avLst/>
            <a:gdLst/>
            <a:ahLst/>
            <a:cxnLst/>
            <a:rect r="r" b="b" t="t" l="l"/>
            <a:pathLst>
              <a:path h="3948832" w="7099023">
                <a:moveTo>
                  <a:pt x="0" y="0"/>
                </a:moveTo>
                <a:lnTo>
                  <a:pt x="7099024" y="0"/>
                </a:lnTo>
                <a:lnTo>
                  <a:pt x="7099024" y="3948832"/>
                </a:lnTo>
                <a:lnTo>
                  <a:pt x="0" y="39488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131196" y="6034924"/>
            <a:ext cx="6620829" cy="3682836"/>
          </a:xfrm>
          <a:custGeom>
            <a:avLst/>
            <a:gdLst/>
            <a:ahLst/>
            <a:cxnLst/>
            <a:rect r="r" b="b" t="t" l="l"/>
            <a:pathLst>
              <a:path h="3682836" w="6620829">
                <a:moveTo>
                  <a:pt x="0" y="0"/>
                </a:moveTo>
                <a:lnTo>
                  <a:pt x="6620829" y="0"/>
                </a:lnTo>
                <a:lnTo>
                  <a:pt x="6620829" y="3682837"/>
                </a:lnTo>
                <a:lnTo>
                  <a:pt x="0" y="36828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0" y="555625"/>
            <a:ext cx="18014536" cy="1109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80"/>
              </a:lnSpc>
              <a:spcBef>
                <a:spcPct val="0"/>
              </a:spcBef>
            </a:pPr>
            <a:r>
              <a:rPr lang="en-US" b="true" sz="62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Pruebas de Rendimiento con Apache JMeter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76086" y="2788017"/>
            <a:ext cx="6499851" cy="1802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38"/>
              </a:lnSpc>
              <a:spcBef>
                <a:spcPct val="0"/>
              </a:spcBef>
            </a:pPr>
            <a:r>
              <a:rPr lang="en-US" sz="252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✅ Usuarios concurrentes: 10</a:t>
            </a:r>
          </a:p>
          <a:p>
            <a:pPr algn="l">
              <a:lnSpc>
                <a:spcPts val="3538"/>
              </a:lnSpc>
              <a:spcBef>
                <a:spcPct val="0"/>
              </a:spcBef>
            </a:pPr>
            <a:r>
              <a:rPr lang="en-US" sz="252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✅ Ramp-Up: 10 segundos</a:t>
            </a:r>
          </a:p>
          <a:p>
            <a:pPr algn="l">
              <a:lnSpc>
                <a:spcPts val="3538"/>
              </a:lnSpc>
              <a:spcBef>
                <a:spcPct val="0"/>
              </a:spcBef>
            </a:pPr>
            <a:r>
              <a:rPr lang="en-US" sz="252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✅ Iteraciones: 5 ciclos por usuario</a:t>
            </a:r>
          </a:p>
          <a:p>
            <a:pPr algn="l">
              <a:lnSpc>
                <a:spcPts val="3538"/>
              </a:lnSpc>
              <a:spcBef>
                <a:spcPct val="0"/>
              </a:spcBef>
            </a:pPr>
            <a:r>
              <a:rPr lang="en-US" sz="252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✅ Total de peticiones: 1050 solicitudes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76086" y="5543712"/>
            <a:ext cx="4481265" cy="915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5272" indent="-277636" lvl="1">
              <a:lnSpc>
                <a:spcPts val="3600"/>
              </a:lnSpc>
              <a:spcBef>
                <a:spcPct val="0"/>
              </a:spcBef>
              <a:buFont typeface="Arial"/>
              <a:buChar char="•"/>
            </a:pPr>
            <a:r>
              <a:rPr lang="en-US" sz="257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/api/producto</a:t>
            </a:r>
          </a:p>
          <a:p>
            <a:pPr algn="l" marL="555272" indent="-277636" lvl="1">
              <a:lnSpc>
                <a:spcPts val="3600"/>
              </a:lnSpc>
              <a:spcBef>
                <a:spcPct val="0"/>
              </a:spcBef>
              <a:buFont typeface="Arial"/>
              <a:buChar char="•"/>
            </a:pPr>
            <a:r>
              <a:rPr lang="en-US" sz="257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/api/carrito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44522" y="1780695"/>
            <a:ext cx="6375202" cy="634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Confi</a:t>
            </a:r>
            <a:r>
              <a:rPr lang="en-US" b="true" sz="35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guración de la prueba: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76086" y="7538489"/>
            <a:ext cx="6261553" cy="2148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82"/>
              </a:lnSpc>
              <a:spcBef>
                <a:spcPct val="0"/>
              </a:spcBef>
            </a:pPr>
            <a:r>
              <a:rPr lang="en-US" sz="241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⚡ Tiempo promedio de respuesta: 13 ms</a:t>
            </a:r>
          </a:p>
          <a:p>
            <a:pPr algn="just">
              <a:lnSpc>
                <a:spcPts val="3382"/>
              </a:lnSpc>
              <a:spcBef>
                <a:spcPct val="0"/>
              </a:spcBef>
            </a:pPr>
            <a:r>
              <a:rPr lang="en-US" sz="241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⚡ Throughput: 60 solicitudes/minuto</a:t>
            </a:r>
          </a:p>
          <a:p>
            <a:pPr algn="just">
              <a:lnSpc>
                <a:spcPts val="3382"/>
              </a:lnSpc>
              <a:spcBef>
                <a:spcPct val="0"/>
              </a:spcBef>
            </a:pPr>
            <a:r>
              <a:rPr lang="en-US" sz="241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⚡ Tiempo máximo registrado: 1266 ms</a:t>
            </a:r>
          </a:p>
          <a:p>
            <a:pPr algn="just">
              <a:lnSpc>
                <a:spcPts val="3382"/>
              </a:lnSpc>
              <a:spcBef>
                <a:spcPct val="0"/>
              </a:spcBef>
            </a:pPr>
            <a:r>
              <a:rPr lang="en-US" sz="241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⚡ Tasa de error: 9.14%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73037" y="4773613"/>
            <a:ext cx="4799529" cy="635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</a:t>
            </a:r>
            <a:r>
              <a:rPr lang="en-US" b="true" sz="35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ndpoints evaluados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87146" y="6640436"/>
            <a:ext cx="5080873" cy="635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</a:t>
            </a:r>
            <a:r>
              <a:rPr lang="en-US" b="true" sz="35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esultados obtenidos: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286" y="806129"/>
            <a:ext cx="18285714" cy="10288286"/>
            <a:chOff x="0" y="0"/>
            <a:chExt cx="24380952" cy="1371771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0952" cy="13717651"/>
            </a:xfrm>
            <a:custGeom>
              <a:avLst/>
              <a:gdLst/>
              <a:ahLst/>
              <a:cxnLst/>
              <a:rect r="r" b="b" t="t" l="l"/>
              <a:pathLst>
                <a:path h="13717651" w="24380952">
                  <a:moveTo>
                    <a:pt x="0" y="0"/>
                  </a:moveTo>
                  <a:lnTo>
                    <a:pt x="24380952" y="0"/>
                  </a:lnTo>
                  <a:lnTo>
                    <a:pt x="24380952" y="13717651"/>
                  </a:lnTo>
                  <a:lnTo>
                    <a:pt x="0" y="137176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9" t="0" r="-9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8250295" y="3287054"/>
            <a:ext cx="9795537" cy="4524043"/>
          </a:xfrm>
          <a:custGeom>
            <a:avLst/>
            <a:gdLst/>
            <a:ahLst/>
            <a:cxnLst/>
            <a:rect r="r" b="b" t="t" l="l"/>
            <a:pathLst>
              <a:path h="4524043" w="9795537">
                <a:moveTo>
                  <a:pt x="0" y="0"/>
                </a:moveTo>
                <a:lnTo>
                  <a:pt x="9795537" y="0"/>
                </a:lnTo>
                <a:lnTo>
                  <a:pt x="9795537" y="4524043"/>
                </a:lnTo>
                <a:lnTo>
                  <a:pt x="0" y="45240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495185" y="857250"/>
            <a:ext cx="11675745" cy="10693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60"/>
              </a:lnSpc>
              <a:spcBef>
                <a:spcPct val="0"/>
              </a:spcBef>
            </a:pPr>
            <a:r>
              <a:rPr lang="en-US" b="true" sz="59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</a:t>
            </a:r>
            <a:r>
              <a:rPr lang="en-US" b="true" sz="59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nálisis de Calidad del Código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3062366"/>
            <a:ext cx="7049396" cy="41256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4"/>
              </a:lnSpc>
              <a:spcBef>
                <a:spcPct val="0"/>
              </a:spcBef>
            </a:pPr>
            <a:r>
              <a:rPr lang="en-US" sz="294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✅ Cobertura de código: 91%</a:t>
            </a:r>
          </a:p>
          <a:p>
            <a:pPr algn="l">
              <a:lnSpc>
                <a:spcPts val="4124"/>
              </a:lnSpc>
              <a:spcBef>
                <a:spcPct val="0"/>
              </a:spcBef>
            </a:pPr>
          </a:p>
          <a:p>
            <a:pPr algn="l">
              <a:lnSpc>
                <a:spcPts val="4124"/>
              </a:lnSpc>
              <a:spcBef>
                <a:spcPct val="0"/>
              </a:spcBef>
            </a:pPr>
            <a:r>
              <a:rPr lang="en-US" sz="294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✅ Security Rating: A </a:t>
            </a:r>
          </a:p>
          <a:p>
            <a:pPr algn="l">
              <a:lnSpc>
                <a:spcPts val="4124"/>
              </a:lnSpc>
              <a:spcBef>
                <a:spcPct val="0"/>
              </a:spcBef>
            </a:pPr>
          </a:p>
          <a:p>
            <a:pPr algn="l">
              <a:lnSpc>
                <a:spcPts val="4124"/>
              </a:lnSpc>
              <a:spcBef>
                <a:spcPct val="0"/>
              </a:spcBef>
            </a:pPr>
            <a:r>
              <a:rPr lang="en-US" sz="294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✅ Maintainability Rating: A</a:t>
            </a:r>
          </a:p>
          <a:p>
            <a:pPr algn="l">
              <a:lnSpc>
                <a:spcPts val="4124"/>
              </a:lnSpc>
              <a:spcBef>
                <a:spcPct val="0"/>
              </a:spcBef>
            </a:pPr>
          </a:p>
          <a:p>
            <a:pPr algn="l">
              <a:lnSpc>
                <a:spcPts val="4124"/>
              </a:lnSpc>
              <a:spcBef>
                <a:spcPct val="0"/>
              </a:spcBef>
            </a:pPr>
            <a:r>
              <a:rPr lang="en-US" sz="294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✅ Duplicación de código: 0% </a:t>
            </a:r>
          </a:p>
          <a:p>
            <a:pPr algn="l">
              <a:lnSpc>
                <a:spcPts val="4124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2095262"/>
            <a:ext cx="7393545" cy="7670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20"/>
              </a:lnSpc>
            </a:pPr>
            <a:r>
              <a:rPr lang="en-US" sz="43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Mét</a:t>
            </a:r>
            <a:r>
              <a:rPr lang="en-US" sz="43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ricas obtenidas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02243" y="9034930"/>
            <a:ext cx="8104763" cy="10629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8"/>
              </a:lnSpc>
              <a:spcBef>
                <a:spcPct val="0"/>
              </a:spcBef>
            </a:pPr>
          </a:p>
          <a:p>
            <a:pPr algn="l" marL="437779" indent="-218889" lvl="1">
              <a:lnSpc>
                <a:spcPts val="2838"/>
              </a:lnSpc>
              <a:spcBef>
                <a:spcPct val="0"/>
              </a:spcBef>
              <a:buFont typeface="Arial"/>
              <a:buChar char="•"/>
            </a:pPr>
            <a:r>
              <a:rPr lang="en-US" sz="202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 detectaron métodos con posibilidad de lanzar excepciones no controladas.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808383" y="2089866"/>
            <a:ext cx="5439486" cy="61071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59"/>
              </a:lnSpc>
              <a:spcBef>
                <a:spcPct val="0"/>
              </a:spcBef>
            </a:pPr>
            <a:r>
              <a:rPr lang="en-US" b="true" sz="2185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✅ </a:t>
            </a:r>
            <a:r>
              <a:rPr lang="en-US" sz="218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Corrección de NullPointerException en actualización de productos.</a:t>
            </a:r>
          </a:p>
          <a:p>
            <a:pPr algn="l">
              <a:lnSpc>
                <a:spcPts val="3059"/>
              </a:lnSpc>
              <a:spcBef>
                <a:spcPct val="0"/>
              </a:spcBef>
            </a:pPr>
          </a:p>
          <a:p>
            <a:pPr algn="l">
              <a:lnSpc>
                <a:spcPts val="3059"/>
              </a:lnSpc>
              <a:spcBef>
                <a:spcPct val="0"/>
              </a:spcBef>
            </a:pPr>
            <a:r>
              <a:rPr lang="en-US" sz="218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✅ Optimización de consultas en la gestión del carrito.</a:t>
            </a:r>
          </a:p>
          <a:p>
            <a:pPr algn="l">
              <a:lnSpc>
                <a:spcPts val="3059"/>
              </a:lnSpc>
              <a:spcBef>
                <a:spcPct val="0"/>
              </a:spcBef>
            </a:pPr>
          </a:p>
          <a:p>
            <a:pPr algn="l">
              <a:lnSpc>
                <a:spcPts val="3059"/>
              </a:lnSpc>
              <a:spcBef>
                <a:spcPct val="0"/>
              </a:spcBef>
            </a:pPr>
            <a:r>
              <a:rPr lang="en-US" sz="218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✅ Configuración correcta de base de datos H2 para pruebas de integración.</a:t>
            </a:r>
          </a:p>
          <a:p>
            <a:pPr algn="l">
              <a:lnSpc>
                <a:spcPts val="3059"/>
              </a:lnSpc>
              <a:spcBef>
                <a:spcPct val="0"/>
              </a:spcBef>
            </a:pPr>
          </a:p>
          <a:p>
            <a:pPr algn="l">
              <a:lnSpc>
                <a:spcPts val="3059"/>
              </a:lnSpc>
              <a:spcBef>
                <a:spcPct val="0"/>
              </a:spcBef>
            </a:pPr>
            <a:r>
              <a:rPr lang="en-US" sz="218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✅ Ajuste de selectores XPath/CSS en Selenium para navegación automática.</a:t>
            </a:r>
          </a:p>
          <a:p>
            <a:pPr algn="l">
              <a:lnSpc>
                <a:spcPts val="3059"/>
              </a:lnSpc>
              <a:spcBef>
                <a:spcPct val="0"/>
              </a:spcBef>
            </a:pPr>
          </a:p>
          <a:p>
            <a:pPr algn="l">
              <a:lnSpc>
                <a:spcPts val="3059"/>
              </a:lnSpc>
              <a:spcBef>
                <a:spcPct val="0"/>
              </a:spcBef>
            </a:pPr>
            <a:r>
              <a:rPr lang="en-US" sz="218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✅ Refactorización de código siguiendo recomendaciones de SonarQube.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066194" y="418269"/>
            <a:ext cx="5145167" cy="1395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780"/>
              </a:lnSpc>
            </a:pPr>
            <a:r>
              <a:rPr lang="en-US" sz="77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H</a:t>
            </a:r>
            <a:r>
              <a:rPr lang="en-US" b="true" sz="77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allazgos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02243" y="1708585"/>
            <a:ext cx="5318165" cy="634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</a:t>
            </a:r>
            <a:r>
              <a:rPr lang="en-US" b="true" sz="35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ruebas de integración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02243" y="3727893"/>
            <a:ext cx="7983260" cy="635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</a:t>
            </a:r>
            <a:r>
              <a:rPr lang="en-US" sz="35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ruebas funcionales con Selenium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02243" y="6183781"/>
            <a:ext cx="8115300" cy="635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</a:t>
            </a:r>
            <a:r>
              <a:rPr lang="en-US" b="true" sz="35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ruebas de rendimiento con JMeter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02243" y="8457081"/>
            <a:ext cx="8104763" cy="635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Análisis de código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02243" y="2276909"/>
            <a:ext cx="7472568" cy="1778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 det</a:t>
            </a: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ectaron errores de persistencia en consultas a base de datos.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Inicialmente no se generaban tablas automáticamente en H2.</a:t>
            </a:r>
          </a:p>
          <a:p>
            <a:pPr algn="l">
              <a:lnSpc>
                <a:spcPts val="2800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702243" y="4510556"/>
            <a:ext cx="6814856" cy="1778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Algunos elementos de navegación no eran encontrados correctamente.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 presentaron fallos al ubicar botones de carrito e inventario.</a:t>
            </a:r>
          </a:p>
          <a:p>
            <a:pPr algn="l">
              <a:lnSpc>
                <a:spcPts val="2800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702243" y="6856881"/>
            <a:ext cx="7856876" cy="1778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Algunos endpoints presentaron errores bajo múltiples solicitudes concurrentes.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 identificaron fallos en operaciones PUT y POST sobre carrito.</a:t>
            </a:r>
          </a:p>
          <a:p>
            <a:pPr algn="l">
              <a:lnSpc>
                <a:spcPts val="2800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8807006" y="418269"/>
            <a:ext cx="9442240" cy="1395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780"/>
              </a:lnSpc>
            </a:pPr>
            <a:r>
              <a:rPr lang="en-US" sz="77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</a:t>
            </a:r>
            <a:r>
              <a:rPr lang="en-US" b="true" sz="77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ejoras aplicadas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286" y="806129"/>
            <a:ext cx="18285714" cy="10288286"/>
            <a:chOff x="0" y="0"/>
            <a:chExt cx="24380952" cy="1371771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0952" cy="13717651"/>
            </a:xfrm>
            <a:custGeom>
              <a:avLst/>
              <a:gdLst/>
              <a:ahLst/>
              <a:cxnLst/>
              <a:rect r="r" b="b" t="t" l="l"/>
              <a:pathLst>
                <a:path h="13717651" w="24380952">
                  <a:moveTo>
                    <a:pt x="0" y="0"/>
                  </a:moveTo>
                  <a:lnTo>
                    <a:pt x="24380952" y="0"/>
                  </a:lnTo>
                  <a:lnTo>
                    <a:pt x="24380952" y="13717651"/>
                  </a:lnTo>
                  <a:lnTo>
                    <a:pt x="0" y="137176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9" t="0" r="-9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9000848" y="3392154"/>
            <a:ext cx="8397766" cy="5595012"/>
          </a:xfrm>
          <a:custGeom>
            <a:avLst/>
            <a:gdLst/>
            <a:ahLst/>
            <a:cxnLst/>
            <a:rect r="r" b="b" t="t" l="l"/>
            <a:pathLst>
              <a:path h="5595012" w="8397766">
                <a:moveTo>
                  <a:pt x="0" y="0"/>
                </a:moveTo>
                <a:lnTo>
                  <a:pt x="8397766" y="0"/>
                </a:lnTo>
                <a:lnTo>
                  <a:pt x="8397766" y="5595011"/>
                </a:lnTo>
                <a:lnTo>
                  <a:pt x="0" y="559501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475944" y="3296904"/>
            <a:ext cx="6665464" cy="48845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24"/>
              </a:lnSpc>
              <a:spcBef>
                <a:spcPct val="0"/>
              </a:spcBef>
            </a:pPr>
            <a:r>
              <a:rPr lang="en-US" sz="344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El proy</a:t>
            </a:r>
            <a:r>
              <a:rPr lang="en-US" sz="344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ecto permitió aplicar una estrategia completa de pruebas de software, validando funcionalidad, integración, rendimiento y calidad del código, logrando un sistema estable y mantenible.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949196" y="857250"/>
            <a:ext cx="6389608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</a:t>
            </a:r>
            <a:r>
              <a:rPr lang="en-US" b="true" sz="920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nclusión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DAHJ_dK4MpA</dc:identifier>
  <dcterms:modified xsi:type="dcterms:W3CDTF">2011-08-01T06:04:30Z</dcterms:modified>
  <cp:revision>1</cp:revision>
  <dc:title>Plantilla-CORHUILA-2026A (3) (1).pptx</dc:title>
</cp:coreProperties>
</file>
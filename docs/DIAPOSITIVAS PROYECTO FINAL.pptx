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58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BA439F-19D5-D478-19B2-3F5D7E18F1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76" cy="6858857"/>
          </a:xfrm>
          <a:prstGeom prst="rect">
            <a:avLst/>
          </a:prstGeom>
        </p:spPr>
      </p:pic>
      <p:sp>
        <p:nvSpPr>
          <p:cNvPr id="100" name="TextBox 100"/>
          <p:cNvSpPr txBox="1">
            <a:spLocks noGrp="1"/>
          </p:cNvSpPr>
          <p:nvPr/>
        </p:nvSpPr>
        <p:spPr>
          <a:xfrm>
            <a:off x="457200" y="1371600"/>
            <a:ext cx="466725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800" b="1" dirty="0">
                <a:solidFill>
                  <a:srgbClr val="FFFFFF"/>
                </a:solidFill>
                <a:latin typeface="Calibri"/>
              </a:rPr>
              <a:t>Sistema de Gestión de Pruebas Integrales</a:t>
            </a:r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457200" y="2468880"/>
            <a:ext cx="64008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000" b="0" dirty="0">
                <a:solidFill>
                  <a:srgbClr val="00E5D0"/>
                </a:solidFill>
                <a:latin typeface="Calibri"/>
              </a:rPr>
              <a:t>Aplicación Web: Proyecto MAP Parking</a:t>
            </a:r>
          </a:p>
        </p:txBody>
      </p:sp>
      <p:sp>
        <p:nvSpPr>
          <p:cNvPr id="102" name="TextBox 102"/>
          <p:cNvSpPr txBox="1">
            <a:spLocks noGrp="1"/>
          </p:cNvSpPr>
          <p:nvPr/>
        </p:nvSpPr>
        <p:spPr>
          <a:xfrm>
            <a:off x="457200" y="3094413"/>
            <a:ext cx="640080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B0C8D8"/>
                </a:solidFill>
                <a:latin typeface="Calibri"/>
              </a:rPr>
              <a:t>Calidad de Software 2026A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B0C8D8"/>
                </a:solidFill>
                <a:latin typeface="Calibri"/>
              </a:rPr>
              <a:t>ISO/IEC 25010  ·  ISO/IEC 29119  ·  ISO 9001  ·  CMMI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B0C8D8"/>
                </a:solidFill>
                <a:latin typeface="Calibri"/>
              </a:rPr>
              <a:t>Corporación Universitaria del Huila – CORHUILA</a:t>
            </a:r>
          </a:p>
        </p:txBody>
      </p:sp>
    </p:spTree>
    <p:extLst>
      <p:ext uri="{BB962C8B-B14F-4D97-AF65-F5344CB8AC3E}">
        <p14:creationId xmlns:p14="http://schemas.microsoft.com/office/powerpoint/2010/main" val="287238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83980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02  |  Contexto – Aplicación MAP Parking</a:t>
            </a:r>
          </a:p>
        </p:txBody>
      </p:sp>
      <p:sp>
        <p:nvSpPr>
          <p:cNvPr id="102" name="TextBox 102"/>
          <p:cNvSpPr txBox="1">
            <a:spLocks noGrp="1"/>
          </p:cNvSpPr>
          <p:nvPr/>
        </p:nvSpPr>
        <p:spPr>
          <a:xfrm>
            <a:off x="502920" y="1234440"/>
            <a:ext cx="466344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700" b="1" dirty="0">
                <a:solidFill>
                  <a:srgbClr val="1E2B4F"/>
                </a:solidFill>
                <a:latin typeface="Calibri"/>
              </a:rPr>
              <a:t>Descripción del Sistema</a:t>
            </a:r>
          </a:p>
        </p:txBody>
      </p:sp>
      <p:sp>
        <p:nvSpPr>
          <p:cNvPr id="103" name="Rect 103"/>
          <p:cNvSpPr>
            <a:spLocks noGrp="1"/>
          </p:cNvSpPr>
          <p:nvPr/>
        </p:nvSpPr>
        <p:spPr>
          <a:xfrm>
            <a:off x="502920" y="1636776"/>
            <a:ext cx="466344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4" name="TextBox 104"/>
          <p:cNvSpPr txBox="1">
            <a:spLocks noGrp="1"/>
          </p:cNvSpPr>
          <p:nvPr/>
        </p:nvSpPr>
        <p:spPr>
          <a:xfrm>
            <a:off x="502920" y="1737360"/>
            <a:ext cx="4663440" cy="3840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App web full-stack para gestión de parqueadero.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Backend: Java 17 + Spring Boot (API REST).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Frontend: Angular (SPA responsiva).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BD Producción: MySQL 8 en Docker.</a:t>
            </a:r>
          </a:p>
        </p:txBody>
      </p:sp>
      <p:sp>
        <p:nvSpPr>
          <p:cNvPr id="105" name="TextBox 105"/>
          <p:cNvSpPr txBox="1">
            <a:spLocks noGrp="1"/>
          </p:cNvSpPr>
          <p:nvPr/>
        </p:nvSpPr>
        <p:spPr>
          <a:xfrm>
            <a:off x="5623560" y="1234440"/>
            <a:ext cx="466344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700" b="1" dirty="0">
                <a:solidFill>
                  <a:srgbClr val="1E2B4F"/>
                </a:solidFill>
                <a:latin typeface="Calibri"/>
              </a:rPr>
              <a:t>Historias de Usuario – Trello</a:t>
            </a:r>
          </a:p>
        </p:txBody>
      </p:sp>
      <p:sp>
        <p:nvSpPr>
          <p:cNvPr id="106" name="Rect 106"/>
          <p:cNvSpPr>
            <a:spLocks noGrp="1"/>
          </p:cNvSpPr>
          <p:nvPr/>
        </p:nvSpPr>
        <p:spPr>
          <a:xfrm>
            <a:off x="5623560" y="1636776"/>
            <a:ext cx="466344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7" name="TextBox 107"/>
          <p:cNvSpPr txBox="1">
            <a:spLocks noGrp="1"/>
          </p:cNvSpPr>
          <p:nvPr/>
        </p:nvSpPr>
        <p:spPr>
          <a:xfrm>
            <a:off x="5623560" y="1737360"/>
            <a:ext cx="4663440" cy="3840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HU_01: Creación de roles del sistema (9/9 ✔)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HU_02: Autenticación de usuarios (5/5 ✔)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HU_03: Gestión de reserva (Backlog)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HU_04: Registro de ingreso de vehículos (Backlog)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HU_05: Generar reserva de parqueadero (Backlog)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HU_06: Pago del servicio de parqueadero (Backlog)</a:t>
            </a:r>
          </a:p>
        </p:txBody>
      </p:sp>
      <p:sp>
        <p:nvSpPr>
          <p:cNvPr id="2" name="TextBox 107">
            <a:extLst>
              <a:ext uri="{FF2B5EF4-FFF2-40B4-BE49-F238E27FC236}">
                <a16:creationId xmlns:a16="http://schemas.microsoft.com/office/drawing/2014/main" id="{E725D093-93B4-2197-DD52-0ED2D255D4C6}"/>
              </a:ext>
            </a:extLst>
          </p:cNvPr>
          <p:cNvSpPr txBox="1">
            <a:spLocks noGrp="1"/>
          </p:cNvSpPr>
          <p:nvPr/>
        </p:nvSpPr>
        <p:spPr>
          <a:xfrm>
            <a:off x="502920" y="2752344"/>
            <a:ext cx="4663440" cy="24688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Implementar pruebas unitarias con JUnit 5 + JaCoCo — cobertura ≥ 80%.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Desarrollar pruebas E2E con Selenium WebDriver bajo patrón Page Object Model (POM).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Ejecutar pruebas de rendimiento con JMeter: escenarios Normal, Carga y Estrés.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Analizar calidad del código con SonarQube (Calificación A en todas las categorías).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Implementar pipeline CI/CD con GitHub Actions automatizando toda la validación.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0" dirty="0">
                <a:solidFill>
                  <a:srgbClr val="444444"/>
                </a:solidFill>
                <a:latin typeface="Calibri"/>
              </a:rPr>
              <a:t>• Establecer trazabilidad entre historias de usuario (HU_01–HU_06) y casos de prueba.</a:t>
            </a:r>
          </a:p>
        </p:txBody>
      </p:sp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93505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04  |  Arquitectura y Entornos de Prueba</a:t>
            </a:r>
          </a:p>
        </p:txBody>
      </p:sp>
      <p:sp>
        <p:nvSpPr>
          <p:cNvPr id="102" name="TextBox 102"/>
          <p:cNvSpPr txBox="1">
            <a:spLocks noGrp="1"/>
          </p:cNvSpPr>
          <p:nvPr/>
        </p:nvSpPr>
        <p:spPr>
          <a:xfrm>
            <a:off x="502920" y="1234440"/>
            <a:ext cx="987552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700" b="1" dirty="0">
                <a:solidFill>
                  <a:srgbClr val="1E2B4F"/>
                </a:solidFill>
                <a:latin typeface="Calibri"/>
              </a:rPr>
              <a:t>Capas del Sistema</a:t>
            </a:r>
          </a:p>
        </p:txBody>
      </p:sp>
      <p:sp>
        <p:nvSpPr>
          <p:cNvPr id="103" name="Rect 103"/>
          <p:cNvSpPr>
            <a:spLocks noGrp="1"/>
          </p:cNvSpPr>
          <p:nvPr/>
        </p:nvSpPr>
        <p:spPr>
          <a:xfrm>
            <a:off x="502920" y="1691640"/>
            <a:ext cx="2331720" cy="77724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4" name="TextBox 104"/>
          <p:cNvSpPr txBox="1">
            <a:spLocks noGrp="1"/>
          </p:cNvSpPr>
          <p:nvPr/>
        </p:nvSpPr>
        <p:spPr>
          <a:xfrm>
            <a:off x="594360" y="1709928"/>
            <a:ext cx="219456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Cliente / Navegador</a:t>
            </a:r>
          </a:p>
        </p:txBody>
      </p:sp>
      <p:sp>
        <p:nvSpPr>
          <p:cNvPr id="105" name="TextBox 105"/>
          <p:cNvSpPr txBox="1">
            <a:spLocks noGrp="1"/>
          </p:cNvSpPr>
          <p:nvPr/>
        </p:nvSpPr>
        <p:spPr>
          <a:xfrm>
            <a:off x="594360" y="2075688"/>
            <a:ext cx="219456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B0D0E8"/>
                </a:solidFill>
                <a:latin typeface="Calibri"/>
              </a:rPr>
              <a:t>Chrome · Brave</a:t>
            </a:r>
          </a:p>
        </p:txBody>
      </p:sp>
      <p:sp>
        <p:nvSpPr>
          <p:cNvPr id="106" name="Rect 106"/>
          <p:cNvSpPr>
            <a:spLocks noGrp="1"/>
          </p:cNvSpPr>
          <p:nvPr/>
        </p:nvSpPr>
        <p:spPr>
          <a:xfrm>
            <a:off x="2990088" y="1691640"/>
            <a:ext cx="2331720" cy="77724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7" name="TextBox 107"/>
          <p:cNvSpPr txBox="1">
            <a:spLocks noGrp="1"/>
          </p:cNvSpPr>
          <p:nvPr/>
        </p:nvSpPr>
        <p:spPr>
          <a:xfrm>
            <a:off x="3081528" y="1709928"/>
            <a:ext cx="219456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Angular Frontend</a:t>
            </a:r>
          </a:p>
        </p:txBody>
      </p:sp>
      <p:sp>
        <p:nvSpPr>
          <p:cNvPr id="108" name="TextBox 108"/>
          <p:cNvSpPr txBox="1">
            <a:spLocks noGrp="1"/>
          </p:cNvSpPr>
          <p:nvPr/>
        </p:nvSpPr>
        <p:spPr>
          <a:xfrm>
            <a:off x="3081528" y="2075688"/>
            <a:ext cx="219456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B0D0E8"/>
                </a:solidFill>
                <a:latin typeface="Calibri"/>
              </a:rPr>
              <a:t>TypeScript SPA</a:t>
            </a:r>
          </a:p>
        </p:txBody>
      </p:sp>
      <p:sp>
        <p:nvSpPr>
          <p:cNvPr id="109" name="Rect 109"/>
          <p:cNvSpPr>
            <a:spLocks noGrp="1"/>
          </p:cNvSpPr>
          <p:nvPr/>
        </p:nvSpPr>
        <p:spPr>
          <a:xfrm>
            <a:off x="5477256" y="1691640"/>
            <a:ext cx="2331720" cy="77724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0" name="TextBox 110"/>
          <p:cNvSpPr txBox="1">
            <a:spLocks noGrp="1"/>
          </p:cNvSpPr>
          <p:nvPr/>
        </p:nvSpPr>
        <p:spPr>
          <a:xfrm>
            <a:off x="5568696" y="1709928"/>
            <a:ext cx="219456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Spring Boot Backend</a:t>
            </a:r>
          </a:p>
        </p:txBody>
      </p:sp>
      <p:sp>
        <p:nvSpPr>
          <p:cNvPr id="111" name="TextBox 111"/>
          <p:cNvSpPr txBox="1">
            <a:spLocks noGrp="1"/>
          </p:cNvSpPr>
          <p:nvPr/>
        </p:nvSpPr>
        <p:spPr>
          <a:xfrm>
            <a:off x="5568696" y="2075688"/>
            <a:ext cx="219456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B0D0E8"/>
                </a:solidFill>
                <a:latin typeface="Calibri"/>
              </a:rPr>
              <a:t>Java 17 REST API</a:t>
            </a:r>
          </a:p>
        </p:txBody>
      </p:sp>
      <p:sp>
        <p:nvSpPr>
          <p:cNvPr id="112" name="Rect 112"/>
          <p:cNvSpPr>
            <a:spLocks noGrp="1"/>
          </p:cNvSpPr>
          <p:nvPr/>
        </p:nvSpPr>
        <p:spPr>
          <a:xfrm>
            <a:off x="7964424" y="1691640"/>
            <a:ext cx="2331720" cy="77724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3" name="TextBox 113"/>
          <p:cNvSpPr txBox="1">
            <a:spLocks noGrp="1"/>
          </p:cNvSpPr>
          <p:nvPr/>
        </p:nvSpPr>
        <p:spPr>
          <a:xfrm>
            <a:off x="8055864" y="1709928"/>
            <a:ext cx="219456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MySQL / H2</a:t>
            </a:r>
          </a:p>
        </p:txBody>
      </p:sp>
      <p:sp>
        <p:nvSpPr>
          <p:cNvPr id="114" name="TextBox 114"/>
          <p:cNvSpPr txBox="1">
            <a:spLocks noGrp="1"/>
          </p:cNvSpPr>
          <p:nvPr/>
        </p:nvSpPr>
        <p:spPr>
          <a:xfrm>
            <a:off x="8055864" y="2075688"/>
            <a:ext cx="219456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B0D0E8"/>
                </a:solidFill>
                <a:latin typeface="Calibri"/>
              </a:rPr>
              <a:t>Docker (Prod) / In-Memory (CI)</a:t>
            </a:r>
          </a:p>
        </p:txBody>
      </p:sp>
      <p:sp>
        <p:nvSpPr>
          <p:cNvPr id="115" name="TextBox 115"/>
          <p:cNvSpPr txBox="1">
            <a:spLocks noGrp="1"/>
          </p:cNvSpPr>
          <p:nvPr/>
        </p:nvSpPr>
        <p:spPr>
          <a:xfrm>
            <a:off x="502920" y="2651760"/>
            <a:ext cx="987552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700" b="1" dirty="0">
                <a:solidFill>
                  <a:srgbClr val="1E2B4F"/>
                </a:solidFill>
                <a:latin typeface="Calibri"/>
              </a:rPr>
              <a:t>Entornos de Prueba</a:t>
            </a:r>
          </a:p>
        </p:txBody>
      </p:sp>
      <p:sp>
        <p:nvSpPr>
          <p:cNvPr id="116" name="Rect 116"/>
          <p:cNvSpPr>
            <a:spLocks noGrp="1"/>
          </p:cNvSpPr>
          <p:nvPr/>
        </p:nvSpPr>
        <p:spPr>
          <a:xfrm>
            <a:off x="502920" y="3035808"/>
            <a:ext cx="98755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7" name="TextBox 117"/>
          <p:cNvSpPr txBox="1">
            <a:spLocks noGrp="1"/>
          </p:cNvSpPr>
          <p:nvPr/>
        </p:nvSpPr>
        <p:spPr>
          <a:xfrm>
            <a:off x="502920" y="3154680"/>
            <a:ext cx="466344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1E2B4F"/>
                </a:solidFill>
                <a:latin typeface="Calibri"/>
              </a:rPr>
              <a:t>Producción / Docker</a:t>
            </a:r>
          </a:p>
        </p:txBody>
      </p:sp>
      <p:sp>
        <p:nvSpPr>
          <p:cNvPr id="118" name="TextBox 118"/>
          <p:cNvSpPr txBox="1">
            <a:spLocks noGrp="1"/>
          </p:cNvSpPr>
          <p:nvPr/>
        </p:nvSpPr>
        <p:spPr>
          <a:xfrm>
            <a:off x="502920" y="3502152"/>
            <a:ext cx="466344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MySQL 8 en contenedor Docker.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Backend Spring Boot contenerizado.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SonarQube para análisis estático.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docker-compose.yml orquestado.</a:t>
            </a:r>
          </a:p>
        </p:txBody>
      </p:sp>
      <p:sp>
        <p:nvSpPr>
          <p:cNvPr id="119" name="TextBox 119"/>
          <p:cNvSpPr txBox="1">
            <a:spLocks noGrp="1"/>
          </p:cNvSpPr>
          <p:nvPr/>
        </p:nvSpPr>
        <p:spPr>
          <a:xfrm>
            <a:off x="5623560" y="3154680"/>
            <a:ext cx="466344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1E2B4F"/>
                </a:solidFill>
                <a:latin typeface="Calibri"/>
              </a:rPr>
              <a:t>Pruebas / CI-CD (H2)</a:t>
            </a:r>
          </a:p>
        </p:txBody>
      </p:sp>
      <p:sp>
        <p:nvSpPr>
          <p:cNvPr id="120" name="TextBox 120"/>
          <p:cNvSpPr txBox="1">
            <a:spLocks noGrp="1"/>
          </p:cNvSpPr>
          <p:nvPr/>
        </p:nvSpPr>
        <p:spPr>
          <a:xfrm>
            <a:off x="5623560" y="3502152"/>
            <a:ext cx="466344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Base de datos H2 In-Memory.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Perfil: application-test.properties.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Sin dependencias externas de BD.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Ejecución en GitHub Actions runner.</a:t>
            </a:r>
          </a:p>
        </p:txBody>
      </p:sp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300" name="Rect 300"/>
          <p:cNvSpPr>
            <a:spLocks noGrp="1"/>
          </p:cNvSpPr>
          <p:nvPr/>
        </p:nvSpPr>
        <p:spPr>
          <a:xfrm>
            <a:off x="502920" y="502920"/>
            <a:ext cx="8945880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1" name="TextBox 301"/>
          <p:cNvSpPr txBox="1">
            <a:spLocks noGrp="1"/>
          </p:cNvSpPr>
          <p:nvPr/>
        </p:nvSpPr>
        <p:spPr>
          <a:xfrm>
            <a:off x="667512" y="521207"/>
            <a:ext cx="1091184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  Plan de Pruebas – ISO/IEC 29119-3 (Criterios Formales)</a:t>
            </a:r>
          </a:p>
        </p:txBody>
      </p:sp>
      <p:sp>
        <p:nvSpPr>
          <p:cNvPr id="302" name="Rect 302"/>
          <p:cNvSpPr>
            <a:spLocks noGrp="1"/>
          </p:cNvSpPr>
          <p:nvPr/>
        </p:nvSpPr>
        <p:spPr>
          <a:xfrm>
            <a:off x="502920" y="1234440"/>
            <a:ext cx="11186160" cy="36576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3" name="TextBox 303"/>
          <p:cNvSpPr txBox="1">
            <a:spLocks noGrp="1"/>
          </p:cNvSpPr>
          <p:nvPr/>
        </p:nvSpPr>
        <p:spPr>
          <a:xfrm>
            <a:off x="594360" y="1271016"/>
            <a:ext cx="11186160" cy="30175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FFFFFF"/>
                </a:solidFill>
                <a:latin typeface="Calibri"/>
              </a:rPr>
              <a:t>Atributo                   Pruebas Unitarias             Pruebas E2E (Selenium)              Rendimiento (JMeter)</a:t>
            </a:r>
          </a:p>
        </p:txBody>
      </p:sp>
      <p:sp>
        <p:nvSpPr>
          <p:cNvPr id="304" name="Rect 304"/>
          <p:cNvSpPr>
            <a:spLocks noGrp="1"/>
          </p:cNvSpPr>
          <p:nvPr/>
        </p:nvSpPr>
        <p:spPr>
          <a:xfrm>
            <a:off x="502920" y="1618488"/>
            <a:ext cx="11186160" cy="6217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5" name="Rect 305"/>
          <p:cNvSpPr>
            <a:spLocks noGrp="1"/>
          </p:cNvSpPr>
          <p:nvPr/>
        </p:nvSpPr>
        <p:spPr>
          <a:xfrm>
            <a:off x="502920" y="1618488"/>
            <a:ext cx="73152" cy="6217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6" name="TextBox 306"/>
          <p:cNvSpPr txBox="1">
            <a:spLocks noGrp="1"/>
          </p:cNvSpPr>
          <p:nvPr/>
        </p:nvSpPr>
        <p:spPr>
          <a:xfrm>
            <a:off x="640080" y="1655064"/>
            <a:ext cx="16459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Criterio de entrada</a:t>
            </a:r>
          </a:p>
        </p:txBody>
      </p:sp>
      <p:sp>
        <p:nvSpPr>
          <p:cNvPr id="307" name="TextBox 307"/>
          <p:cNvSpPr txBox="1">
            <a:spLocks noGrp="1"/>
          </p:cNvSpPr>
          <p:nvPr/>
        </p:nvSpPr>
        <p:spPr>
          <a:xfrm>
            <a:off x="2331720" y="1655064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Código compilado, H2 listo</a:t>
            </a:r>
          </a:p>
        </p:txBody>
      </p:sp>
      <p:sp>
        <p:nvSpPr>
          <p:cNvPr id="308" name="TextBox 308"/>
          <p:cNvSpPr txBox="1">
            <a:spLocks noGrp="1"/>
          </p:cNvSpPr>
          <p:nvPr/>
        </p:nvSpPr>
        <p:spPr>
          <a:xfrm>
            <a:off x="4937760" y="1655064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Backend + Angular levantados</a:t>
            </a:r>
          </a:p>
        </p:txBody>
      </p:sp>
      <p:sp>
        <p:nvSpPr>
          <p:cNvPr id="309" name="TextBox 309"/>
          <p:cNvSpPr txBox="1">
            <a:spLocks noGrp="1"/>
          </p:cNvSpPr>
          <p:nvPr/>
        </p:nvSpPr>
        <p:spPr>
          <a:xfrm>
            <a:off x="7543800" y="1655064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Endpoints REST accesibles</a:t>
            </a:r>
          </a:p>
        </p:txBody>
      </p:sp>
      <p:sp>
        <p:nvSpPr>
          <p:cNvPr id="310" name="Rect 310"/>
          <p:cNvSpPr>
            <a:spLocks noGrp="1"/>
          </p:cNvSpPr>
          <p:nvPr/>
        </p:nvSpPr>
        <p:spPr>
          <a:xfrm>
            <a:off x="502920" y="2276856"/>
            <a:ext cx="1118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1" name="Rect 311"/>
          <p:cNvSpPr>
            <a:spLocks noGrp="1"/>
          </p:cNvSpPr>
          <p:nvPr/>
        </p:nvSpPr>
        <p:spPr>
          <a:xfrm>
            <a:off x="502920" y="2276856"/>
            <a:ext cx="73152" cy="6217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2" name="TextBox 312"/>
          <p:cNvSpPr txBox="1">
            <a:spLocks noGrp="1"/>
          </p:cNvSpPr>
          <p:nvPr/>
        </p:nvSpPr>
        <p:spPr>
          <a:xfrm>
            <a:off x="640080" y="2313432"/>
            <a:ext cx="16459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Criterio de salida</a:t>
            </a:r>
          </a:p>
        </p:txBody>
      </p:sp>
      <p:sp>
        <p:nvSpPr>
          <p:cNvPr id="313" name="TextBox 313"/>
          <p:cNvSpPr txBox="1">
            <a:spLocks noGrp="1"/>
          </p:cNvSpPr>
          <p:nvPr/>
        </p:nvSpPr>
        <p:spPr>
          <a:xfrm>
            <a:off x="2331720" y="2313432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Cobertura &gt;= 80%, BUILD OK</a:t>
            </a:r>
          </a:p>
        </p:txBody>
      </p:sp>
      <p:sp>
        <p:nvSpPr>
          <p:cNvPr id="314" name="TextBox 314"/>
          <p:cNvSpPr txBox="1">
            <a:spLocks noGrp="1"/>
          </p:cNvSpPr>
          <p:nvPr/>
        </p:nvSpPr>
        <p:spPr>
          <a:xfrm>
            <a:off x="4937760" y="2313432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0 Failures, 0 Errors (Surefire)</a:t>
            </a:r>
          </a:p>
        </p:txBody>
      </p:sp>
      <p:sp>
        <p:nvSpPr>
          <p:cNvPr id="315" name="TextBox 315"/>
          <p:cNvSpPr txBox="1">
            <a:spLocks noGrp="1"/>
          </p:cNvSpPr>
          <p:nvPr/>
        </p:nvSpPr>
        <p:spPr>
          <a:xfrm>
            <a:off x="7543800" y="2313432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Error Rate 0.00%, Apdex &gt;= 0.95</a:t>
            </a:r>
          </a:p>
        </p:txBody>
      </p:sp>
      <p:sp>
        <p:nvSpPr>
          <p:cNvPr id="316" name="Rect 316"/>
          <p:cNvSpPr>
            <a:spLocks noGrp="1"/>
          </p:cNvSpPr>
          <p:nvPr/>
        </p:nvSpPr>
        <p:spPr>
          <a:xfrm>
            <a:off x="502920" y="2935224"/>
            <a:ext cx="11186160" cy="6217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7" name="Rect 317"/>
          <p:cNvSpPr>
            <a:spLocks noGrp="1"/>
          </p:cNvSpPr>
          <p:nvPr/>
        </p:nvSpPr>
        <p:spPr>
          <a:xfrm>
            <a:off x="502920" y="2935224"/>
            <a:ext cx="73152" cy="6217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8" name="TextBox 318"/>
          <p:cNvSpPr txBox="1">
            <a:spLocks noGrp="1"/>
          </p:cNvSpPr>
          <p:nvPr/>
        </p:nvSpPr>
        <p:spPr>
          <a:xfrm>
            <a:off x="640080" y="2971800"/>
            <a:ext cx="16459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Criterio suspensión</a:t>
            </a:r>
          </a:p>
        </p:txBody>
      </p:sp>
      <p:sp>
        <p:nvSpPr>
          <p:cNvPr id="319" name="TextBox 319"/>
          <p:cNvSpPr txBox="1">
            <a:spLocks noGrp="1"/>
          </p:cNvSpPr>
          <p:nvPr/>
        </p:nvSpPr>
        <p:spPr>
          <a:xfrm>
            <a:off x="2331720" y="2971800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Error compilación o BD H2</a:t>
            </a:r>
          </a:p>
        </p:txBody>
      </p:sp>
      <p:sp>
        <p:nvSpPr>
          <p:cNvPr id="320" name="TextBox 320"/>
          <p:cNvSpPr txBox="1">
            <a:spLocks noGrp="1"/>
          </p:cNvSpPr>
          <p:nvPr/>
        </p:nvSpPr>
        <p:spPr>
          <a:xfrm>
            <a:off x="4937760" y="2971800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Fallo inicialización WebDriver</a:t>
            </a:r>
          </a:p>
        </p:txBody>
      </p:sp>
      <p:sp>
        <p:nvSpPr>
          <p:cNvPr id="321" name="TextBox 321"/>
          <p:cNvSpPr txBox="1">
            <a:spLocks noGrp="1"/>
          </p:cNvSpPr>
          <p:nvPr/>
        </p:nvSpPr>
        <p:spPr>
          <a:xfrm>
            <a:off x="7543800" y="2971800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Fallo conectividad API REST</a:t>
            </a:r>
          </a:p>
        </p:txBody>
      </p:sp>
      <p:sp>
        <p:nvSpPr>
          <p:cNvPr id="322" name="Rect 322"/>
          <p:cNvSpPr>
            <a:spLocks noGrp="1"/>
          </p:cNvSpPr>
          <p:nvPr/>
        </p:nvSpPr>
        <p:spPr>
          <a:xfrm>
            <a:off x="502920" y="3593592"/>
            <a:ext cx="1118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3" name="Rect 323"/>
          <p:cNvSpPr>
            <a:spLocks noGrp="1"/>
          </p:cNvSpPr>
          <p:nvPr/>
        </p:nvSpPr>
        <p:spPr>
          <a:xfrm>
            <a:off x="502920" y="3593592"/>
            <a:ext cx="73152" cy="6217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4" name="TextBox 324"/>
          <p:cNvSpPr txBox="1">
            <a:spLocks noGrp="1"/>
          </p:cNvSpPr>
          <p:nvPr/>
        </p:nvSpPr>
        <p:spPr>
          <a:xfrm>
            <a:off x="640080" y="3630168"/>
            <a:ext cx="16459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Herramienta reporte</a:t>
            </a:r>
          </a:p>
        </p:txBody>
      </p:sp>
      <p:sp>
        <p:nvSpPr>
          <p:cNvPr id="325" name="TextBox 325"/>
          <p:cNvSpPr txBox="1">
            <a:spLocks noGrp="1"/>
          </p:cNvSpPr>
          <p:nvPr/>
        </p:nvSpPr>
        <p:spPr>
          <a:xfrm>
            <a:off x="2331720" y="3630168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JaCoCo HTML Report</a:t>
            </a:r>
          </a:p>
        </p:txBody>
      </p:sp>
      <p:sp>
        <p:nvSpPr>
          <p:cNvPr id="326" name="TextBox 326"/>
          <p:cNvSpPr txBox="1">
            <a:spLocks noGrp="1"/>
          </p:cNvSpPr>
          <p:nvPr/>
        </p:nvSpPr>
        <p:spPr>
          <a:xfrm>
            <a:off x="4937760" y="3630168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Surefire XML Report</a:t>
            </a:r>
          </a:p>
        </p:txBody>
      </p:sp>
      <p:sp>
        <p:nvSpPr>
          <p:cNvPr id="327" name="TextBox 327"/>
          <p:cNvSpPr txBox="1">
            <a:spLocks noGrp="1"/>
          </p:cNvSpPr>
          <p:nvPr/>
        </p:nvSpPr>
        <p:spPr>
          <a:xfrm>
            <a:off x="7543800" y="3630168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JMeter HTML Dashboard</a:t>
            </a:r>
          </a:p>
        </p:txBody>
      </p:sp>
      <p:sp>
        <p:nvSpPr>
          <p:cNvPr id="328" name="Rect 328"/>
          <p:cNvSpPr>
            <a:spLocks noGrp="1"/>
          </p:cNvSpPr>
          <p:nvPr/>
        </p:nvSpPr>
        <p:spPr>
          <a:xfrm>
            <a:off x="502920" y="4251960"/>
            <a:ext cx="11186160" cy="6217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9" name="Rect 329"/>
          <p:cNvSpPr>
            <a:spLocks noGrp="1"/>
          </p:cNvSpPr>
          <p:nvPr/>
        </p:nvSpPr>
        <p:spPr>
          <a:xfrm>
            <a:off x="502920" y="4251960"/>
            <a:ext cx="73152" cy="6217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30" name="TextBox 330"/>
          <p:cNvSpPr txBox="1">
            <a:spLocks noGrp="1"/>
          </p:cNvSpPr>
          <p:nvPr/>
        </p:nvSpPr>
        <p:spPr>
          <a:xfrm>
            <a:off x="640080" y="4288536"/>
            <a:ext cx="16459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Ambiente ejecución</a:t>
            </a:r>
          </a:p>
        </p:txBody>
      </p:sp>
      <p:sp>
        <p:nvSpPr>
          <p:cNvPr id="331" name="TextBox 331"/>
          <p:cNvSpPr txBox="1">
            <a:spLocks noGrp="1"/>
          </p:cNvSpPr>
          <p:nvPr/>
        </p:nvSpPr>
        <p:spPr>
          <a:xfrm>
            <a:off x="2331720" y="4288536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Local / GitHub Actions Ubuntu</a:t>
            </a:r>
          </a:p>
        </p:txBody>
      </p:sp>
      <p:sp>
        <p:nvSpPr>
          <p:cNvPr id="332" name="TextBox 332"/>
          <p:cNvSpPr txBox="1">
            <a:spLocks noGrp="1"/>
          </p:cNvSpPr>
          <p:nvPr/>
        </p:nvSpPr>
        <p:spPr>
          <a:xfrm>
            <a:off x="4937760" y="4288536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Local: Brave; CI: Chrome Headless</a:t>
            </a:r>
          </a:p>
        </p:txBody>
      </p:sp>
      <p:sp>
        <p:nvSpPr>
          <p:cNvPr id="333" name="TextBox 333"/>
          <p:cNvSpPr txBox="1">
            <a:spLocks noGrp="1"/>
          </p:cNvSpPr>
          <p:nvPr/>
        </p:nvSpPr>
        <p:spPr>
          <a:xfrm>
            <a:off x="7543800" y="4288536"/>
            <a:ext cx="256032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Local / GitHub Actions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74455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05  |  Análisis Estático – SonarQube</a:t>
            </a:r>
          </a:p>
        </p:txBody>
      </p:sp>
      <p:sp>
        <p:nvSpPr>
          <p:cNvPr id="102" name="TextBox 102"/>
          <p:cNvSpPr txBox="1">
            <a:spLocks noGrp="1"/>
          </p:cNvSpPr>
          <p:nvPr/>
        </p:nvSpPr>
        <p:spPr>
          <a:xfrm>
            <a:off x="502920" y="1234440"/>
            <a:ext cx="466344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700" b="1" dirty="0">
                <a:solidFill>
                  <a:srgbClr val="1E2B4F"/>
                </a:solidFill>
                <a:latin typeface="Calibri"/>
              </a:rPr>
              <a:t>Antes – Hallazgos Iniciales</a:t>
            </a:r>
          </a:p>
        </p:txBody>
      </p:sp>
      <p:sp>
        <p:nvSpPr>
          <p:cNvPr id="103" name="Rect 103"/>
          <p:cNvSpPr>
            <a:spLocks noGrp="1"/>
          </p:cNvSpPr>
          <p:nvPr/>
        </p:nvSpPr>
        <p:spPr>
          <a:xfrm>
            <a:off x="502920" y="1636776"/>
            <a:ext cx="466344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4" name="TextBox 104"/>
          <p:cNvSpPr txBox="1">
            <a:spLocks noGrp="1"/>
          </p:cNvSpPr>
          <p:nvPr/>
        </p:nvSpPr>
        <p:spPr>
          <a:xfrm>
            <a:off x="502920" y="1737360"/>
            <a:ext cx="4663440" cy="3840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Code Smells: Javadoc faltante en métodos públicos.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Variables declaradas pero sin uso.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Advertencias de complejidad ciclomática.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Configuración CORS sin restricciones.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Credenciales en application.properties sin encriptar.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Security Hotspots pendientes de revisión.</a:t>
            </a:r>
          </a:p>
        </p:txBody>
      </p:sp>
      <p:sp>
        <p:nvSpPr>
          <p:cNvPr id="105" name="TextBox 105"/>
          <p:cNvSpPr txBox="1">
            <a:spLocks noGrp="1"/>
          </p:cNvSpPr>
          <p:nvPr/>
        </p:nvSpPr>
        <p:spPr>
          <a:xfrm>
            <a:off x="5623560" y="1234440"/>
            <a:ext cx="466344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700" b="1" dirty="0">
                <a:solidFill>
                  <a:srgbClr val="1E2B4F"/>
                </a:solidFill>
                <a:latin typeface="Calibri"/>
              </a:rPr>
              <a:t>Después – Resultados Finales</a:t>
            </a:r>
          </a:p>
        </p:txBody>
      </p:sp>
      <p:sp>
        <p:nvSpPr>
          <p:cNvPr id="106" name="Rect 106"/>
          <p:cNvSpPr>
            <a:spLocks noGrp="1"/>
          </p:cNvSpPr>
          <p:nvPr/>
        </p:nvSpPr>
        <p:spPr>
          <a:xfrm>
            <a:off x="5623560" y="1636776"/>
            <a:ext cx="466344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7" name="TextBox 107"/>
          <p:cNvSpPr txBox="1">
            <a:spLocks noGrp="1"/>
          </p:cNvSpPr>
          <p:nvPr/>
        </p:nvSpPr>
        <p:spPr>
          <a:xfrm>
            <a:off x="5623560" y="1737360"/>
            <a:ext cx="4663440" cy="3840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Quality Gate: ✔ PASSED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Security: A — 0 issues abiertos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Reliability: A — 0 issues abiertos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Maintainability: A — 12 issues aceptados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Coverage: 84.2% sobre 369 líneas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Duplications: 0.0% — sin código duplicado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Security Hotspots: 0 — Calificación A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Accepted Issues: 10 (deuda técnica justificada)</a:t>
            </a:r>
          </a:p>
        </p:txBody>
      </p:sp>
      <p:pic>
        <p:nvPicPr>
          <p:cNvPr id="600" name="img_sonar_errors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60932" y="3133725"/>
            <a:ext cx="2217420" cy="3221355"/>
          </a:xfrm>
          <a:prstGeom prst="rect">
            <a:avLst/>
          </a:prstGeom>
        </p:spPr>
      </p:pic>
      <p:pic>
        <p:nvPicPr>
          <p:cNvPr id="601" name="img_sonar_overall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3724275"/>
            <a:ext cx="5549265" cy="224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300" name="Rect 300"/>
          <p:cNvSpPr>
            <a:spLocks noGrp="1"/>
          </p:cNvSpPr>
          <p:nvPr/>
        </p:nvSpPr>
        <p:spPr>
          <a:xfrm>
            <a:off x="502920" y="502920"/>
            <a:ext cx="8993505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1" name="TextBox 301"/>
          <p:cNvSpPr txBox="1">
            <a:spLocks noGrp="1"/>
          </p:cNvSpPr>
          <p:nvPr/>
        </p:nvSpPr>
        <p:spPr>
          <a:xfrm>
            <a:off x="667512" y="521207"/>
            <a:ext cx="1091184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  Especificación de Casos de Prueba – Trazabilidad HU → TC</a:t>
            </a:r>
          </a:p>
        </p:txBody>
      </p:sp>
      <p:sp>
        <p:nvSpPr>
          <p:cNvPr id="302" name="Rect 302"/>
          <p:cNvSpPr>
            <a:spLocks noGrp="1"/>
          </p:cNvSpPr>
          <p:nvPr/>
        </p:nvSpPr>
        <p:spPr>
          <a:xfrm>
            <a:off x="502920" y="1234440"/>
            <a:ext cx="1118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3" name="TextBox 303"/>
          <p:cNvSpPr txBox="1">
            <a:spLocks noGrp="1"/>
          </p:cNvSpPr>
          <p:nvPr/>
        </p:nvSpPr>
        <p:spPr>
          <a:xfrm>
            <a:off x="685800" y="1298448"/>
            <a:ext cx="111861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Patrón Page Object Model (POM): Page Objects encapsulan la UI · Test Classes contienen la lógica de prueba</a:t>
            </a:r>
          </a:p>
        </p:txBody>
      </p:sp>
      <p:sp>
        <p:nvSpPr>
          <p:cNvPr id="304" name="Rect 304"/>
          <p:cNvSpPr>
            <a:spLocks noGrp="1"/>
          </p:cNvSpPr>
          <p:nvPr/>
        </p:nvSpPr>
        <p:spPr>
          <a:xfrm>
            <a:off x="502920" y="1783080"/>
            <a:ext cx="11186160" cy="347472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5" name="TextBox 305"/>
          <p:cNvSpPr txBox="1">
            <a:spLocks noGrp="1"/>
          </p:cNvSpPr>
          <p:nvPr/>
        </p:nvSpPr>
        <p:spPr>
          <a:xfrm>
            <a:off x="594360" y="1810512"/>
            <a:ext cx="11186160" cy="30175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FFFFFF"/>
                </a:solidFill>
                <a:latin typeface="Calibri"/>
              </a:rPr>
              <a:t>ID         HU       Caso de Prueba                                 Precondición                   Resultado             Estado</a:t>
            </a:r>
          </a:p>
        </p:txBody>
      </p:sp>
      <p:sp>
        <p:nvSpPr>
          <p:cNvPr id="306" name="Rect 306"/>
          <p:cNvSpPr>
            <a:spLocks noGrp="1"/>
          </p:cNvSpPr>
          <p:nvPr/>
        </p:nvSpPr>
        <p:spPr>
          <a:xfrm>
            <a:off x="502920" y="2148840"/>
            <a:ext cx="11186160" cy="47548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7" name="TextBox 307"/>
          <p:cNvSpPr txBox="1">
            <a:spLocks noGrp="1"/>
          </p:cNvSpPr>
          <p:nvPr/>
        </p:nvSpPr>
        <p:spPr>
          <a:xfrm>
            <a:off x="594360" y="2212848"/>
            <a:ext cx="73152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1" dirty="0">
                <a:solidFill>
                  <a:srgbClr val="1E2B4F"/>
                </a:solidFill>
                <a:latin typeface="Calibri"/>
              </a:rPr>
              <a:t>TC-01</a:t>
            </a:r>
          </a:p>
        </p:txBody>
      </p:sp>
      <p:sp>
        <p:nvSpPr>
          <p:cNvPr id="308" name="TextBox 308"/>
          <p:cNvSpPr txBox="1">
            <a:spLocks noGrp="1"/>
          </p:cNvSpPr>
          <p:nvPr/>
        </p:nvSpPr>
        <p:spPr>
          <a:xfrm>
            <a:off x="1371600" y="2212848"/>
            <a:ext cx="64008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009688"/>
                </a:solidFill>
                <a:latin typeface="Calibri"/>
              </a:rPr>
              <a:t>HU_02</a:t>
            </a:r>
          </a:p>
        </p:txBody>
      </p:sp>
      <p:sp>
        <p:nvSpPr>
          <p:cNvPr id="309" name="TextBox 309"/>
          <p:cNvSpPr txBox="1">
            <a:spLocks noGrp="1"/>
          </p:cNvSpPr>
          <p:nvPr/>
        </p:nvSpPr>
        <p:spPr>
          <a:xfrm>
            <a:off x="2057400" y="2212848"/>
            <a:ext cx="27432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Login con credenciales válidas</a:t>
            </a:r>
          </a:p>
        </p:txBody>
      </p:sp>
      <p:sp>
        <p:nvSpPr>
          <p:cNvPr id="310" name="TextBox 310"/>
          <p:cNvSpPr txBox="1">
            <a:spLocks noGrp="1"/>
          </p:cNvSpPr>
          <p:nvPr/>
        </p:nvSpPr>
        <p:spPr>
          <a:xfrm>
            <a:off x="4846320" y="2212848"/>
            <a:ext cx="21945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Usuario en BD</a:t>
            </a:r>
          </a:p>
        </p:txBody>
      </p:sp>
      <p:sp>
        <p:nvSpPr>
          <p:cNvPr id="311" name="TextBox 311"/>
          <p:cNvSpPr txBox="1">
            <a:spLocks noGrp="1"/>
          </p:cNvSpPr>
          <p:nvPr/>
        </p:nvSpPr>
        <p:spPr>
          <a:xfrm>
            <a:off x="7086600" y="2212848"/>
            <a:ext cx="18288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Acceso al dashboard</a:t>
            </a:r>
          </a:p>
        </p:txBody>
      </p:sp>
      <p:sp>
        <p:nvSpPr>
          <p:cNvPr id="312" name="Rect 312"/>
          <p:cNvSpPr>
            <a:spLocks noGrp="1"/>
          </p:cNvSpPr>
          <p:nvPr/>
        </p:nvSpPr>
        <p:spPr>
          <a:xfrm>
            <a:off x="10957560" y="2249424"/>
            <a:ext cx="64008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3" name="TextBox 313"/>
          <p:cNvSpPr txBox="1">
            <a:spLocks noGrp="1"/>
          </p:cNvSpPr>
          <p:nvPr/>
        </p:nvSpPr>
        <p:spPr>
          <a:xfrm>
            <a:off x="10957560" y="2249424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✔ PASS</a:t>
            </a:r>
          </a:p>
        </p:txBody>
      </p:sp>
      <p:sp>
        <p:nvSpPr>
          <p:cNvPr id="314" name="Rect 314"/>
          <p:cNvSpPr>
            <a:spLocks noGrp="1"/>
          </p:cNvSpPr>
          <p:nvPr/>
        </p:nvSpPr>
        <p:spPr>
          <a:xfrm>
            <a:off x="502920" y="2660904"/>
            <a:ext cx="1118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5" name="TextBox 315"/>
          <p:cNvSpPr txBox="1">
            <a:spLocks noGrp="1"/>
          </p:cNvSpPr>
          <p:nvPr/>
        </p:nvSpPr>
        <p:spPr>
          <a:xfrm>
            <a:off x="594360" y="2724912"/>
            <a:ext cx="73152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1" dirty="0">
                <a:solidFill>
                  <a:srgbClr val="1E2B4F"/>
                </a:solidFill>
                <a:latin typeface="Calibri"/>
              </a:rPr>
              <a:t>TC-02</a:t>
            </a:r>
          </a:p>
        </p:txBody>
      </p:sp>
      <p:sp>
        <p:nvSpPr>
          <p:cNvPr id="316" name="TextBox 316"/>
          <p:cNvSpPr txBox="1">
            <a:spLocks noGrp="1"/>
          </p:cNvSpPr>
          <p:nvPr/>
        </p:nvSpPr>
        <p:spPr>
          <a:xfrm>
            <a:off x="1371600" y="2724912"/>
            <a:ext cx="64008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009688"/>
                </a:solidFill>
                <a:latin typeface="Calibri"/>
              </a:rPr>
              <a:t>HU_02</a:t>
            </a:r>
          </a:p>
        </p:txBody>
      </p:sp>
      <p:sp>
        <p:nvSpPr>
          <p:cNvPr id="317" name="TextBox 317"/>
          <p:cNvSpPr txBox="1">
            <a:spLocks noGrp="1"/>
          </p:cNvSpPr>
          <p:nvPr/>
        </p:nvSpPr>
        <p:spPr>
          <a:xfrm>
            <a:off x="2057400" y="2724912"/>
            <a:ext cx="27432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Login con credenciales inválidas</a:t>
            </a:r>
          </a:p>
        </p:txBody>
      </p:sp>
      <p:sp>
        <p:nvSpPr>
          <p:cNvPr id="318" name="TextBox 318"/>
          <p:cNvSpPr txBox="1">
            <a:spLocks noGrp="1"/>
          </p:cNvSpPr>
          <p:nvPr/>
        </p:nvSpPr>
        <p:spPr>
          <a:xfrm>
            <a:off x="4846320" y="2724912"/>
            <a:ext cx="21945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Sistema activo</a:t>
            </a:r>
          </a:p>
        </p:txBody>
      </p:sp>
      <p:sp>
        <p:nvSpPr>
          <p:cNvPr id="319" name="TextBox 319"/>
          <p:cNvSpPr txBox="1">
            <a:spLocks noGrp="1"/>
          </p:cNvSpPr>
          <p:nvPr/>
        </p:nvSpPr>
        <p:spPr>
          <a:xfrm>
            <a:off x="7086600" y="2724912"/>
            <a:ext cx="18288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Mensaje de error</a:t>
            </a:r>
          </a:p>
        </p:txBody>
      </p:sp>
      <p:sp>
        <p:nvSpPr>
          <p:cNvPr id="320" name="Rect 320"/>
          <p:cNvSpPr>
            <a:spLocks noGrp="1"/>
          </p:cNvSpPr>
          <p:nvPr/>
        </p:nvSpPr>
        <p:spPr>
          <a:xfrm>
            <a:off x="10957560" y="2761488"/>
            <a:ext cx="64008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1" name="TextBox 321"/>
          <p:cNvSpPr txBox="1">
            <a:spLocks noGrp="1"/>
          </p:cNvSpPr>
          <p:nvPr/>
        </p:nvSpPr>
        <p:spPr>
          <a:xfrm>
            <a:off x="10957560" y="2761488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✔ PASS</a:t>
            </a:r>
          </a:p>
        </p:txBody>
      </p:sp>
      <p:sp>
        <p:nvSpPr>
          <p:cNvPr id="322" name="Rect 322"/>
          <p:cNvSpPr>
            <a:spLocks noGrp="1"/>
          </p:cNvSpPr>
          <p:nvPr/>
        </p:nvSpPr>
        <p:spPr>
          <a:xfrm>
            <a:off x="502920" y="3172968"/>
            <a:ext cx="11186160" cy="47548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3" name="TextBox 323"/>
          <p:cNvSpPr txBox="1">
            <a:spLocks noGrp="1"/>
          </p:cNvSpPr>
          <p:nvPr/>
        </p:nvSpPr>
        <p:spPr>
          <a:xfrm>
            <a:off x="594360" y="3236976"/>
            <a:ext cx="73152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1" dirty="0">
                <a:solidFill>
                  <a:srgbClr val="1E2B4F"/>
                </a:solidFill>
                <a:latin typeface="Calibri"/>
              </a:rPr>
              <a:t>TC-03</a:t>
            </a:r>
          </a:p>
        </p:txBody>
      </p:sp>
      <p:sp>
        <p:nvSpPr>
          <p:cNvPr id="324" name="TextBox 324"/>
          <p:cNvSpPr txBox="1">
            <a:spLocks noGrp="1"/>
          </p:cNvSpPr>
          <p:nvPr/>
        </p:nvSpPr>
        <p:spPr>
          <a:xfrm>
            <a:off x="1371600" y="3236976"/>
            <a:ext cx="64008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009688"/>
                </a:solidFill>
                <a:latin typeface="Calibri"/>
              </a:rPr>
              <a:t>HU_01</a:t>
            </a:r>
          </a:p>
        </p:txBody>
      </p:sp>
      <p:sp>
        <p:nvSpPr>
          <p:cNvPr id="325" name="TextBox 325"/>
          <p:cNvSpPr txBox="1">
            <a:spLocks noGrp="1"/>
          </p:cNvSpPr>
          <p:nvPr/>
        </p:nvSpPr>
        <p:spPr>
          <a:xfrm>
            <a:off x="2057400" y="3236976"/>
            <a:ext cx="27432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Registro de nuevo usuario</a:t>
            </a:r>
          </a:p>
        </p:txBody>
      </p:sp>
      <p:sp>
        <p:nvSpPr>
          <p:cNvPr id="326" name="TextBox 326"/>
          <p:cNvSpPr txBox="1">
            <a:spLocks noGrp="1"/>
          </p:cNvSpPr>
          <p:nvPr/>
        </p:nvSpPr>
        <p:spPr>
          <a:xfrm>
            <a:off x="4846320" y="3236976"/>
            <a:ext cx="21945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Sistema activo</a:t>
            </a:r>
          </a:p>
        </p:txBody>
      </p:sp>
      <p:sp>
        <p:nvSpPr>
          <p:cNvPr id="327" name="TextBox 327"/>
          <p:cNvSpPr txBox="1">
            <a:spLocks noGrp="1"/>
          </p:cNvSpPr>
          <p:nvPr/>
        </p:nvSpPr>
        <p:spPr>
          <a:xfrm>
            <a:off x="7086600" y="3236976"/>
            <a:ext cx="18288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Usuario creado</a:t>
            </a:r>
          </a:p>
        </p:txBody>
      </p:sp>
      <p:sp>
        <p:nvSpPr>
          <p:cNvPr id="328" name="Rect 328"/>
          <p:cNvSpPr>
            <a:spLocks noGrp="1"/>
          </p:cNvSpPr>
          <p:nvPr/>
        </p:nvSpPr>
        <p:spPr>
          <a:xfrm>
            <a:off x="10957560" y="3273552"/>
            <a:ext cx="64008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9" name="TextBox 329"/>
          <p:cNvSpPr txBox="1">
            <a:spLocks noGrp="1"/>
          </p:cNvSpPr>
          <p:nvPr/>
        </p:nvSpPr>
        <p:spPr>
          <a:xfrm>
            <a:off x="10957560" y="3273552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✔ PASS</a:t>
            </a:r>
          </a:p>
        </p:txBody>
      </p:sp>
      <p:sp>
        <p:nvSpPr>
          <p:cNvPr id="330" name="Rect 330"/>
          <p:cNvSpPr>
            <a:spLocks noGrp="1"/>
          </p:cNvSpPr>
          <p:nvPr/>
        </p:nvSpPr>
        <p:spPr>
          <a:xfrm>
            <a:off x="502920" y="3685032"/>
            <a:ext cx="1118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31" name="TextBox 331"/>
          <p:cNvSpPr txBox="1">
            <a:spLocks noGrp="1"/>
          </p:cNvSpPr>
          <p:nvPr/>
        </p:nvSpPr>
        <p:spPr>
          <a:xfrm>
            <a:off x="594360" y="3749040"/>
            <a:ext cx="73152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1" dirty="0">
                <a:solidFill>
                  <a:srgbClr val="1E2B4F"/>
                </a:solidFill>
                <a:latin typeface="Calibri"/>
              </a:rPr>
              <a:t>TC-04</a:t>
            </a:r>
          </a:p>
        </p:txBody>
      </p:sp>
      <p:sp>
        <p:nvSpPr>
          <p:cNvPr id="332" name="TextBox 332"/>
          <p:cNvSpPr txBox="1">
            <a:spLocks noGrp="1"/>
          </p:cNvSpPr>
          <p:nvPr/>
        </p:nvSpPr>
        <p:spPr>
          <a:xfrm>
            <a:off x="1371600" y="3749040"/>
            <a:ext cx="64008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009688"/>
                </a:solidFill>
                <a:latin typeface="Calibri"/>
              </a:rPr>
              <a:t>HU_01</a:t>
            </a:r>
          </a:p>
        </p:txBody>
      </p:sp>
      <p:sp>
        <p:nvSpPr>
          <p:cNvPr id="333" name="TextBox 333"/>
          <p:cNvSpPr txBox="1">
            <a:spLocks noGrp="1"/>
          </p:cNvSpPr>
          <p:nvPr/>
        </p:nvSpPr>
        <p:spPr>
          <a:xfrm>
            <a:off x="2057400" y="3749040"/>
            <a:ext cx="27432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Navegación a sección servicios</a:t>
            </a:r>
          </a:p>
        </p:txBody>
      </p:sp>
      <p:sp>
        <p:nvSpPr>
          <p:cNvPr id="334" name="TextBox 334"/>
          <p:cNvSpPr txBox="1">
            <a:spLocks noGrp="1"/>
          </p:cNvSpPr>
          <p:nvPr/>
        </p:nvSpPr>
        <p:spPr>
          <a:xfrm>
            <a:off x="4846320" y="3749040"/>
            <a:ext cx="21945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Sesión activa</a:t>
            </a:r>
          </a:p>
        </p:txBody>
      </p:sp>
      <p:sp>
        <p:nvSpPr>
          <p:cNvPr id="335" name="TextBox 335"/>
          <p:cNvSpPr txBox="1">
            <a:spLocks noGrp="1"/>
          </p:cNvSpPr>
          <p:nvPr/>
        </p:nvSpPr>
        <p:spPr>
          <a:xfrm>
            <a:off x="7086600" y="3749040"/>
            <a:ext cx="18288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Página cargada OK</a:t>
            </a:r>
          </a:p>
        </p:txBody>
      </p:sp>
      <p:sp>
        <p:nvSpPr>
          <p:cNvPr id="336" name="Rect 336"/>
          <p:cNvSpPr>
            <a:spLocks noGrp="1"/>
          </p:cNvSpPr>
          <p:nvPr/>
        </p:nvSpPr>
        <p:spPr>
          <a:xfrm>
            <a:off x="10957560" y="3785616"/>
            <a:ext cx="64008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37" name="TextBox 337"/>
          <p:cNvSpPr txBox="1">
            <a:spLocks noGrp="1"/>
          </p:cNvSpPr>
          <p:nvPr/>
        </p:nvSpPr>
        <p:spPr>
          <a:xfrm>
            <a:off x="10957560" y="3785616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✔ PASS</a:t>
            </a:r>
          </a:p>
        </p:txBody>
      </p:sp>
      <p:sp>
        <p:nvSpPr>
          <p:cNvPr id="338" name="Rect 338"/>
          <p:cNvSpPr>
            <a:spLocks noGrp="1"/>
          </p:cNvSpPr>
          <p:nvPr/>
        </p:nvSpPr>
        <p:spPr>
          <a:xfrm>
            <a:off x="502920" y="4197096"/>
            <a:ext cx="11186160" cy="47548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39" name="TextBox 339"/>
          <p:cNvSpPr txBox="1">
            <a:spLocks noGrp="1"/>
          </p:cNvSpPr>
          <p:nvPr/>
        </p:nvSpPr>
        <p:spPr>
          <a:xfrm>
            <a:off x="594360" y="4261104"/>
            <a:ext cx="73152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1" dirty="0">
                <a:solidFill>
                  <a:srgbClr val="1E2B4F"/>
                </a:solidFill>
                <a:latin typeface="Calibri"/>
              </a:rPr>
              <a:t>TC-05</a:t>
            </a:r>
          </a:p>
        </p:txBody>
      </p:sp>
      <p:sp>
        <p:nvSpPr>
          <p:cNvPr id="340" name="TextBox 340"/>
          <p:cNvSpPr txBox="1">
            <a:spLocks noGrp="1"/>
          </p:cNvSpPr>
          <p:nvPr/>
        </p:nvSpPr>
        <p:spPr>
          <a:xfrm>
            <a:off x="1371600" y="4261104"/>
            <a:ext cx="64008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009688"/>
                </a:solidFill>
                <a:latin typeface="Calibri"/>
              </a:rPr>
              <a:t>HU_02</a:t>
            </a:r>
          </a:p>
        </p:txBody>
      </p:sp>
      <p:sp>
        <p:nvSpPr>
          <p:cNvPr id="341" name="TextBox 341"/>
          <p:cNvSpPr txBox="1">
            <a:spLocks noGrp="1"/>
          </p:cNvSpPr>
          <p:nvPr/>
        </p:nvSpPr>
        <p:spPr>
          <a:xfrm>
            <a:off x="2057400" y="4261104"/>
            <a:ext cx="27432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Consulta de tarifas disponibles</a:t>
            </a:r>
          </a:p>
        </p:txBody>
      </p:sp>
      <p:sp>
        <p:nvSpPr>
          <p:cNvPr id="342" name="TextBox 342"/>
          <p:cNvSpPr txBox="1">
            <a:spLocks noGrp="1"/>
          </p:cNvSpPr>
          <p:nvPr/>
        </p:nvSpPr>
        <p:spPr>
          <a:xfrm>
            <a:off x="4846320" y="4261104"/>
            <a:ext cx="21945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Tarifas en BD</a:t>
            </a:r>
          </a:p>
        </p:txBody>
      </p:sp>
      <p:sp>
        <p:nvSpPr>
          <p:cNvPr id="343" name="TextBox 343"/>
          <p:cNvSpPr txBox="1">
            <a:spLocks noGrp="1"/>
          </p:cNvSpPr>
          <p:nvPr/>
        </p:nvSpPr>
        <p:spPr>
          <a:xfrm>
            <a:off x="7086600" y="4261104"/>
            <a:ext cx="18288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Lista de tarifas</a:t>
            </a:r>
          </a:p>
        </p:txBody>
      </p:sp>
      <p:sp>
        <p:nvSpPr>
          <p:cNvPr id="344" name="Rect 344"/>
          <p:cNvSpPr>
            <a:spLocks noGrp="1"/>
          </p:cNvSpPr>
          <p:nvPr/>
        </p:nvSpPr>
        <p:spPr>
          <a:xfrm>
            <a:off x="10957560" y="4297680"/>
            <a:ext cx="64008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45" name="TextBox 345"/>
          <p:cNvSpPr txBox="1">
            <a:spLocks noGrp="1"/>
          </p:cNvSpPr>
          <p:nvPr/>
        </p:nvSpPr>
        <p:spPr>
          <a:xfrm>
            <a:off x="10957560" y="429768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✔ PASS</a:t>
            </a:r>
          </a:p>
        </p:txBody>
      </p:sp>
      <p:sp>
        <p:nvSpPr>
          <p:cNvPr id="346" name="Rect 346"/>
          <p:cNvSpPr>
            <a:spLocks noGrp="1"/>
          </p:cNvSpPr>
          <p:nvPr/>
        </p:nvSpPr>
        <p:spPr>
          <a:xfrm>
            <a:off x="502920" y="4709160"/>
            <a:ext cx="1118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47" name="TextBox 347"/>
          <p:cNvSpPr txBox="1">
            <a:spLocks noGrp="1"/>
          </p:cNvSpPr>
          <p:nvPr/>
        </p:nvSpPr>
        <p:spPr>
          <a:xfrm>
            <a:off x="594360" y="4773168"/>
            <a:ext cx="73152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1" dirty="0">
                <a:solidFill>
                  <a:srgbClr val="1E2B4F"/>
                </a:solidFill>
                <a:latin typeface="Calibri"/>
              </a:rPr>
              <a:t>TC-06</a:t>
            </a:r>
          </a:p>
        </p:txBody>
      </p:sp>
      <p:sp>
        <p:nvSpPr>
          <p:cNvPr id="348" name="TextBox 348"/>
          <p:cNvSpPr txBox="1">
            <a:spLocks noGrp="1"/>
          </p:cNvSpPr>
          <p:nvPr/>
        </p:nvSpPr>
        <p:spPr>
          <a:xfrm>
            <a:off x="1371600" y="4773168"/>
            <a:ext cx="64008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009688"/>
                </a:solidFill>
                <a:latin typeface="Calibri"/>
              </a:rPr>
              <a:t>HU_01</a:t>
            </a:r>
          </a:p>
        </p:txBody>
      </p:sp>
      <p:sp>
        <p:nvSpPr>
          <p:cNvPr id="349" name="TextBox 349"/>
          <p:cNvSpPr txBox="1">
            <a:spLocks noGrp="1"/>
          </p:cNvSpPr>
          <p:nvPr/>
        </p:nvSpPr>
        <p:spPr>
          <a:xfrm>
            <a:off x="2057400" y="4773168"/>
            <a:ext cx="27432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Generación de reserva de espacio</a:t>
            </a:r>
          </a:p>
        </p:txBody>
      </p:sp>
      <p:sp>
        <p:nvSpPr>
          <p:cNvPr id="350" name="TextBox 350"/>
          <p:cNvSpPr txBox="1">
            <a:spLocks noGrp="1"/>
          </p:cNvSpPr>
          <p:nvPr/>
        </p:nvSpPr>
        <p:spPr>
          <a:xfrm>
            <a:off x="4846320" y="4773168"/>
            <a:ext cx="21945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Espacio disponible</a:t>
            </a:r>
          </a:p>
        </p:txBody>
      </p:sp>
      <p:sp>
        <p:nvSpPr>
          <p:cNvPr id="351" name="TextBox 351"/>
          <p:cNvSpPr txBox="1">
            <a:spLocks noGrp="1"/>
          </p:cNvSpPr>
          <p:nvPr/>
        </p:nvSpPr>
        <p:spPr>
          <a:xfrm>
            <a:off x="7086600" y="4773168"/>
            <a:ext cx="18288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Reserva confirmada</a:t>
            </a:r>
          </a:p>
        </p:txBody>
      </p:sp>
      <p:sp>
        <p:nvSpPr>
          <p:cNvPr id="352" name="Rect 352"/>
          <p:cNvSpPr>
            <a:spLocks noGrp="1"/>
          </p:cNvSpPr>
          <p:nvPr/>
        </p:nvSpPr>
        <p:spPr>
          <a:xfrm>
            <a:off x="10957560" y="4809744"/>
            <a:ext cx="64008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53" name="TextBox 353"/>
          <p:cNvSpPr txBox="1">
            <a:spLocks noGrp="1"/>
          </p:cNvSpPr>
          <p:nvPr/>
        </p:nvSpPr>
        <p:spPr>
          <a:xfrm>
            <a:off x="10957560" y="4809744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✔ PASS</a:t>
            </a:r>
          </a:p>
        </p:txBody>
      </p:sp>
      <p:sp>
        <p:nvSpPr>
          <p:cNvPr id="354" name="Rect 354"/>
          <p:cNvSpPr>
            <a:spLocks noGrp="1"/>
          </p:cNvSpPr>
          <p:nvPr/>
        </p:nvSpPr>
        <p:spPr>
          <a:xfrm>
            <a:off x="502920" y="5221224"/>
            <a:ext cx="11186160" cy="47548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55" name="TextBox 355"/>
          <p:cNvSpPr txBox="1">
            <a:spLocks noGrp="1"/>
          </p:cNvSpPr>
          <p:nvPr/>
        </p:nvSpPr>
        <p:spPr>
          <a:xfrm>
            <a:off x="594360" y="5285232"/>
            <a:ext cx="73152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1" dirty="0">
                <a:solidFill>
                  <a:srgbClr val="1E2B4F"/>
                </a:solidFill>
                <a:latin typeface="Calibri"/>
              </a:rPr>
              <a:t>TC-07</a:t>
            </a:r>
          </a:p>
        </p:txBody>
      </p:sp>
      <p:sp>
        <p:nvSpPr>
          <p:cNvPr id="356" name="TextBox 356"/>
          <p:cNvSpPr txBox="1">
            <a:spLocks noGrp="1"/>
          </p:cNvSpPr>
          <p:nvPr/>
        </p:nvSpPr>
        <p:spPr>
          <a:xfrm>
            <a:off x="1371600" y="5285232"/>
            <a:ext cx="64008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009688"/>
                </a:solidFill>
                <a:latin typeface="Calibri"/>
              </a:rPr>
              <a:t>HU_02</a:t>
            </a:r>
          </a:p>
        </p:txBody>
      </p:sp>
      <p:sp>
        <p:nvSpPr>
          <p:cNvPr id="357" name="TextBox 357"/>
          <p:cNvSpPr txBox="1">
            <a:spLocks noGrp="1"/>
          </p:cNvSpPr>
          <p:nvPr/>
        </p:nvSpPr>
        <p:spPr>
          <a:xfrm>
            <a:off x="2057400" y="5285232"/>
            <a:ext cx="27432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444444"/>
                </a:solidFill>
                <a:latin typeface="Calibri"/>
              </a:rPr>
              <a:t>Verificación de datos de sesión</a:t>
            </a:r>
          </a:p>
        </p:txBody>
      </p:sp>
      <p:sp>
        <p:nvSpPr>
          <p:cNvPr id="358" name="TextBox 358"/>
          <p:cNvSpPr txBox="1">
            <a:spLocks noGrp="1"/>
          </p:cNvSpPr>
          <p:nvPr/>
        </p:nvSpPr>
        <p:spPr>
          <a:xfrm>
            <a:off x="4846320" y="5285232"/>
            <a:ext cx="21945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Sesión iniciada</a:t>
            </a:r>
          </a:p>
        </p:txBody>
      </p:sp>
      <p:sp>
        <p:nvSpPr>
          <p:cNvPr id="359" name="TextBox 359"/>
          <p:cNvSpPr txBox="1">
            <a:spLocks noGrp="1"/>
          </p:cNvSpPr>
          <p:nvPr/>
        </p:nvSpPr>
        <p:spPr>
          <a:xfrm>
            <a:off x="7086600" y="5285232"/>
            <a:ext cx="18288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000" b="0" dirty="0">
                <a:solidFill>
                  <a:srgbClr val="444444"/>
                </a:solidFill>
                <a:latin typeface="Calibri"/>
              </a:rPr>
              <a:t>Datos correctos</a:t>
            </a:r>
          </a:p>
        </p:txBody>
      </p:sp>
      <p:sp>
        <p:nvSpPr>
          <p:cNvPr id="360" name="Rect 360"/>
          <p:cNvSpPr>
            <a:spLocks noGrp="1"/>
          </p:cNvSpPr>
          <p:nvPr/>
        </p:nvSpPr>
        <p:spPr>
          <a:xfrm>
            <a:off x="10957560" y="5321808"/>
            <a:ext cx="64008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61" name="TextBox 361"/>
          <p:cNvSpPr txBox="1">
            <a:spLocks noGrp="1"/>
          </p:cNvSpPr>
          <p:nvPr/>
        </p:nvSpPr>
        <p:spPr>
          <a:xfrm>
            <a:off x="10957560" y="5321808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✔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83980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06  |  Pruebas Unitarias y Cobertura – JUnit 5 · JaCoCo</a:t>
            </a:r>
          </a:p>
        </p:txBody>
      </p:sp>
      <p:sp>
        <p:nvSpPr>
          <p:cNvPr id="102" name="Rect 102"/>
          <p:cNvSpPr>
            <a:spLocks noGrp="1"/>
          </p:cNvSpPr>
          <p:nvPr/>
        </p:nvSpPr>
        <p:spPr>
          <a:xfrm>
            <a:off x="502920" y="1234440"/>
            <a:ext cx="2286000" cy="201168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3" name="TextBox 103"/>
          <p:cNvSpPr txBox="1">
            <a:spLocks noGrp="1"/>
          </p:cNvSpPr>
          <p:nvPr/>
        </p:nvSpPr>
        <p:spPr>
          <a:xfrm>
            <a:off x="502920" y="1508760"/>
            <a:ext cx="2286000" cy="8229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4000" b="1" dirty="0">
                <a:solidFill>
                  <a:srgbClr val="FFFFFF"/>
                </a:solidFill>
                <a:latin typeface="Calibri"/>
              </a:rPr>
              <a:t>84.2%</a:t>
            </a:r>
          </a:p>
        </p:txBody>
      </p:sp>
      <p:sp>
        <p:nvSpPr>
          <p:cNvPr id="104" name="TextBox 104"/>
          <p:cNvSpPr txBox="1">
            <a:spLocks noGrp="1"/>
          </p:cNvSpPr>
          <p:nvPr/>
        </p:nvSpPr>
        <p:spPr>
          <a:xfrm>
            <a:off x="502920" y="2331720"/>
            <a:ext cx="2286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B0D0E8"/>
                </a:solidFill>
                <a:latin typeface="Calibri"/>
              </a:rPr>
              <a:t>Cobertura JaCoCo</a:t>
            </a:r>
          </a:p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B0D0E8"/>
                </a:solidFill>
                <a:latin typeface="Calibri"/>
              </a:rPr>
              <a:t>Supera umbral del 80%</a:t>
            </a:r>
          </a:p>
        </p:txBody>
      </p:sp>
      <p:sp>
        <p:nvSpPr>
          <p:cNvPr id="105" name="Rect 105"/>
          <p:cNvSpPr>
            <a:spLocks noGrp="1"/>
          </p:cNvSpPr>
          <p:nvPr/>
        </p:nvSpPr>
        <p:spPr>
          <a:xfrm>
            <a:off x="3063240" y="1234440"/>
            <a:ext cx="7315200" cy="329184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6" name="TextBox 106"/>
          <p:cNvSpPr txBox="1">
            <a:spLocks noGrp="1"/>
          </p:cNvSpPr>
          <p:nvPr/>
        </p:nvSpPr>
        <p:spPr>
          <a:xfrm>
            <a:off x="3154680" y="1261872"/>
            <a:ext cx="228600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Framework</a:t>
            </a:r>
          </a:p>
        </p:txBody>
      </p:sp>
      <p:sp>
        <p:nvSpPr>
          <p:cNvPr id="107" name="TextBox 107"/>
          <p:cNvSpPr txBox="1">
            <a:spLocks noGrp="1"/>
          </p:cNvSpPr>
          <p:nvPr/>
        </p:nvSpPr>
        <p:spPr>
          <a:xfrm>
            <a:off x="5440680" y="1261872"/>
            <a:ext cx="48463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JUnit 5 + Mockito</a:t>
            </a:r>
          </a:p>
        </p:txBody>
      </p:sp>
      <p:sp>
        <p:nvSpPr>
          <p:cNvPr id="108" name="Rect 108"/>
          <p:cNvSpPr>
            <a:spLocks noGrp="1"/>
          </p:cNvSpPr>
          <p:nvPr/>
        </p:nvSpPr>
        <p:spPr>
          <a:xfrm>
            <a:off x="3063240" y="1581912"/>
            <a:ext cx="7315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9" name="TextBox 109"/>
          <p:cNvSpPr txBox="1">
            <a:spLocks noGrp="1"/>
          </p:cNvSpPr>
          <p:nvPr/>
        </p:nvSpPr>
        <p:spPr>
          <a:xfrm>
            <a:off x="3154680" y="1609344"/>
            <a:ext cx="228600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BD de pruebas</a:t>
            </a:r>
          </a:p>
        </p:txBody>
      </p:sp>
      <p:sp>
        <p:nvSpPr>
          <p:cNvPr id="110" name="TextBox 110"/>
          <p:cNvSpPr txBox="1">
            <a:spLocks noGrp="1"/>
          </p:cNvSpPr>
          <p:nvPr/>
        </p:nvSpPr>
        <p:spPr>
          <a:xfrm>
            <a:off x="5440680" y="1609344"/>
            <a:ext cx="48463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H2 In-Memory</a:t>
            </a:r>
          </a:p>
        </p:txBody>
      </p:sp>
      <p:sp>
        <p:nvSpPr>
          <p:cNvPr id="111" name="Rect 111"/>
          <p:cNvSpPr>
            <a:spLocks noGrp="1"/>
          </p:cNvSpPr>
          <p:nvPr/>
        </p:nvSpPr>
        <p:spPr>
          <a:xfrm>
            <a:off x="3063240" y="1929384"/>
            <a:ext cx="7315200" cy="329184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2" name="TextBox 112"/>
          <p:cNvSpPr txBox="1">
            <a:spLocks noGrp="1"/>
          </p:cNvSpPr>
          <p:nvPr/>
        </p:nvSpPr>
        <p:spPr>
          <a:xfrm>
            <a:off x="3154680" y="1956816"/>
            <a:ext cx="228600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Líneas cubiertas</a:t>
            </a:r>
          </a:p>
        </p:txBody>
      </p:sp>
      <p:sp>
        <p:nvSpPr>
          <p:cNvPr id="113" name="TextBox 113"/>
          <p:cNvSpPr txBox="1">
            <a:spLocks noGrp="1"/>
          </p:cNvSpPr>
          <p:nvPr/>
        </p:nvSpPr>
        <p:spPr>
          <a:xfrm>
            <a:off x="5440680" y="1956816"/>
            <a:ext cx="48463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369 de ~440 líneas</a:t>
            </a:r>
          </a:p>
        </p:txBody>
      </p:sp>
      <p:sp>
        <p:nvSpPr>
          <p:cNvPr id="114" name="Rect 114"/>
          <p:cNvSpPr>
            <a:spLocks noGrp="1"/>
          </p:cNvSpPr>
          <p:nvPr/>
        </p:nvSpPr>
        <p:spPr>
          <a:xfrm>
            <a:off x="3063240" y="2276856"/>
            <a:ext cx="7315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5" name="TextBox 115"/>
          <p:cNvSpPr txBox="1">
            <a:spLocks noGrp="1"/>
          </p:cNvSpPr>
          <p:nvPr/>
        </p:nvSpPr>
        <p:spPr>
          <a:xfrm>
            <a:off x="3154680" y="2304288"/>
            <a:ext cx="228600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Mocks aplicados</a:t>
            </a:r>
          </a:p>
        </p:txBody>
      </p:sp>
      <p:sp>
        <p:nvSpPr>
          <p:cNvPr id="116" name="TextBox 116"/>
          <p:cNvSpPr txBox="1">
            <a:spLocks noGrp="1"/>
          </p:cNvSpPr>
          <p:nvPr/>
        </p:nvSpPr>
        <p:spPr>
          <a:xfrm>
            <a:off x="5440680" y="2304288"/>
            <a:ext cx="48463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JavaMailSender · Repositorios JPA</a:t>
            </a:r>
          </a:p>
        </p:txBody>
      </p:sp>
      <p:sp>
        <p:nvSpPr>
          <p:cNvPr id="117" name="Rect 117"/>
          <p:cNvSpPr>
            <a:spLocks noGrp="1"/>
          </p:cNvSpPr>
          <p:nvPr/>
        </p:nvSpPr>
        <p:spPr>
          <a:xfrm>
            <a:off x="3063240" y="2624328"/>
            <a:ext cx="7315200" cy="329184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8" name="TextBox 118"/>
          <p:cNvSpPr txBox="1">
            <a:spLocks noGrp="1"/>
          </p:cNvSpPr>
          <p:nvPr/>
        </p:nvSpPr>
        <p:spPr>
          <a:xfrm>
            <a:off x="3154680" y="2651760"/>
            <a:ext cx="228600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Tipos de casos</a:t>
            </a:r>
          </a:p>
        </p:txBody>
      </p:sp>
      <p:sp>
        <p:nvSpPr>
          <p:cNvPr id="119" name="TextBox 119"/>
          <p:cNvSpPr txBox="1">
            <a:spLocks noGrp="1"/>
          </p:cNvSpPr>
          <p:nvPr/>
        </p:nvSpPr>
        <p:spPr>
          <a:xfrm>
            <a:off x="5440680" y="2651760"/>
            <a:ext cx="48463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Exitoso · Límite · Error</a:t>
            </a:r>
          </a:p>
        </p:txBody>
      </p:sp>
      <p:sp>
        <p:nvSpPr>
          <p:cNvPr id="120" name="Rect 120"/>
          <p:cNvSpPr>
            <a:spLocks noGrp="1"/>
          </p:cNvSpPr>
          <p:nvPr/>
        </p:nvSpPr>
        <p:spPr>
          <a:xfrm>
            <a:off x="3063240" y="2971800"/>
            <a:ext cx="7315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1" name="TextBox 121"/>
          <p:cNvSpPr txBox="1">
            <a:spLocks noGrp="1"/>
          </p:cNvSpPr>
          <p:nvPr/>
        </p:nvSpPr>
        <p:spPr>
          <a:xfrm>
            <a:off x="3154680" y="2999232"/>
            <a:ext cx="228600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Resultado Build</a:t>
            </a:r>
          </a:p>
        </p:txBody>
      </p:sp>
      <p:sp>
        <p:nvSpPr>
          <p:cNvPr id="122" name="TextBox 122"/>
          <p:cNvSpPr txBox="1">
            <a:spLocks noGrp="1"/>
          </p:cNvSpPr>
          <p:nvPr/>
        </p:nvSpPr>
        <p:spPr>
          <a:xfrm>
            <a:off x="5440680" y="2999232"/>
            <a:ext cx="48463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BUILD SUCCESS</a:t>
            </a:r>
          </a:p>
        </p:txBody>
      </p:sp>
      <p:pic>
        <p:nvPicPr>
          <p:cNvPr id="999" name="img_jacoco_new.jpg"/>
          <p:cNvPicPr>
            <a:picLocks/>
          </p:cNvPicPr>
          <p:nvPr/>
        </p:nvPicPr>
        <p:blipFill>
          <a:blip r:embed="rId2"/>
          <a:srcRect r="16601"/>
          <a:stretch>
            <a:fillRect/>
          </a:stretch>
        </p:blipFill>
        <p:spPr>
          <a:xfrm>
            <a:off x="1209484" y="3429000"/>
            <a:ext cx="8517255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83980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07  |  Pruebas Funcionales E2E – Selenium WebDriver 4.x</a:t>
            </a:r>
          </a:p>
        </p:txBody>
      </p:sp>
      <p:sp>
        <p:nvSpPr>
          <p:cNvPr id="102" name="Rect 102"/>
          <p:cNvSpPr>
            <a:spLocks noGrp="1"/>
          </p:cNvSpPr>
          <p:nvPr/>
        </p:nvSpPr>
        <p:spPr>
          <a:xfrm>
            <a:off x="502920" y="1234440"/>
            <a:ext cx="9875520" cy="47548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3" name="TextBox 103"/>
          <p:cNvSpPr txBox="1">
            <a:spLocks noGrp="1"/>
          </p:cNvSpPr>
          <p:nvPr/>
        </p:nvSpPr>
        <p:spPr>
          <a:xfrm>
            <a:off x="685800" y="1289304"/>
            <a:ext cx="9875520" cy="38404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800" b="1" dirty="0">
                <a:solidFill>
                  <a:srgbClr val="FFFFFF"/>
                </a:solidFill>
                <a:latin typeface="Calibri"/>
              </a:rPr>
              <a:t>Tests run: 7   ·   Failures: 0   ·   Errors: 0   —  Reporte Surefire</a:t>
            </a:r>
          </a:p>
        </p:txBody>
      </p:sp>
      <p:sp>
        <p:nvSpPr>
          <p:cNvPr id="104" name="Rect 104"/>
          <p:cNvSpPr>
            <a:spLocks noGrp="1"/>
          </p:cNvSpPr>
          <p:nvPr/>
        </p:nvSpPr>
        <p:spPr>
          <a:xfrm>
            <a:off x="502920" y="1801368"/>
            <a:ext cx="9875520" cy="347472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5" name="TextBox 105"/>
          <p:cNvSpPr txBox="1">
            <a:spLocks noGrp="1"/>
          </p:cNvSpPr>
          <p:nvPr/>
        </p:nvSpPr>
        <p:spPr>
          <a:xfrm>
            <a:off x="594360" y="1828800"/>
            <a:ext cx="9692640" cy="30175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ID      Caso de Prueba                               Entorno              Resultado</a:t>
            </a:r>
          </a:p>
        </p:txBody>
      </p:sp>
      <p:sp>
        <p:nvSpPr>
          <p:cNvPr id="106" name="Rect 106"/>
          <p:cNvSpPr>
            <a:spLocks noGrp="1"/>
          </p:cNvSpPr>
          <p:nvPr/>
        </p:nvSpPr>
        <p:spPr>
          <a:xfrm>
            <a:off x="502920" y="2167128"/>
            <a:ext cx="9875520" cy="31089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7" name="TextBox 107"/>
          <p:cNvSpPr txBox="1">
            <a:spLocks noGrp="1"/>
          </p:cNvSpPr>
          <p:nvPr/>
        </p:nvSpPr>
        <p:spPr>
          <a:xfrm>
            <a:off x="594360" y="2185416"/>
            <a:ext cx="969264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TC-01      Login con credenciales válidas             Brave / Chrome HL      PASS</a:t>
            </a:r>
          </a:p>
        </p:txBody>
      </p:sp>
      <p:sp>
        <p:nvSpPr>
          <p:cNvPr id="108" name="Rect 108"/>
          <p:cNvSpPr>
            <a:spLocks noGrp="1"/>
          </p:cNvSpPr>
          <p:nvPr/>
        </p:nvSpPr>
        <p:spPr>
          <a:xfrm>
            <a:off x="502920" y="2496312"/>
            <a:ext cx="9875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9" name="TextBox 109"/>
          <p:cNvSpPr txBox="1">
            <a:spLocks noGrp="1"/>
          </p:cNvSpPr>
          <p:nvPr/>
        </p:nvSpPr>
        <p:spPr>
          <a:xfrm>
            <a:off x="594360" y="2514600"/>
            <a:ext cx="969264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TC-02      Login con credenciales inválidas           Brave / Chrome HL      PASS</a:t>
            </a:r>
          </a:p>
        </p:txBody>
      </p:sp>
      <p:sp>
        <p:nvSpPr>
          <p:cNvPr id="110" name="Rect 110"/>
          <p:cNvSpPr>
            <a:spLocks noGrp="1"/>
          </p:cNvSpPr>
          <p:nvPr/>
        </p:nvSpPr>
        <p:spPr>
          <a:xfrm>
            <a:off x="502920" y="2825496"/>
            <a:ext cx="9875520" cy="31089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1" name="TextBox 111"/>
          <p:cNvSpPr txBox="1">
            <a:spLocks noGrp="1"/>
          </p:cNvSpPr>
          <p:nvPr/>
        </p:nvSpPr>
        <p:spPr>
          <a:xfrm>
            <a:off x="594360" y="2843784"/>
            <a:ext cx="969264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TC-03      Registro de nuevo usuario                  Brave / Chrome HL      PASS</a:t>
            </a:r>
          </a:p>
        </p:txBody>
      </p:sp>
      <p:sp>
        <p:nvSpPr>
          <p:cNvPr id="112" name="Rect 112"/>
          <p:cNvSpPr>
            <a:spLocks noGrp="1"/>
          </p:cNvSpPr>
          <p:nvPr/>
        </p:nvSpPr>
        <p:spPr>
          <a:xfrm>
            <a:off x="502920" y="3154680"/>
            <a:ext cx="9875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3" name="TextBox 113"/>
          <p:cNvSpPr txBox="1">
            <a:spLocks noGrp="1"/>
          </p:cNvSpPr>
          <p:nvPr/>
        </p:nvSpPr>
        <p:spPr>
          <a:xfrm>
            <a:off x="594360" y="3172968"/>
            <a:ext cx="969264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TC-04      Navegación a servicios                     Brave / Chrome HL      PASS</a:t>
            </a:r>
          </a:p>
        </p:txBody>
      </p:sp>
      <p:sp>
        <p:nvSpPr>
          <p:cNvPr id="114" name="Rect 114"/>
          <p:cNvSpPr>
            <a:spLocks noGrp="1"/>
          </p:cNvSpPr>
          <p:nvPr/>
        </p:nvSpPr>
        <p:spPr>
          <a:xfrm>
            <a:off x="502920" y="3483864"/>
            <a:ext cx="9875520" cy="31089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5" name="TextBox 115"/>
          <p:cNvSpPr txBox="1">
            <a:spLocks noGrp="1"/>
          </p:cNvSpPr>
          <p:nvPr/>
        </p:nvSpPr>
        <p:spPr>
          <a:xfrm>
            <a:off x="594360" y="3502152"/>
            <a:ext cx="969264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TC-05      Consulta de tarifas disponibles            Chrome Headless        PASS</a:t>
            </a:r>
          </a:p>
        </p:txBody>
      </p:sp>
      <p:sp>
        <p:nvSpPr>
          <p:cNvPr id="116" name="Rect 116"/>
          <p:cNvSpPr>
            <a:spLocks noGrp="1"/>
          </p:cNvSpPr>
          <p:nvPr/>
        </p:nvSpPr>
        <p:spPr>
          <a:xfrm>
            <a:off x="502920" y="3813048"/>
            <a:ext cx="9875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7" name="TextBox 117"/>
          <p:cNvSpPr txBox="1">
            <a:spLocks noGrp="1"/>
          </p:cNvSpPr>
          <p:nvPr/>
        </p:nvSpPr>
        <p:spPr>
          <a:xfrm>
            <a:off x="594360" y="3831336"/>
            <a:ext cx="969264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TC-06      Generación de reserva                      Chrome Headless        PASS</a:t>
            </a:r>
          </a:p>
        </p:txBody>
      </p:sp>
      <p:sp>
        <p:nvSpPr>
          <p:cNvPr id="118" name="Rect 118"/>
          <p:cNvSpPr>
            <a:spLocks noGrp="1"/>
          </p:cNvSpPr>
          <p:nvPr/>
        </p:nvSpPr>
        <p:spPr>
          <a:xfrm>
            <a:off x="502920" y="4142232"/>
            <a:ext cx="9875520" cy="31089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9" name="TextBox 119"/>
          <p:cNvSpPr txBox="1">
            <a:spLocks noGrp="1"/>
          </p:cNvSpPr>
          <p:nvPr/>
        </p:nvSpPr>
        <p:spPr>
          <a:xfrm>
            <a:off x="594360" y="4160520"/>
            <a:ext cx="969264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TC-07      Verificación de sesión activa              Chrome Headless        PASS</a:t>
            </a:r>
          </a:p>
        </p:txBody>
      </p:sp>
      <p:pic>
        <p:nvPicPr>
          <p:cNvPr id="600" name="img_selenium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58340" y="4915329"/>
            <a:ext cx="696468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img_jmeter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52526"/>
            <a:ext cx="11186160" cy="4324350"/>
          </a:xfrm>
          <a:prstGeom prst="rect">
            <a:avLst/>
          </a:prstGeom>
        </p:spPr>
      </p:pic>
      <p:sp>
        <p:nvSpPr>
          <p:cNvPr id="25" name="Rect 100">
            <a:extLst>
              <a:ext uri="{FF2B5EF4-FFF2-40B4-BE49-F238E27FC236}">
                <a16:creationId xmlns:a16="http://schemas.microsoft.com/office/drawing/2014/main" id="{32A9CB84-D971-60B4-82D9-DCCF2D500D18}"/>
              </a:ext>
            </a:extLst>
          </p:cNvPr>
          <p:cNvSpPr>
            <a:spLocks noGrp="1"/>
          </p:cNvSpPr>
          <p:nvPr/>
        </p:nvSpPr>
        <p:spPr>
          <a:xfrm>
            <a:off x="502920" y="502920"/>
            <a:ext cx="9003030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26" name="TextBox 101">
            <a:extLst>
              <a:ext uri="{FF2B5EF4-FFF2-40B4-BE49-F238E27FC236}">
                <a16:creationId xmlns:a16="http://schemas.microsoft.com/office/drawing/2014/main" id="{2C809989-0835-DE90-334B-1B9BC6F0EED1}"/>
              </a:ext>
            </a:extLst>
          </p:cNvPr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08  |  Pruebas de Rendimiento, Carga y Estrés – Apache JMeter</a:t>
            </a:r>
          </a:p>
        </p:txBody>
      </p:sp>
    </p:spTree>
    <p:extLst>
      <p:ext uri="{BB962C8B-B14F-4D97-AF65-F5344CB8AC3E}">
        <p14:creationId xmlns:p14="http://schemas.microsoft.com/office/powerpoint/2010/main" val="3353326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93505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09  |  Integración Continua – GitHub Actions CI/CD</a:t>
            </a:r>
          </a:p>
        </p:txBody>
      </p:sp>
      <p:sp>
        <p:nvSpPr>
          <p:cNvPr id="102" name="Rect 102"/>
          <p:cNvSpPr>
            <a:spLocks noGrp="1"/>
          </p:cNvSpPr>
          <p:nvPr/>
        </p:nvSpPr>
        <p:spPr>
          <a:xfrm>
            <a:off x="502920" y="1234440"/>
            <a:ext cx="2331720" cy="137160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3" name="TextBox 103"/>
          <p:cNvSpPr txBox="1">
            <a:spLocks noGrp="1"/>
          </p:cNvSpPr>
          <p:nvPr/>
        </p:nvSpPr>
        <p:spPr>
          <a:xfrm>
            <a:off x="502920" y="1325880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FFFFFF"/>
                </a:solidFill>
                <a:latin typeface="Calibri"/>
              </a:rPr>
              <a:t>1. git push</a:t>
            </a:r>
          </a:p>
        </p:txBody>
      </p:sp>
      <p:sp>
        <p:nvSpPr>
          <p:cNvPr id="104" name="TextBox 104"/>
          <p:cNvSpPr txBox="1">
            <a:spLocks noGrp="1"/>
          </p:cNvSpPr>
          <p:nvPr/>
        </p:nvSpPr>
        <p:spPr>
          <a:xfrm>
            <a:off x="502920" y="1764792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00E5D0"/>
                </a:solidFill>
                <a:latin typeface="Calibri"/>
              </a:rPr>
              <a:t>Trigger del pipeline</a:t>
            </a:r>
          </a:p>
        </p:txBody>
      </p:sp>
      <p:sp>
        <p:nvSpPr>
          <p:cNvPr id="105" name="TextBox 105"/>
          <p:cNvSpPr txBox="1">
            <a:spLocks noGrp="1"/>
          </p:cNvSpPr>
          <p:nvPr/>
        </p:nvSpPr>
        <p:spPr>
          <a:xfrm>
            <a:off x="502920" y="2194560"/>
            <a:ext cx="23317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B0C8D8"/>
                </a:solidFill>
                <a:latin typeface="Calibri"/>
              </a:rPr>
              <a:t>Cualquier rama</a:t>
            </a:r>
          </a:p>
        </p:txBody>
      </p:sp>
      <p:sp>
        <p:nvSpPr>
          <p:cNvPr id="106" name="Rect 106"/>
          <p:cNvSpPr>
            <a:spLocks noGrp="1"/>
          </p:cNvSpPr>
          <p:nvPr/>
        </p:nvSpPr>
        <p:spPr>
          <a:xfrm>
            <a:off x="2944368" y="1234440"/>
            <a:ext cx="2331720" cy="137160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7" name="TextBox 107"/>
          <p:cNvSpPr txBox="1">
            <a:spLocks noGrp="1"/>
          </p:cNvSpPr>
          <p:nvPr/>
        </p:nvSpPr>
        <p:spPr>
          <a:xfrm>
            <a:off x="2944368" y="1325880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FFFFFF"/>
                </a:solidFill>
                <a:latin typeface="Calibri"/>
              </a:rPr>
              <a:t>2. Job 1: Unitario</a:t>
            </a:r>
          </a:p>
        </p:txBody>
      </p:sp>
      <p:sp>
        <p:nvSpPr>
          <p:cNvPr id="108" name="TextBox 108"/>
          <p:cNvSpPr txBox="1">
            <a:spLocks noGrp="1"/>
          </p:cNvSpPr>
          <p:nvPr/>
        </p:nvSpPr>
        <p:spPr>
          <a:xfrm>
            <a:off x="2944368" y="1764792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00E5D0"/>
                </a:solidFill>
                <a:latin typeface="Calibri"/>
              </a:rPr>
              <a:t>JUnit + JaCoCo</a:t>
            </a:r>
          </a:p>
        </p:txBody>
      </p:sp>
      <p:sp>
        <p:nvSpPr>
          <p:cNvPr id="109" name="TextBox 109"/>
          <p:cNvSpPr txBox="1">
            <a:spLocks noGrp="1"/>
          </p:cNvSpPr>
          <p:nvPr/>
        </p:nvSpPr>
        <p:spPr>
          <a:xfrm>
            <a:off x="2944368" y="2194560"/>
            <a:ext cx="23317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B0C8D8"/>
                </a:solidFill>
                <a:latin typeface="Calibri"/>
              </a:rPr>
              <a:t>Validación cobertura &gt;= 80%</a:t>
            </a:r>
          </a:p>
        </p:txBody>
      </p:sp>
      <p:sp>
        <p:nvSpPr>
          <p:cNvPr id="110" name="Rect 110"/>
          <p:cNvSpPr>
            <a:spLocks noGrp="1"/>
          </p:cNvSpPr>
          <p:nvPr/>
        </p:nvSpPr>
        <p:spPr>
          <a:xfrm>
            <a:off x="5385816" y="1234440"/>
            <a:ext cx="2331720" cy="137160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1" name="TextBox 111"/>
          <p:cNvSpPr txBox="1">
            <a:spLocks noGrp="1"/>
          </p:cNvSpPr>
          <p:nvPr/>
        </p:nvSpPr>
        <p:spPr>
          <a:xfrm>
            <a:off x="5385816" y="1325880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FFFFFF"/>
                </a:solidFill>
                <a:latin typeface="Calibri"/>
              </a:rPr>
              <a:t>3. Job 2: Funcional</a:t>
            </a:r>
          </a:p>
        </p:txBody>
      </p:sp>
      <p:sp>
        <p:nvSpPr>
          <p:cNvPr id="112" name="TextBox 112"/>
          <p:cNvSpPr txBox="1">
            <a:spLocks noGrp="1"/>
          </p:cNvSpPr>
          <p:nvPr/>
        </p:nvSpPr>
        <p:spPr>
          <a:xfrm>
            <a:off x="5385816" y="1764792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00E5D0"/>
                </a:solidFill>
                <a:latin typeface="Calibri"/>
              </a:rPr>
              <a:t>Selenium + MySQL + Angular</a:t>
            </a:r>
          </a:p>
        </p:txBody>
      </p:sp>
      <p:sp>
        <p:nvSpPr>
          <p:cNvPr id="113" name="TextBox 113"/>
          <p:cNvSpPr txBox="1">
            <a:spLocks noGrp="1"/>
          </p:cNvSpPr>
          <p:nvPr/>
        </p:nvSpPr>
        <p:spPr>
          <a:xfrm>
            <a:off x="5385816" y="2194560"/>
            <a:ext cx="23317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B0C8D8"/>
                </a:solidFill>
                <a:latin typeface="Calibri"/>
              </a:rPr>
              <a:t>7 tests Chrome Headless</a:t>
            </a:r>
          </a:p>
        </p:txBody>
      </p:sp>
      <p:sp>
        <p:nvSpPr>
          <p:cNvPr id="114" name="Rect 114"/>
          <p:cNvSpPr>
            <a:spLocks noGrp="1"/>
          </p:cNvSpPr>
          <p:nvPr/>
        </p:nvSpPr>
        <p:spPr>
          <a:xfrm>
            <a:off x="7827264" y="1234440"/>
            <a:ext cx="2331720" cy="1371600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5" name="TextBox 115"/>
          <p:cNvSpPr txBox="1">
            <a:spLocks noGrp="1"/>
          </p:cNvSpPr>
          <p:nvPr/>
        </p:nvSpPr>
        <p:spPr>
          <a:xfrm>
            <a:off x="7827264" y="1325880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FFFFFF"/>
                </a:solidFill>
                <a:latin typeface="Calibri"/>
              </a:rPr>
              <a:t>4. Quality Gate</a:t>
            </a:r>
          </a:p>
        </p:txBody>
      </p:sp>
      <p:sp>
        <p:nvSpPr>
          <p:cNvPr id="116" name="TextBox 116"/>
          <p:cNvSpPr txBox="1">
            <a:spLocks noGrp="1"/>
          </p:cNvSpPr>
          <p:nvPr/>
        </p:nvSpPr>
        <p:spPr>
          <a:xfrm>
            <a:off x="7827264" y="1764792"/>
            <a:ext cx="2331720" cy="4114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00E5D0"/>
                </a:solidFill>
                <a:latin typeface="Calibri"/>
              </a:rPr>
              <a:t>PASS / FAIL</a:t>
            </a:r>
          </a:p>
        </p:txBody>
      </p:sp>
      <p:sp>
        <p:nvSpPr>
          <p:cNvPr id="117" name="TextBox 117"/>
          <p:cNvSpPr txBox="1">
            <a:spLocks noGrp="1"/>
          </p:cNvSpPr>
          <p:nvPr/>
        </p:nvSpPr>
        <p:spPr>
          <a:xfrm>
            <a:off x="7827264" y="2194560"/>
            <a:ext cx="23317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100" b="0" dirty="0">
                <a:solidFill>
                  <a:srgbClr val="B0C8D8"/>
                </a:solidFill>
                <a:latin typeface="Calibri"/>
              </a:rPr>
              <a:t>Checks en verde en GitHub</a:t>
            </a:r>
          </a:p>
        </p:txBody>
      </p:sp>
      <p:sp>
        <p:nvSpPr>
          <p:cNvPr id="118" name="TextBox 118"/>
          <p:cNvSpPr txBox="1">
            <a:spLocks noGrp="1"/>
          </p:cNvSpPr>
          <p:nvPr/>
        </p:nvSpPr>
        <p:spPr>
          <a:xfrm>
            <a:off x="502920" y="2743200"/>
            <a:ext cx="466344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1E2B4F"/>
                </a:solidFill>
                <a:latin typeface="Calibri"/>
              </a:rPr>
              <a:t>Job 1 – Unitario</a:t>
            </a:r>
          </a:p>
        </p:txBody>
      </p:sp>
      <p:sp>
        <p:nvSpPr>
          <p:cNvPr id="119" name="TextBox 119"/>
          <p:cNvSpPr txBox="1">
            <a:spLocks noGrp="1"/>
          </p:cNvSpPr>
          <p:nvPr/>
        </p:nvSpPr>
        <p:spPr>
          <a:xfrm>
            <a:off x="502920" y="3090672"/>
            <a:ext cx="4663440" cy="1645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Levanta runner Ubuntu con Java 17.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Descarga dependencias Maven.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Ejecuta mvn test con perfil H2.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Genera reporte JaCoCo.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Falla si cobertura &lt; 80%.</a:t>
            </a:r>
          </a:p>
        </p:txBody>
      </p:sp>
      <p:sp>
        <p:nvSpPr>
          <p:cNvPr id="120" name="TextBox 120"/>
          <p:cNvSpPr txBox="1">
            <a:spLocks noGrp="1"/>
          </p:cNvSpPr>
          <p:nvPr/>
        </p:nvSpPr>
        <p:spPr>
          <a:xfrm>
            <a:off x="502920" y="4269001"/>
            <a:ext cx="466344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1E2B4F"/>
                </a:solidFill>
                <a:latin typeface="Calibri"/>
              </a:rPr>
              <a:t>Job 2 – Funcional (si Job 1 pasa)</a:t>
            </a:r>
          </a:p>
        </p:txBody>
      </p:sp>
      <p:sp>
        <p:nvSpPr>
          <p:cNvPr id="121" name="TextBox 121"/>
          <p:cNvSpPr txBox="1">
            <a:spLocks noGrp="1"/>
          </p:cNvSpPr>
          <p:nvPr/>
        </p:nvSpPr>
        <p:spPr>
          <a:xfrm>
            <a:off x="502920" y="4616473"/>
            <a:ext cx="4663440" cy="1645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Levanta MySQL 8 como servicio.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Compila y corre backend Spring Boot.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Sirve frontend Angular (ng serve).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Ejecuta 7 tests Selenium Chrome Headless.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0" dirty="0">
                <a:solidFill>
                  <a:srgbClr val="444444"/>
                </a:solidFill>
                <a:latin typeface="Calibri"/>
              </a:rPr>
              <a:t>• Reporta resultados Surefire XML.</a:t>
            </a:r>
          </a:p>
        </p:txBody>
      </p:sp>
      <p:pic>
        <p:nvPicPr>
          <p:cNvPr id="2" name="img_github.png">
            <a:extLst>
              <a:ext uri="{FF2B5EF4-FFF2-40B4-BE49-F238E27FC236}">
                <a16:creationId xmlns:a16="http://schemas.microsoft.com/office/drawing/2014/main" id="{751A2B97-349E-4414-9876-D45FF205F93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35582" y="2797648"/>
            <a:ext cx="6023401" cy="351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93505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11  |  Relación con ISO/IEC 25010 – Calidad del Producto</a:t>
            </a:r>
          </a:p>
        </p:txBody>
      </p:sp>
      <p:sp>
        <p:nvSpPr>
          <p:cNvPr id="102" name="Rect 102"/>
          <p:cNvSpPr>
            <a:spLocks noGrp="1"/>
          </p:cNvSpPr>
          <p:nvPr/>
        </p:nvSpPr>
        <p:spPr>
          <a:xfrm>
            <a:off x="502920" y="1234440"/>
            <a:ext cx="9875520" cy="347472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3" name="TextBox 103"/>
          <p:cNvSpPr txBox="1">
            <a:spLocks noGrp="1"/>
          </p:cNvSpPr>
          <p:nvPr/>
        </p:nvSpPr>
        <p:spPr>
          <a:xfrm>
            <a:off x="594360" y="1261872"/>
            <a:ext cx="9875520" cy="30175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Característica ISO 25010            Herramienta          Métrica / Evidencia</a:t>
            </a:r>
          </a:p>
        </p:txBody>
      </p:sp>
      <p:sp>
        <p:nvSpPr>
          <p:cNvPr id="104" name="Rect 104"/>
          <p:cNvSpPr>
            <a:spLocks noGrp="1"/>
          </p:cNvSpPr>
          <p:nvPr/>
        </p:nvSpPr>
        <p:spPr>
          <a:xfrm>
            <a:off x="502920" y="1600200"/>
            <a:ext cx="987552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5" name="Rect 105"/>
          <p:cNvSpPr>
            <a:spLocks noGrp="1"/>
          </p:cNvSpPr>
          <p:nvPr/>
        </p:nvSpPr>
        <p:spPr>
          <a:xfrm>
            <a:off x="502920" y="1600200"/>
            <a:ext cx="91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6" name="TextBox 106"/>
          <p:cNvSpPr txBox="1">
            <a:spLocks noGrp="1"/>
          </p:cNvSpPr>
          <p:nvPr/>
        </p:nvSpPr>
        <p:spPr>
          <a:xfrm>
            <a:off x="685800" y="1618488"/>
            <a:ext cx="292608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Confiabilidad</a:t>
            </a:r>
          </a:p>
        </p:txBody>
      </p:sp>
      <p:sp>
        <p:nvSpPr>
          <p:cNvPr id="107" name="TextBox 107"/>
          <p:cNvSpPr txBox="1">
            <a:spLocks noGrp="1"/>
          </p:cNvSpPr>
          <p:nvPr/>
        </p:nvSpPr>
        <p:spPr>
          <a:xfrm>
            <a:off x="3703320" y="1618488"/>
            <a:ext cx="667512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JMeter: 0% error rate · 975 peticiones sin fallo</a:t>
            </a:r>
          </a:p>
        </p:txBody>
      </p:sp>
      <p:sp>
        <p:nvSpPr>
          <p:cNvPr id="108" name="Rect 108"/>
          <p:cNvSpPr>
            <a:spLocks noGrp="1"/>
          </p:cNvSpPr>
          <p:nvPr/>
        </p:nvSpPr>
        <p:spPr>
          <a:xfrm>
            <a:off x="502920" y="2075688"/>
            <a:ext cx="9875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9" name="Rect 109"/>
          <p:cNvSpPr>
            <a:spLocks noGrp="1"/>
          </p:cNvSpPr>
          <p:nvPr/>
        </p:nvSpPr>
        <p:spPr>
          <a:xfrm>
            <a:off x="502920" y="2075688"/>
            <a:ext cx="91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0" name="TextBox 110"/>
          <p:cNvSpPr txBox="1">
            <a:spLocks noGrp="1"/>
          </p:cNvSpPr>
          <p:nvPr/>
        </p:nvSpPr>
        <p:spPr>
          <a:xfrm>
            <a:off x="685800" y="2093976"/>
            <a:ext cx="292608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Eficiencia de Desempeño</a:t>
            </a:r>
          </a:p>
        </p:txBody>
      </p:sp>
      <p:sp>
        <p:nvSpPr>
          <p:cNvPr id="111" name="TextBox 111"/>
          <p:cNvSpPr txBox="1">
            <a:spLocks noGrp="1"/>
          </p:cNvSpPr>
          <p:nvPr/>
        </p:nvSpPr>
        <p:spPr>
          <a:xfrm>
            <a:off x="3703320" y="2093976"/>
            <a:ext cx="667512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JMeter: 9.07 ms promedio · Apdex 1.000 perfecto</a:t>
            </a:r>
          </a:p>
        </p:txBody>
      </p:sp>
      <p:sp>
        <p:nvSpPr>
          <p:cNvPr id="112" name="Rect 112"/>
          <p:cNvSpPr>
            <a:spLocks noGrp="1"/>
          </p:cNvSpPr>
          <p:nvPr/>
        </p:nvSpPr>
        <p:spPr>
          <a:xfrm>
            <a:off x="502920" y="2551176"/>
            <a:ext cx="987552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3" name="Rect 113"/>
          <p:cNvSpPr>
            <a:spLocks noGrp="1"/>
          </p:cNvSpPr>
          <p:nvPr/>
        </p:nvSpPr>
        <p:spPr>
          <a:xfrm>
            <a:off x="502920" y="2551176"/>
            <a:ext cx="91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4" name="TextBox 114"/>
          <p:cNvSpPr txBox="1">
            <a:spLocks noGrp="1"/>
          </p:cNvSpPr>
          <p:nvPr/>
        </p:nvSpPr>
        <p:spPr>
          <a:xfrm>
            <a:off x="685800" y="2569464"/>
            <a:ext cx="292608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Mantenibilidad</a:t>
            </a:r>
          </a:p>
        </p:txBody>
      </p:sp>
      <p:sp>
        <p:nvSpPr>
          <p:cNvPr id="115" name="TextBox 115"/>
          <p:cNvSpPr txBox="1">
            <a:spLocks noGrp="1"/>
          </p:cNvSpPr>
          <p:nvPr/>
        </p:nvSpPr>
        <p:spPr>
          <a:xfrm>
            <a:off x="3703320" y="2569464"/>
            <a:ext cx="667512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SonarQube: Calificacion A · 0% codigo duplicado</a:t>
            </a:r>
          </a:p>
        </p:txBody>
      </p:sp>
      <p:sp>
        <p:nvSpPr>
          <p:cNvPr id="116" name="Rect 116"/>
          <p:cNvSpPr>
            <a:spLocks noGrp="1"/>
          </p:cNvSpPr>
          <p:nvPr/>
        </p:nvSpPr>
        <p:spPr>
          <a:xfrm>
            <a:off x="502920" y="3026664"/>
            <a:ext cx="9875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7" name="Rect 117"/>
          <p:cNvSpPr>
            <a:spLocks noGrp="1"/>
          </p:cNvSpPr>
          <p:nvPr/>
        </p:nvSpPr>
        <p:spPr>
          <a:xfrm>
            <a:off x="502920" y="3026664"/>
            <a:ext cx="91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8" name="TextBox 118"/>
          <p:cNvSpPr txBox="1">
            <a:spLocks noGrp="1"/>
          </p:cNvSpPr>
          <p:nvPr/>
        </p:nvSpPr>
        <p:spPr>
          <a:xfrm>
            <a:off x="685800" y="3044952"/>
            <a:ext cx="292608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Seguridad</a:t>
            </a:r>
          </a:p>
        </p:txBody>
      </p:sp>
      <p:sp>
        <p:nvSpPr>
          <p:cNvPr id="119" name="TextBox 119"/>
          <p:cNvSpPr txBox="1">
            <a:spLocks noGrp="1"/>
          </p:cNvSpPr>
          <p:nvPr/>
        </p:nvSpPr>
        <p:spPr>
          <a:xfrm>
            <a:off x="3703320" y="3044952"/>
            <a:ext cx="667512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SonarQube: Security A · 0 Security Hotspots</a:t>
            </a:r>
          </a:p>
        </p:txBody>
      </p:sp>
      <p:sp>
        <p:nvSpPr>
          <p:cNvPr id="120" name="Rect 120"/>
          <p:cNvSpPr>
            <a:spLocks noGrp="1"/>
          </p:cNvSpPr>
          <p:nvPr/>
        </p:nvSpPr>
        <p:spPr>
          <a:xfrm>
            <a:off x="502920" y="3502152"/>
            <a:ext cx="987552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1" name="Rect 121"/>
          <p:cNvSpPr>
            <a:spLocks noGrp="1"/>
          </p:cNvSpPr>
          <p:nvPr/>
        </p:nvSpPr>
        <p:spPr>
          <a:xfrm>
            <a:off x="502920" y="3502152"/>
            <a:ext cx="91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2" name="TextBox 122"/>
          <p:cNvSpPr txBox="1">
            <a:spLocks noGrp="1"/>
          </p:cNvSpPr>
          <p:nvPr/>
        </p:nvSpPr>
        <p:spPr>
          <a:xfrm>
            <a:off x="685800" y="3520440"/>
            <a:ext cx="292608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Funcionalidad (Correctitud)</a:t>
            </a:r>
          </a:p>
        </p:txBody>
      </p:sp>
      <p:sp>
        <p:nvSpPr>
          <p:cNvPr id="123" name="TextBox 123"/>
          <p:cNvSpPr txBox="1">
            <a:spLocks noGrp="1"/>
          </p:cNvSpPr>
          <p:nvPr/>
        </p:nvSpPr>
        <p:spPr>
          <a:xfrm>
            <a:off x="3703320" y="3520440"/>
            <a:ext cx="667512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Selenium: 7/7 casos PASS · 0 fallos funcionales</a:t>
            </a:r>
          </a:p>
        </p:txBody>
      </p:sp>
      <p:sp>
        <p:nvSpPr>
          <p:cNvPr id="124" name="Rect 124"/>
          <p:cNvSpPr>
            <a:spLocks noGrp="1"/>
          </p:cNvSpPr>
          <p:nvPr/>
        </p:nvSpPr>
        <p:spPr>
          <a:xfrm>
            <a:off x="502920" y="3977640"/>
            <a:ext cx="9875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5" name="Rect 125"/>
          <p:cNvSpPr>
            <a:spLocks noGrp="1"/>
          </p:cNvSpPr>
          <p:nvPr/>
        </p:nvSpPr>
        <p:spPr>
          <a:xfrm>
            <a:off x="502920" y="3977640"/>
            <a:ext cx="91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6" name="TextBox 126"/>
          <p:cNvSpPr txBox="1">
            <a:spLocks noGrp="1"/>
          </p:cNvSpPr>
          <p:nvPr/>
        </p:nvSpPr>
        <p:spPr>
          <a:xfrm>
            <a:off x="685800" y="3995928"/>
            <a:ext cx="292608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Portabilidad</a:t>
            </a:r>
          </a:p>
        </p:txBody>
      </p:sp>
      <p:sp>
        <p:nvSpPr>
          <p:cNvPr id="127" name="TextBox 127"/>
          <p:cNvSpPr txBox="1">
            <a:spLocks noGrp="1"/>
          </p:cNvSpPr>
          <p:nvPr/>
        </p:nvSpPr>
        <p:spPr>
          <a:xfrm>
            <a:off x="3703320" y="3995928"/>
            <a:ext cx="667512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Docker + CI/CD: Reproducible en cualquier entorno cloud</a:t>
            </a:r>
          </a:p>
        </p:txBody>
      </p:sp>
      <p:sp>
        <p:nvSpPr>
          <p:cNvPr id="128" name="Rect 128"/>
          <p:cNvSpPr>
            <a:spLocks noGrp="1"/>
          </p:cNvSpPr>
          <p:nvPr/>
        </p:nvSpPr>
        <p:spPr>
          <a:xfrm>
            <a:off x="502920" y="4453128"/>
            <a:ext cx="987552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9" name="Rect 129"/>
          <p:cNvSpPr>
            <a:spLocks noGrp="1"/>
          </p:cNvSpPr>
          <p:nvPr/>
        </p:nvSpPr>
        <p:spPr>
          <a:xfrm>
            <a:off x="502920" y="4453128"/>
            <a:ext cx="91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30" name="TextBox 130"/>
          <p:cNvSpPr txBox="1">
            <a:spLocks noGrp="1"/>
          </p:cNvSpPr>
          <p:nvPr/>
        </p:nvSpPr>
        <p:spPr>
          <a:xfrm>
            <a:off x="685800" y="4471416"/>
            <a:ext cx="292608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Compatibilidad</a:t>
            </a:r>
          </a:p>
        </p:txBody>
      </p:sp>
      <p:sp>
        <p:nvSpPr>
          <p:cNvPr id="131" name="TextBox 131"/>
          <p:cNvSpPr txBox="1">
            <a:spLocks noGrp="1"/>
          </p:cNvSpPr>
          <p:nvPr/>
        </p:nvSpPr>
        <p:spPr>
          <a:xfrm>
            <a:off x="3703320" y="4471416"/>
            <a:ext cx="6675120" cy="228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Arquitectura REST: API desacoplada · Angular independiente</a:t>
            </a:r>
          </a:p>
        </p:txBody>
      </p:sp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93505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12  |  Resumen Integral de Métricas – Dashboard de Calidad</a:t>
            </a:r>
          </a:p>
        </p:txBody>
      </p:sp>
      <p:sp>
        <p:nvSpPr>
          <p:cNvPr id="102" name="Rect 102"/>
          <p:cNvSpPr>
            <a:spLocks noGrp="1"/>
          </p:cNvSpPr>
          <p:nvPr/>
        </p:nvSpPr>
        <p:spPr>
          <a:xfrm>
            <a:off x="502920" y="1234440"/>
            <a:ext cx="3108960" cy="38404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3" name="TextBox 103"/>
          <p:cNvSpPr txBox="1">
            <a:spLocks noGrp="1"/>
          </p:cNvSpPr>
          <p:nvPr/>
        </p:nvSpPr>
        <p:spPr>
          <a:xfrm>
            <a:off x="594360" y="1271016"/>
            <a:ext cx="310896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FFFFFF"/>
                </a:solidFill>
                <a:latin typeface="Calibri"/>
              </a:rPr>
              <a:t>SonarQube</a:t>
            </a:r>
          </a:p>
        </p:txBody>
      </p:sp>
      <p:sp>
        <p:nvSpPr>
          <p:cNvPr id="104" name="Rect 104"/>
          <p:cNvSpPr>
            <a:spLocks noGrp="1"/>
          </p:cNvSpPr>
          <p:nvPr/>
        </p:nvSpPr>
        <p:spPr>
          <a:xfrm>
            <a:off x="502920" y="1691640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5" name="TextBox 105"/>
          <p:cNvSpPr txBox="1">
            <a:spLocks noGrp="1"/>
          </p:cNvSpPr>
          <p:nvPr/>
        </p:nvSpPr>
        <p:spPr>
          <a:xfrm>
            <a:off x="594360" y="1764792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Quality Gate:</a:t>
            </a:r>
          </a:p>
        </p:txBody>
      </p:sp>
      <p:sp>
        <p:nvSpPr>
          <p:cNvPr id="106" name="TextBox 106"/>
          <p:cNvSpPr txBox="1">
            <a:spLocks noGrp="1"/>
          </p:cNvSpPr>
          <p:nvPr/>
        </p:nvSpPr>
        <p:spPr>
          <a:xfrm>
            <a:off x="2240280" y="1764792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PASSED</a:t>
            </a:r>
          </a:p>
        </p:txBody>
      </p:sp>
      <p:sp>
        <p:nvSpPr>
          <p:cNvPr id="107" name="Rect 107"/>
          <p:cNvSpPr>
            <a:spLocks noGrp="1"/>
          </p:cNvSpPr>
          <p:nvPr/>
        </p:nvSpPr>
        <p:spPr>
          <a:xfrm>
            <a:off x="502920" y="2167128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8" name="TextBox 108"/>
          <p:cNvSpPr txBox="1">
            <a:spLocks noGrp="1"/>
          </p:cNvSpPr>
          <p:nvPr/>
        </p:nvSpPr>
        <p:spPr>
          <a:xfrm>
            <a:off x="594360" y="2240280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Security:</a:t>
            </a:r>
          </a:p>
        </p:txBody>
      </p:sp>
      <p:sp>
        <p:nvSpPr>
          <p:cNvPr id="109" name="TextBox 109"/>
          <p:cNvSpPr txBox="1">
            <a:spLocks noGrp="1"/>
          </p:cNvSpPr>
          <p:nvPr/>
        </p:nvSpPr>
        <p:spPr>
          <a:xfrm>
            <a:off x="2240280" y="2240280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A (0 issues)</a:t>
            </a:r>
          </a:p>
        </p:txBody>
      </p:sp>
      <p:sp>
        <p:nvSpPr>
          <p:cNvPr id="110" name="Rect 110"/>
          <p:cNvSpPr>
            <a:spLocks noGrp="1"/>
          </p:cNvSpPr>
          <p:nvPr/>
        </p:nvSpPr>
        <p:spPr>
          <a:xfrm>
            <a:off x="502920" y="2642616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1" name="TextBox 111"/>
          <p:cNvSpPr txBox="1">
            <a:spLocks noGrp="1"/>
          </p:cNvSpPr>
          <p:nvPr/>
        </p:nvSpPr>
        <p:spPr>
          <a:xfrm>
            <a:off x="594360" y="2715768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Reliability:</a:t>
            </a:r>
          </a:p>
        </p:txBody>
      </p:sp>
      <p:sp>
        <p:nvSpPr>
          <p:cNvPr id="112" name="TextBox 112"/>
          <p:cNvSpPr txBox="1">
            <a:spLocks noGrp="1"/>
          </p:cNvSpPr>
          <p:nvPr/>
        </p:nvSpPr>
        <p:spPr>
          <a:xfrm>
            <a:off x="2240280" y="2715768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A (0 issues)</a:t>
            </a:r>
          </a:p>
        </p:txBody>
      </p:sp>
      <p:sp>
        <p:nvSpPr>
          <p:cNvPr id="113" name="Rect 113"/>
          <p:cNvSpPr>
            <a:spLocks noGrp="1"/>
          </p:cNvSpPr>
          <p:nvPr/>
        </p:nvSpPr>
        <p:spPr>
          <a:xfrm>
            <a:off x="502920" y="3118104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4" name="TextBox 114"/>
          <p:cNvSpPr txBox="1">
            <a:spLocks noGrp="1"/>
          </p:cNvSpPr>
          <p:nvPr/>
        </p:nvSpPr>
        <p:spPr>
          <a:xfrm>
            <a:off x="594360" y="3191256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Maintainability:</a:t>
            </a:r>
          </a:p>
        </p:txBody>
      </p:sp>
      <p:sp>
        <p:nvSpPr>
          <p:cNvPr id="115" name="TextBox 115"/>
          <p:cNvSpPr txBox="1">
            <a:spLocks noGrp="1"/>
          </p:cNvSpPr>
          <p:nvPr/>
        </p:nvSpPr>
        <p:spPr>
          <a:xfrm>
            <a:off x="2240280" y="3191256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A</a:t>
            </a:r>
          </a:p>
        </p:txBody>
      </p:sp>
      <p:sp>
        <p:nvSpPr>
          <p:cNvPr id="116" name="Rect 116"/>
          <p:cNvSpPr>
            <a:spLocks noGrp="1"/>
          </p:cNvSpPr>
          <p:nvPr/>
        </p:nvSpPr>
        <p:spPr>
          <a:xfrm>
            <a:off x="502920" y="3593592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7" name="TextBox 117"/>
          <p:cNvSpPr txBox="1">
            <a:spLocks noGrp="1"/>
          </p:cNvSpPr>
          <p:nvPr/>
        </p:nvSpPr>
        <p:spPr>
          <a:xfrm>
            <a:off x="594360" y="3666744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Coverage:</a:t>
            </a:r>
          </a:p>
        </p:txBody>
      </p:sp>
      <p:sp>
        <p:nvSpPr>
          <p:cNvPr id="118" name="TextBox 118"/>
          <p:cNvSpPr txBox="1">
            <a:spLocks noGrp="1"/>
          </p:cNvSpPr>
          <p:nvPr/>
        </p:nvSpPr>
        <p:spPr>
          <a:xfrm>
            <a:off x="2240280" y="3666744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84.2%</a:t>
            </a:r>
          </a:p>
        </p:txBody>
      </p:sp>
      <p:sp>
        <p:nvSpPr>
          <p:cNvPr id="119" name="Rect 119"/>
          <p:cNvSpPr>
            <a:spLocks noGrp="1"/>
          </p:cNvSpPr>
          <p:nvPr/>
        </p:nvSpPr>
        <p:spPr>
          <a:xfrm>
            <a:off x="502920" y="4069080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0" name="TextBox 120"/>
          <p:cNvSpPr txBox="1">
            <a:spLocks noGrp="1"/>
          </p:cNvSpPr>
          <p:nvPr/>
        </p:nvSpPr>
        <p:spPr>
          <a:xfrm>
            <a:off x="594360" y="4142232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Duplications:</a:t>
            </a:r>
          </a:p>
        </p:txBody>
      </p:sp>
      <p:sp>
        <p:nvSpPr>
          <p:cNvPr id="121" name="TextBox 121"/>
          <p:cNvSpPr txBox="1">
            <a:spLocks noGrp="1"/>
          </p:cNvSpPr>
          <p:nvPr/>
        </p:nvSpPr>
        <p:spPr>
          <a:xfrm>
            <a:off x="2240280" y="4142232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0.0%</a:t>
            </a:r>
          </a:p>
        </p:txBody>
      </p:sp>
      <p:sp>
        <p:nvSpPr>
          <p:cNvPr id="122" name="Rect 122"/>
          <p:cNvSpPr>
            <a:spLocks noGrp="1"/>
          </p:cNvSpPr>
          <p:nvPr/>
        </p:nvSpPr>
        <p:spPr>
          <a:xfrm>
            <a:off x="3749040" y="1234440"/>
            <a:ext cx="3108960" cy="38404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3" name="TextBox 123"/>
          <p:cNvSpPr txBox="1">
            <a:spLocks noGrp="1"/>
          </p:cNvSpPr>
          <p:nvPr/>
        </p:nvSpPr>
        <p:spPr>
          <a:xfrm>
            <a:off x="3840480" y="1271016"/>
            <a:ext cx="310896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FFFFFF"/>
                </a:solidFill>
                <a:latin typeface="Calibri"/>
              </a:rPr>
              <a:t>JMeter</a:t>
            </a:r>
          </a:p>
        </p:txBody>
      </p:sp>
      <p:sp>
        <p:nvSpPr>
          <p:cNvPr id="124" name="Rect 124"/>
          <p:cNvSpPr>
            <a:spLocks noGrp="1"/>
          </p:cNvSpPr>
          <p:nvPr/>
        </p:nvSpPr>
        <p:spPr>
          <a:xfrm>
            <a:off x="3749040" y="1691640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5" name="TextBox 125"/>
          <p:cNvSpPr txBox="1">
            <a:spLocks noGrp="1"/>
          </p:cNvSpPr>
          <p:nvPr/>
        </p:nvSpPr>
        <p:spPr>
          <a:xfrm>
            <a:off x="3840480" y="1764792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Total requests:</a:t>
            </a:r>
          </a:p>
        </p:txBody>
      </p:sp>
      <p:sp>
        <p:nvSpPr>
          <p:cNvPr id="126" name="TextBox 126"/>
          <p:cNvSpPr txBox="1">
            <a:spLocks noGrp="1"/>
          </p:cNvSpPr>
          <p:nvPr/>
        </p:nvSpPr>
        <p:spPr>
          <a:xfrm>
            <a:off x="5486400" y="1764792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975</a:t>
            </a:r>
          </a:p>
        </p:txBody>
      </p:sp>
      <p:sp>
        <p:nvSpPr>
          <p:cNvPr id="127" name="Rect 127"/>
          <p:cNvSpPr>
            <a:spLocks noGrp="1"/>
          </p:cNvSpPr>
          <p:nvPr/>
        </p:nvSpPr>
        <p:spPr>
          <a:xfrm>
            <a:off x="3749040" y="2167128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8" name="TextBox 128"/>
          <p:cNvSpPr txBox="1">
            <a:spLocks noGrp="1"/>
          </p:cNvSpPr>
          <p:nvPr/>
        </p:nvSpPr>
        <p:spPr>
          <a:xfrm>
            <a:off x="3840480" y="2240280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Error rate:</a:t>
            </a:r>
          </a:p>
        </p:txBody>
      </p:sp>
      <p:sp>
        <p:nvSpPr>
          <p:cNvPr id="129" name="TextBox 129"/>
          <p:cNvSpPr txBox="1">
            <a:spLocks noGrp="1"/>
          </p:cNvSpPr>
          <p:nvPr/>
        </p:nvSpPr>
        <p:spPr>
          <a:xfrm>
            <a:off x="5486400" y="2240280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0.00%</a:t>
            </a:r>
          </a:p>
        </p:txBody>
      </p:sp>
      <p:sp>
        <p:nvSpPr>
          <p:cNvPr id="130" name="Rect 130"/>
          <p:cNvSpPr>
            <a:spLocks noGrp="1"/>
          </p:cNvSpPr>
          <p:nvPr/>
        </p:nvSpPr>
        <p:spPr>
          <a:xfrm>
            <a:off x="3749040" y="2642616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31" name="TextBox 131"/>
          <p:cNvSpPr txBox="1">
            <a:spLocks noGrp="1"/>
          </p:cNvSpPr>
          <p:nvPr/>
        </p:nvSpPr>
        <p:spPr>
          <a:xfrm>
            <a:off x="3840480" y="2715768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Avg response:</a:t>
            </a:r>
          </a:p>
        </p:txBody>
      </p:sp>
      <p:sp>
        <p:nvSpPr>
          <p:cNvPr id="132" name="TextBox 132"/>
          <p:cNvSpPr txBox="1">
            <a:spLocks noGrp="1"/>
          </p:cNvSpPr>
          <p:nvPr/>
        </p:nvSpPr>
        <p:spPr>
          <a:xfrm>
            <a:off x="5486400" y="2715768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9.07 ms</a:t>
            </a:r>
          </a:p>
        </p:txBody>
      </p:sp>
      <p:sp>
        <p:nvSpPr>
          <p:cNvPr id="133" name="Rect 133"/>
          <p:cNvSpPr>
            <a:spLocks noGrp="1"/>
          </p:cNvSpPr>
          <p:nvPr/>
        </p:nvSpPr>
        <p:spPr>
          <a:xfrm>
            <a:off x="3749040" y="3118104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34" name="TextBox 134"/>
          <p:cNvSpPr txBox="1">
            <a:spLocks noGrp="1"/>
          </p:cNvSpPr>
          <p:nvPr/>
        </p:nvSpPr>
        <p:spPr>
          <a:xfrm>
            <a:off x="3840480" y="3191256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Throughput:</a:t>
            </a:r>
          </a:p>
        </p:txBody>
      </p:sp>
      <p:sp>
        <p:nvSpPr>
          <p:cNvPr id="135" name="TextBox 135"/>
          <p:cNvSpPr txBox="1">
            <a:spLocks noGrp="1"/>
          </p:cNvSpPr>
          <p:nvPr/>
        </p:nvSpPr>
        <p:spPr>
          <a:xfrm>
            <a:off x="5486400" y="3191256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17.17 tx/s</a:t>
            </a:r>
          </a:p>
        </p:txBody>
      </p:sp>
      <p:sp>
        <p:nvSpPr>
          <p:cNvPr id="136" name="Rect 136"/>
          <p:cNvSpPr>
            <a:spLocks noGrp="1"/>
          </p:cNvSpPr>
          <p:nvPr/>
        </p:nvSpPr>
        <p:spPr>
          <a:xfrm>
            <a:off x="3749040" y="3593592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37" name="TextBox 137"/>
          <p:cNvSpPr txBox="1">
            <a:spLocks noGrp="1"/>
          </p:cNvSpPr>
          <p:nvPr/>
        </p:nvSpPr>
        <p:spPr>
          <a:xfrm>
            <a:off x="3840480" y="3666744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Apdex:</a:t>
            </a:r>
          </a:p>
        </p:txBody>
      </p:sp>
      <p:sp>
        <p:nvSpPr>
          <p:cNvPr id="138" name="TextBox 138"/>
          <p:cNvSpPr txBox="1">
            <a:spLocks noGrp="1"/>
          </p:cNvSpPr>
          <p:nvPr/>
        </p:nvSpPr>
        <p:spPr>
          <a:xfrm>
            <a:off x="5486400" y="3666744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1.000</a:t>
            </a:r>
          </a:p>
        </p:txBody>
      </p:sp>
      <p:sp>
        <p:nvSpPr>
          <p:cNvPr id="139" name="Rect 139"/>
          <p:cNvSpPr>
            <a:spLocks noGrp="1"/>
          </p:cNvSpPr>
          <p:nvPr/>
        </p:nvSpPr>
        <p:spPr>
          <a:xfrm>
            <a:off x="3749040" y="4069080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40" name="TextBox 140"/>
          <p:cNvSpPr txBox="1">
            <a:spLocks noGrp="1"/>
          </p:cNvSpPr>
          <p:nvPr/>
        </p:nvSpPr>
        <p:spPr>
          <a:xfrm>
            <a:off x="3840480" y="4142232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Scenarios:</a:t>
            </a:r>
          </a:p>
        </p:txBody>
      </p:sp>
      <p:sp>
        <p:nvSpPr>
          <p:cNvPr id="141" name="TextBox 141"/>
          <p:cNvSpPr txBox="1">
            <a:spLocks noGrp="1"/>
          </p:cNvSpPr>
          <p:nvPr/>
        </p:nvSpPr>
        <p:spPr>
          <a:xfrm>
            <a:off x="5486400" y="4142232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3 (N/L/S)</a:t>
            </a:r>
          </a:p>
        </p:txBody>
      </p:sp>
      <p:sp>
        <p:nvSpPr>
          <p:cNvPr id="142" name="Rect 142"/>
          <p:cNvSpPr>
            <a:spLocks noGrp="1"/>
          </p:cNvSpPr>
          <p:nvPr/>
        </p:nvSpPr>
        <p:spPr>
          <a:xfrm>
            <a:off x="6995160" y="1234440"/>
            <a:ext cx="3108960" cy="38404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43" name="TextBox 143"/>
          <p:cNvSpPr txBox="1">
            <a:spLocks noGrp="1"/>
          </p:cNvSpPr>
          <p:nvPr/>
        </p:nvSpPr>
        <p:spPr>
          <a:xfrm>
            <a:off x="7086600" y="1271016"/>
            <a:ext cx="310896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500" b="1" dirty="0">
                <a:solidFill>
                  <a:srgbClr val="FFFFFF"/>
                </a:solidFill>
                <a:latin typeface="Calibri"/>
              </a:rPr>
              <a:t>Selenium</a:t>
            </a:r>
          </a:p>
        </p:txBody>
      </p:sp>
      <p:sp>
        <p:nvSpPr>
          <p:cNvPr id="144" name="Rect 144"/>
          <p:cNvSpPr>
            <a:spLocks noGrp="1"/>
          </p:cNvSpPr>
          <p:nvPr/>
        </p:nvSpPr>
        <p:spPr>
          <a:xfrm>
            <a:off x="6995160" y="1691640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45" name="TextBox 145"/>
          <p:cNvSpPr txBox="1">
            <a:spLocks noGrp="1"/>
          </p:cNvSpPr>
          <p:nvPr/>
        </p:nvSpPr>
        <p:spPr>
          <a:xfrm>
            <a:off x="7086600" y="1764792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Test cases:</a:t>
            </a:r>
          </a:p>
        </p:txBody>
      </p:sp>
      <p:sp>
        <p:nvSpPr>
          <p:cNvPr id="146" name="TextBox 146"/>
          <p:cNvSpPr txBox="1">
            <a:spLocks noGrp="1"/>
          </p:cNvSpPr>
          <p:nvPr/>
        </p:nvSpPr>
        <p:spPr>
          <a:xfrm>
            <a:off x="8732520" y="1764792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7</a:t>
            </a:r>
          </a:p>
        </p:txBody>
      </p:sp>
      <p:sp>
        <p:nvSpPr>
          <p:cNvPr id="147" name="Rect 147"/>
          <p:cNvSpPr>
            <a:spLocks noGrp="1"/>
          </p:cNvSpPr>
          <p:nvPr/>
        </p:nvSpPr>
        <p:spPr>
          <a:xfrm>
            <a:off x="6995160" y="2167128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48" name="TextBox 148"/>
          <p:cNvSpPr txBox="1">
            <a:spLocks noGrp="1"/>
          </p:cNvSpPr>
          <p:nvPr/>
        </p:nvSpPr>
        <p:spPr>
          <a:xfrm>
            <a:off x="7086600" y="2240280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Failures:</a:t>
            </a:r>
          </a:p>
        </p:txBody>
      </p:sp>
      <p:sp>
        <p:nvSpPr>
          <p:cNvPr id="149" name="TextBox 149"/>
          <p:cNvSpPr txBox="1">
            <a:spLocks noGrp="1"/>
          </p:cNvSpPr>
          <p:nvPr/>
        </p:nvSpPr>
        <p:spPr>
          <a:xfrm>
            <a:off x="8732520" y="2240280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0</a:t>
            </a:r>
          </a:p>
        </p:txBody>
      </p:sp>
      <p:sp>
        <p:nvSpPr>
          <p:cNvPr id="150" name="Rect 150"/>
          <p:cNvSpPr>
            <a:spLocks noGrp="1"/>
          </p:cNvSpPr>
          <p:nvPr/>
        </p:nvSpPr>
        <p:spPr>
          <a:xfrm>
            <a:off x="6995160" y="2642616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51" name="TextBox 151"/>
          <p:cNvSpPr txBox="1">
            <a:spLocks noGrp="1"/>
          </p:cNvSpPr>
          <p:nvPr/>
        </p:nvSpPr>
        <p:spPr>
          <a:xfrm>
            <a:off x="7086600" y="2715768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Errors:</a:t>
            </a:r>
          </a:p>
        </p:txBody>
      </p:sp>
      <p:sp>
        <p:nvSpPr>
          <p:cNvPr id="152" name="TextBox 152"/>
          <p:cNvSpPr txBox="1">
            <a:spLocks noGrp="1"/>
          </p:cNvSpPr>
          <p:nvPr/>
        </p:nvSpPr>
        <p:spPr>
          <a:xfrm>
            <a:off x="8732520" y="2715768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0</a:t>
            </a:r>
          </a:p>
        </p:txBody>
      </p:sp>
      <p:sp>
        <p:nvSpPr>
          <p:cNvPr id="153" name="Rect 153"/>
          <p:cNvSpPr>
            <a:spLocks noGrp="1"/>
          </p:cNvSpPr>
          <p:nvPr/>
        </p:nvSpPr>
        <p:spPr>
          <a:xfrm>
            <a:off x="6995160" y="3118104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54" name="TextBox 154"/>
          <p:cNvSpPr txBox="1">
            <a:spLocks noGrp="1"/>
          </p:cNvSpPr>
          <p:nvPr/>
        </p:nvSpPr>
        <p:spPr>
          <a:xfrm>
            <a:off x="7086600" y="3191256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Pattern:</a:t>
            </a:r>
          </a:p>
        </p:txBody>
      </p:sp>
      <p:sp>
        <p:nvSpPr>
          <p:cNvPr id="155" name="TextBox 155"/>
          <p:cNvSpPr txBox="1">
            <a:spLocks noGrp="1"/>
          </p:cNvSpPr>
          <p:nvPr/>
        </p:nvSpPr>
        <p:spPr>
          <a:xfrm>
            <a:off x="8732520" y="3191256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POM</a:t>
            </a:r>
          </a:p>
        </p:txBody>
      </p:sp>
      <p:sp>
        <p:nvSpPr>
          <p:cNvPr id="156" name="Rect 156"/>
          <p:cNvSpPr>
            <a:spLocks noGrp="1"/>
          </p:cNvSpPr>
          <p:nvPr/>
        </p:nvSpPr>
        <p:spPr>
          <a:xfrm>
            <a:off x="6995160" y="3593592"/>
            <a:ext cx="310896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57" name="TextBox 157"/>
          <p:cNvSpPr txBox="1">
            <a:spLocks noGrp="1"/>
          </p:cNvSpPr>
          <p:nvPr/>
        </p:nvSpPr>
        <p:spPr>
          <a:xfrm>
            <a:off x="7086600" y="3666744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Browsers:</a:t>
            </a:r>
          </a:p>
        </p:txBody>
      </p:sp>
      <p:sp>
        <p:nvSpPr>
          <p:cNvPr id="158" name="TextBox 158"/>
          <p:cNvSpPr txBox="1">
            <a:spLocks noGrp="1"/>
          </p:cNvSpPr>
          <p:nvPr/>
        </p:nvSpPr>
        <p:spPr>
          <a:xfrm>
            <a:off x="8732520" y="3666744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Brave + Chrome</a:t>
            </a:r>
          </a:p>
        </p:txBody>
      </p:sp>
      <p:sp>
        <p:nvSpPr>
          <p:cNvPr id="159" name="Rect 159"/>
          <p:cNvSpPr>
            <a:spLocks noGrp="1"/>
          </p:cNvSpPr>
          <p:nvPr/>
        </p:nvSpPr>
        <p:spPr>
          <a:xfrm>
            <a:off x="6995160" y="4069080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60" name="TextBox 160"/>
          <p:cNvSpPr txBox="1">
            <a:spLocks noGrp="1"/>
          </p:cNvSpPr>
          <p:nvPr/>
        </p:nvSpPr>
        <p:spPr>
          <a:xfrm>
            <a:off x="7086600" y="4142232"/>
            <a:ext cx="164592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CI mode:</a:t>
            </a:r>
          </a:p>
        </p:txBody>
      </p:sp>
      <p:sp>
        <p:nvSpPr>
          <p:cNvPr id="161" name="TextBox 161"/>
          <p:cNvSpPr txBox="1">
            <a:spLocks noGrp="1"/>
          </p:cNvSpPr>
          <p:nvPr/>
        </p:nvSpPr>
        <p:spPr>
          <a:xfrm>
            <a:off x="8732520" y="4142232"/>
            <a:ext cx="1280160" cy="310896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1E2B4F"/>
                </a:solidFill>
                <a:latin typeface="Calibri"/>
              </a:rPr>
              <a:t>Headless</a:t>
            </a:r>
          </a:p>
        </p:txBody>
      </p:sp>
      <p:sp>
        <p:nvSpPr>
          <p:cNvPr id="162" name="Rect 162"/>
          <p:cNvSpPr>
            <a:spLocks noGrp="1"/>
          </p:cNvSpPr>
          <p:nvPr/>
        </p:nvSpPr>
        <p:spPr>
          <a:xfrm>
            <a:off x="502920" y="4617720"/>
            <a:ext cx="9875520" cy="38404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63" name="TextBox 163"/>
          <p:cNvSpPr txBox="1">
            <a:spLocks noGrp="1"/>
          </p:cNvSpPr>
          <p:nvPr/>
        </p:nvSpPr>
        <p:spPr>
          <a:xfrm>
            <a:off x="685800" y="4672584"/>
            <a:ext cx="987552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FFFFFF"/>
                </a:solidFill>
                <a:latin typeface="Calibri"/>
              </a:rPr>
              <a:t>Todos los Quality Gates aprobados  ·  0% tasa de error  ·  Apdex 1.000  ·  GitHub Actions en verde</a:t>
            </a:r>
          </a:p>
        </p:txBody>
      </p:sp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100" name="Rect 100"/>
          <p:cNvSpPr>
            <a:spLocks noGrp="1"/>
          </p:cNvSpPr>
          <p:nvPr/>
        </p:nvSpPr>
        <p:spPr>
          <a:xfrm>
            <a:off x="502920" y="502920"/>
            <a:ext cx="8983980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1" name="TextBox 101"/>
          <p:cNvSpPr txBox="1">
            <a:spLocks noGrp="1"/>
          </p:cNvSpPr>
          <p:nvPr/>
        </p:nvSpPr>
        <p:spPr>
          <a:xfrm>
            <a:off x="667512" y="548640"/>
            <a:ext cx="960120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13  |  Lecciones Aprendidas y Buenas Practicas</a:t>
            </a:r>
          </a:p>
        </p:txBody>
      </p:sp>
      <p:sp>
        <p:nvSpPr>
          <p:cNvPr id="102" name="Rect 102"/>
          <p:cNvSpPr>
            <a:spLocks noGrp="1"/>
          </p:cNvSpPr>
          <p:nvPr/>
        </p:nvSpPr>
        <p:spPr>
          <a:xfrm>
            <a:off x="502920" y="1234440"/>
            <a:ext cx="987552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3" name="Rect 103"/>
          <p:cNvSpPr>
            <a:spLocks noGrp="1"/>
          </p:cNvSpPr>
          <p:nvPr/>
        </p:nvSpPr>
        <p:spPr>
          <a:xfrm>
            <a:off x="502920" y="1234440"/>
            <a:ext cx="9144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4" name="TextBox 104"/>
          <p:cNvSpPr txBox="1">
            <a:spLocks noGrp="1"/>
          </p:cNvSpPr>
          <p:nvPr/>
        </p:nvSpPr>
        <p:spPr>
          <a:xfrm>
            <a:off x="685800" y="1271016"/>
            <a:ext cx="9601200" cy="29260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1. Aislamiento de Entornos</a:t>
            </a:r>
          </a:p>
        </p:txBody>
      </p:sp>
      <p:sp>
        <p:nvSpPr>
          <p:cNvPr id="105" name="TextBox 105"/>
          <p:cNvSpPr txBox="1">
            <a:spLocks noGrp="1"/>
          </p:cNvSpPr>
          <p:nvPr/>
        </p:nvSpPr>
        <p:spPr>
          <a:xfrm>
            <a:off x="685800" y="1581912"/>
            <a:ext cx="960120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Separar MySQL (producción) de H2 (CI/CD) permite pipelines ágiles sin comprometer datos reales.</a:t>
            </a:r>
          </a:p>
        </p:txBody>
      </p:sp>
      <p:sp>
        <p:nvSpPr>
          <p:cNvPr id="106" name="Rect 106"/>
          <p:cNvSpPr>
            <a:spLocks noGrp="1"/>
          </p:cNvSpPr>
          <p:nvPr/>
        </p:nvSpPr>
        <p:spPr>
          <a:xfrm>
            <a:off x="502920" y="2039112"/>
            <a:ext cx="987552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7" name="Rect 107"/>
          <p:cNvSpPr>
            <a:spLocks noGrp="1"/>
          </p:cNvSpPr>
          <p:nvPr/>
        </p:nvSpPr>
        <p:spPr>
          <a:xfrm>
            <a:off x="502920" y="2039112"/>
            <a:ext cx="9144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08" name="TextBox 108"/>
          <p:cNvSpPr txBox="1">
            <a:spLocks noGrp="1"/>
          </p:cNvSpPr>
          <p:nvPr/>
        </p:nvSpPr>
        <p:spPr>
          <a:xfrm>
            <a:off x="685800" y="2075688"/>
            <a:ext cx="9601200" cy="29260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2. Automatización como Cultura</a:t>
            </a:r>
          </a:p>
        </p:txBody>
      </p:sp>
      <p:sp>
        <p:nvSpPr>
          <p:cNvPr id="109" name="TextBox 109"/>
          <p:cNvSpPr txBox="1">
            <a:spLocks noGrp="1"/>
          </p:cNvSpPr>
          <p:nvPr/>
        </p:nvSpPr>
        <p:spPr>
          <a:xfrm>
            <a:off x="685800" y="2386584"/>
            <a:ext cx="960120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Cada commit activa JaCoCo + Selenium automáticamente. Calidad continua, no eventual.</a:t>
            </a:r>
          </a:p>
        </p:txBody>
      </p:sp>
      <p:sp>
        <p:nvSpPr>
          <p:cNvPr id="110" name="Rect 110"/>
          <p:cNvSpPr>
            <a:spLocks noGrp="1"/>
          </p:cNvSpPr>
          <p:nvPr/>
        </p:nvSpPr>
        <p:spPr>
          <a:xfrm>
            <a:off x="502920" y="2843784"/>
            <a:ext cx="987552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1" name="Rect 111"/>
          <p:cNvSpPr>
            <a:spLocks noGrp="1"/>
          </p:cNvSpPr>
          <p:nvPr/>
        </p:nvSpPr>
        <p:spPr>
          <a:xfrm>
            <a:off x="502920" y="2843784"/>
            <a:ext cx="9144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2" name="TextBox 112"/>
          <p:cNvSpPr txBox="1">
            <a:spLocks noGrp="1"/>
          </p:cNvSpPr>
          <p:nvPr/>
        </p:nvSpPr>
        <p:spPr>
          <a:xfrm>
            <a:off x="685800" y="2880360"/>
            <a:ext cx="9601200" cy="29260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3. Rendimiento desde el Diseño</a:t>
            </a:r>
          </a:p>
        </p:txBody>
      </p:sp>
      <p:sp>
        <p:nvSpPr>
          <p:cNvPr id="113" name="TextBox 113"/>
          <p:cNvSpPr txBox="1">
            <a:spLocks noGrp="1"/>
          </p:cNvSpPr>
          <p:nvPr/>
        </p:nvSpPr>
        <p:spPr>
          <a:xfrm>
            <a:off x="685800" y="3191256"/>
            <a:ext cx="960120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9.07 ms bajo 50 usuarios concurrentes. Apdex 1.000. Spring Boot correctamente dimensionado.</a:t>
            </a:r>
          </a:p>
        </p:txBody>
      </p:sp>
      <p:sp>
        <p:nvSpPr>
          <p:cNvPr id="114" name="Rect 114"/>
          <p:cNvSpPr>
            <a:spLocks noGrp="1"/>
          </p:cNvSpPr>
          <p:nvPr/>
        </p:nvSpPr>
        <p:spPr>
          <a:xfrm>
            <a:off x="502920" y="3648456"/>
            <a:ext cx="987552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5" name="Rect 115"/>
          <p:cNvSpPr>
            <a:spLocks noGrp="1"/>
          </p:cNvSpPr>
          <p:nvPr/>
        </p:nvSpPr>
        <p:spPr>
          <a:xfrm>
            <a:off x="502920" y="3648456"/>
            <a:ext cx="9144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6" name="TextBox 116"/>
          <p:cNvSpPr txBox="1">
            <a:spLocks noGrp="1"/>
          </p:cNvSpPr>
          <p:nvPr/>
        </p:nvSpPr>
        <p:spPr>
          <a:xfrm>
            <a:off x="685800" y="3685032"/>
            <a:ext cx="9601200" cy="29260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4. Análisis Estático Preventivo</a:t>
            </a:r>
          </a:p>
        </p:txBody>
      </p:sp>
      <p:sp>
        <p:nvSpPr>
          <p:cNvPr id="117" name="TextBox 117"/>
          <p:cNvSpPr txBox="1">
            <a:spLocks noGrp="1"/>
          </p:cNvSpPr>
          <p:nvPr/>
        </p:nvSpPr>
        <p:spPr>
          <a:xfrm>
            <a:off x="685800" y="3995928"/>
            <a:ext cx="960120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SonarQube identificó deuda técnica antes de integrar. Javadoc y refactorización elevan la mantenibilidad a A.</a:t>
            </a:r>
          </a:p>
        </p:txBody>
      </p:sp>
      <p:sp>
        <p:nvSpPr>
          <p:cNvPr id="118" name="Rect 118"/>
          <p:cNvSpPr>
            <a:spLocks noGrp="1"/>
          </p:cNvSpPr>
          <p:nvPr/>
        </p:nvSpPr>
        <p:spPr>
          <a:xfrm>
            <a:off x="502920" y="4453128"/>
            <a:ext cx="987552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9" name="Rect 119"/>
          <p:cNvSpPr>
            <a:spLocks noGrp="1"/>
          </p:cNvSpPr>
          <p:nvPr/>
        </p:nvSpPr>
        <p:spPr>
          <a:xfrm>
            <a:off x="502920" y="4453128"/>
            <a:ext cx="9144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20" name="TextBox 120"/>
          <p:cNvSpPr txBox="1">
            <a:spLocks noGrp="1"/>
          </p:cNvSpPr>
          <p:nvPr/>
        </p:nvSpPr>
        <p:spPr>
          <a:xfrm>
            <a:off x="685800" y="4489704"/>
            <a:ext cx="9601200" cy="292608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5. POM como Estándar de Escalabilidad</a:t>
            </a:r>
          </a:p>
        </p:txBody>
      </p:sp>
      <p:sp>
        <p:nvSpPr>
          <p:cNvPr id="121" name="TextBox 121"/>
          <p:cNvSpPr txBox="1">
            <a:spLocks noGrp="1"/>
          </p:cNvSpPr>
          <p:nvPr/>
        </p:nvSpPr>
        <p:spPr>
          <a:xfrm>
            <a:off x="685800" y="4800600"/>
            <a:ext cx="9601200" cy="329184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Page Object Model permite mantener pruebas fácilmente. Solo se modifica el Page Object, no los tests.</a:t>
            </a:r>
          </a:p>
        </p:txBody>
      </p:sp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300" name="Rect 300"/>
          <p:cNvSpPr>
            <a:spLocks noGrp="1"/>
          </p:cNvSpPr>
          <p:nvPr/>
        </p:nvSpPr>
        <p:spPr>
          <a:xfrm>
            <a:off x="502920" y="502920"/>
            <a:ext cx="11186160" cy="566928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1" name="TextBox 301"/>
          <p:cNvSpPr txBox="1">
            <a:spLocks noGrp="1"/>
          </p:cNvSpPr>
          <p:nvPr/>
        </p:nvSpPr>
        <p:spPr>
          <a:xfrm>
            <a:off x="667512" y="521207"/>
            <a:ext cx="10911840" cy="5029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2200" b="1" dirty="0">
                <a:solidFill>
                  <a:srgbClr val="FFFFFF"/>
                </a:solidFill>
                <a:latin typeface="Calibri"/>
              </a:rPr>
              <a:t>  Densidad de Defectos (Defect Density) – Métricas de Calidad</a:t>
            </a:r>
          </a:p>
        </p:txBody>
      </p:sp>
      <p:sp>
        <p:nvSpPr>
          <p:cNvPr id="302" name="Rect 302"/>
          <p:cNvSpPr>
            <a:spLocks noGrp="1"/>
          </p:cNvSpPr>
          <p:nvPr/>
        </p:nvSpPr>
        <p:spPr>
          <a:xfrm>
            <a:off x="502920" y="1234440"/>
            <a:ext cx="11186160" cy="47548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3" name="TextBox 303"/>
          <p:cNvSpPr txBox="1">
            <a:spLocks noGrp="1"/>
          </p:cNvSpPr>
          <p:nvPr/>
        </p:nvSpPr>
        <p:spPr>
          <a:xfrm>
            <a:off x="685800" y="1298448"/>
            <a:ext cx="1118616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400" b="1" dirty="0">
                <a:solidFill>
                  <a:srgbClr val="1E2B4F"/>
                </a:solidFill>
                <a:latin typeface="Calibri"/>
              </a:rPr>
              <a:t>Defect Density = Número de defectos / Tamaño del código (KLOC)   →   Base de código MAP Parking: 1.7 KLOC</a:t>
            </a:r>
          </a:p>
        </p:txBody>
      </p:sp>
      <p:sp>
        <p:nvSpPr>
          <p:cNvPr id="304" name="Rect 304"/>
          <p:cNvSpPr>
            <a:spLocks noGrp="1"/>
          </p:cNvSpPr>
          <p:nvPr/>
        </p:nvSpPr>
        <p:spPr>
          <a:xfrm>
            <a:off x="502920" y="1801368"/>
            <a:ext cx="11186160" cy="347472"/>
          </a:xfrm>
          <a:prstGeom prst="rect">
            <a:avLst/>
          </a:prstGeom>
          <a:solidFill>
            <a:srgbClr val="1E2B4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5" name="TextBox 305"/>
          <p:cNvSpPr txBox="1">
            <a:spLocks noGrp="1"/>
          </p:cNvSpPr>
          <p:nvPr/>
        </p:nvSpPr>
        <p:spPr>
          <a:xfrm>
            <a:off x="594360" y="1828800"/>
            <a:ext cx="11186160" cy="30175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1" dirty="0">
                <a:solidFill>
                  <a:srgbClr val="FFFFFF"/>
                </a:solidFill>
                <a:latin typeface="Calibri"/>
              </a:rPr>
              <a:t>Categoría                  Inicial    Final     Corregidos    Defect Density Final (def/KLOC)</a:t>
            </a:r>
          </a:p>
        </p:txBody>
      </p:sp>
      <p:sp>
        <p:nvSpPr>
          <p:cNvPr id="306" name="Rect 306"/>
          <p:cNvSpPr>
            <a:spLocks noGrp="1"/>
          </p:cNvSpPr>
          <p:nvPr/>
        </p:nvSpPr>
        <p:spPr>
          <a:xfrm>
            <a:off x="502920" y="2167128"/>
            <a:ext cx="11186160" cy="466344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7" name="Rect 307"/>
          <p:cNvSpPr>
            <a:spLocks noGrp="1"/>
          </p:cNvSpPr>
          <p:nvPr/>
        </p:nvSpPr>
        <p:spPr>
          <a:xfrm>
            <a:off x="502920" y="2167128"/>
            <a:ext cx="73152" cy="46634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08" name="TextBox 308"/>
          <p:cNvSpPr txBox="1">
            <a:spLocks noGrp="1"/>
          </p:cNvSpPr>
          <p:nvPr/>
        </p:nvSpPr>
        <p:spPr>
          <a:xfrm>
            <a:off x="640080" y="2221992"/>
            <a:ext cx="32004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Security (Vulnerabilidades)</a:t>
            </a:r>
          </a:p>
        </p:txBody>
      </p:sp>
      <p:sp>
        <p:nvSpPr>
          <p:cNvPr id="309" name="TextBox 309"/>
          <p:cNvSpPr txBox="1">
            <a:spLocks noGrp="1"/>
          </p:cNvSpPr>
          <p:nvPr/>
        </p:nvSpPr>
        <p:spPr>
          <a:xfrm>
            <a:off x="3886200" y="222199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8</a:t>
            </a:r>
          </a:p>
        </p:txBody>
      </p:sp>
      <p:sp>
        <p:nvSpPr>
          <p:cNvPr id="310" name="TextBox 310"/>
          <p:cNvSpPr txBox="1">
            <a:spLocks noGrp="1"/>
          </p:cNvSpPr>
          <p:nvPr/>
        </p:nvSpPr>
        <p:spPr>
          <a:xfrm>
            <a:off x="5394960" y="222199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0</a:t>
            </a:r>
          </a:p>
        </p:txBody>
      </p:sp>
      <p:sp>
        <p:nvSpPr>
          <p:cNvPr id="311" name="TextBox 311"/>
          <p:cNvSpPr txBox="1">
            <a:spLocks noGrp="1"/>
          </p:cNvSpPr>
          <p:nvPr/>
        </p:nvSpPr>
        <p:spPr>
          <a:xfrm>
            <a:off x="6903720" y="222199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8</a:t>
            </a:r>
          </a:p>
        </p:txBody>
      </p:sp>
      <p:sp>
        <p:nvSpPr>
          <p:cNvPr id="312" name="TextBox 312"/>
          <p:cNvSpPr txBox="1">
            <a:spLocks noGrp="1"/>
          </p:cNvSpPr>
          <p:nvPr/>
        </p:nvSpPr>
        <p:spPr>
          <a:xfrm>
            <a:off x="8412480" y="222199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009688"/>
                </a:solidFill>
                <a:latin typeface="Calibri"/>
              </a:rPr>
              <a:t>0.00</a:t>
            </a:r>
          </a:p>
        </p:txBody>
      </p:sp>
      <p:sp>
        <p:nvSpPr>
          <p:cNvPr id="313" name="Rect 313"/>
          <p:cNvSpPr>
            <a:spLocks noGrp="1"/>
          </p:cNvSpPr>
          <p:nvPr/>
        </p:nvSpPr>
        <p:spPr>
          <a:xfrm>
            <a:off x="502920" y="2670048"/>
            <a:ext cx="1118616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4" name="Rect 314"/>
          <p:cNvSpPr>
            <a:spLocks noGrp="1"/>
          </p:cNvSpPr>
          <p:nvPr/>
        </p:nvSpPr>
        <p:spPr>
          <a:xfrm>
            <a:off x="502920" y="2670048"/>
            <a:ext cx="73152" cy="46634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15" name="TextBox 315"/>
          <p:cNvSpPr txBox="1">
            <a:spLocks noGrp="1"/>
          </p:cNvSpPr>
          <p:nvPr/>
        </p:nvSpPr>
        <p:spPr>
          <a:xfrm>
            <a:off x="640080" y="2724912"/>
            <a:ext cx="32004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Reliability (Bugs)</a:t>
            </a:r>
          </a:p>
        </p:txBody>
      </p:sp>
      <p:sp>
        <p:nvSpPr>
          <p:cNvPr id="316" name="TextBox 316"/>
          <p:cNvSpPr txBox="1">
            <a:spLocks noGrp="1"/>
          </p:cNvSpPr>
          <p:nvPr/>
        </p:nvSpPr>
        <p:spPr>
          <a:xfrm>
            <a:off x="3886200" y="272491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10</a:t>
            </a:r>
          </a:p>
        </p:txBody>
      </p:sp>
      <p:sp>
        <p:nvSpPr>
          <p:cNvPr id="317" name="TextBox 317"/>
          <p:cNvSpPr txBox="1">
            <a:spLocks noGrp="1"/>
          </p:cNvSpPr>
          <p:nvPr/>
        </p:nvSpPr>
        <p:spPr>
          <a:xfrm>
            <a:off x="5394960" y="272491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0</a:t>
            </a:r>
          </a:p>
        </p:txBody>
      </p:sp>
      <p:sp>
        <p:nvSpPr>
          <p:cNvPr id="318" name="TextBox 318"/>
          <p:cNvSpPr txBox="1">
            <a:spLocks noGrp="1"/>
          </p:cNvSpPr>
          <p:nvPr/>
        </p:nvSpPr>
        <p:spPr>
          <a:xfrm>
            <a:off x="6903720" y="272491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10</a:t>
            </a:r>
          </a:p>
        </p:txBody>
      </p:sp>
      <p:sp>
        <p:nvSpPr>
          <p:cNvPr id="319" name="TextBox 319"/>
          <p:cNvSpPr txBox="1">
            <a:spLocks noGrp="1"/>
          </p:cNvSpPr>
          <p:nvPr/>
        </p:nvSpPr>
        <p:spPr>
          <a:xfrm>
            <a:off x="8412480" y="272491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009688"/>
                </a:solidFill>
                <a:latin typeface="Calibri"/>
              </a:rPr>
              <a:t>0.00</a:t>
            </a:r>
          </a:p>
        </p:txBody>
      </p:sp>
      <p:sp>
        <p:nvSpPr>
          <p:cNvPr id="320" name="Rect 320"/>
          <p:cNvSpPr>
            <a:spLocks noGrp="1"/>
          </p:cNvSpPr>
          <p:nvPr/>
        </p:nvSpPr>
        <p:spPr>
          <a:xfrm>
            <a:off x="502920" y="3172968"/>
            <a:ext cx="11186160" cy="466344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1" name="Rect 321"/>
          <p:cNvSpPr>
            <a:spLocks noGrp="1"/>
          </p:cNvSpPr>
          <p:nvPr/>
        </p:nvSpPr>
        <p:spPr>
          <a:xfrm>
            <a:off x="502920" y="3172968"/>
            <a:ext cx="73152" cy="46634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2" name="TextBox 322"/>
          <p:cNvSpPr txBox="1">
            <a:spLocks noGrp="1"/>
          </p:cNvSpPr>
          <p:nvPr/>
        </p:nvSpPr>
        <p:spPr>
          <a:xfrm>
            <a:off x="640080" y="3227832"/>
            <a:ext cx="32004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Maintainability (Code Smells)</a:t>
            </a:r>
          </a:p>
        </p:txBody>
      </p:sp>
      <p:sp>
        <p:nvSpPr>
          <p:cNvPr id="323" name="TextBox 323"/>
          <p:cNvSpPr txBox="1">
            <a:spLocks noGrp="1"/>
          </p:cNvSpPr>
          <p:nvPr/>
        </p:nvSpPr>
        <p:spPr>
          <a:xfrm>
            <a:off x="3886200" y="322783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71</a:t>
            </a:r>
          </a:p>
        </p:txBody>
      </p:sp>
      <p:sp>
        <p:nvSpPr>
          <p:cNvPr id="324" name="TextBox 324"/>
          <p:cNvSpPr txBox="1">
            <a:spLocks noGrp="1"/>
          </p:cNvSpPr>
          <p:nvPr/>
        </p:nvSpPr>
        <p:spPr>
          <a:xfrm>
            <a:off x="5394960" y="322783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10</a:t>
            </a:r>
          </a:p>
        </p:txBody>
      </p:sp>
      <p:sp>
        <p:nvSpPr>
          <p:cNvPr id="325" name="TextBox 325"/>
          <p:cNvSpPr txBox="1">
            <a:spLocks noGrp="1"/>
          </p:cNvSpPr>
          <p:nvPr/>
        </p:nvSpPr>
        <p:spPr>
          <a:xfrm>
            <a:off x="6903720" y="322783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61</a:t>
            </a:r>
          </a:p>
        </p:txBody>
      </p:sp>
      <p:sp>
        <p:nvSpPr>
          <p:cNvPr id="326" name="TextBox 326"/>
          <p:cNvSpPr txBox="1">
            <a:spLocks noGrp="1"/>
          </p:cNvSpPr>
          <p:nvPr/>
        </p:nvSpPr>
        <p:spPr>
          <a:xfrm>
            <a:off x="8412480" y="322783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5.88</a:t>
            </a:r>
          </a:p>
        </p:txBody>
      </p:sp>
      <p:sp>
        <p:nvSpPr>
          <p:cNvPr id="327" name="Rect 327"/>
          <p:cNvSpPr>
            <a:spLocks noGrp="1"/>
          </p:cNvSpPr>
          <p:nvPr/>
        </p:nvSpPr>
        <p:spPr>
          <a:xfrm>
            <a:off x="502920" y="3675888"/>
            <a:ext cx="1118616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8" name="Rect 328"/>
          <p:cNvSpPr>
            <a:spLocks noGrp="1"/>
          </p:cNvSpPr>
          <p:nvPr/>
        </p:nvSpPr>
        <p:spPr>
          <a:xfrm>
            <a:off x="502920" y="3675888"/>
            <a:ext cx="73152" cy="46634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29" name="TextBox 329"/>
          <p:cNvSpPr txBox="1">
            <a:spLocks noGrp="1"/>
          </p:cNvSpPr>
          <p:nvPr/>
        </p:nvSpPr>
        <p:spPr>
          <a:xfrm>
            <a:off x="640080" y="3730752"/>
            <a:ext cx="32004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Security Hotspots</a:t>
            </a:r>
          </a:p>
        </p:txBody>
      </p:sp>
      <p:sp>
        <p:nvSpPr>
          <p:cNvPr id="330" name="TextBox 330"/>
          <p:cNvSpPr txBox="1">
            <a:spLocks noGrp="1"/>
          </p:cNvSpPr>
          <p:nvPr/>
        </p:nvSpPr>
        <p:spPr>
          <a:xfrm>
            <a:off x="3886200" y="373075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9</a:t>
            </a:r>
          </a:p>
        </p:txBody>
      </p:sp>
      <p:sp>
        <p:nvSpPr>
          <p:cNvPr id="331" name="TextBox 331"/>
          <p:cNvSpPr txBox="1">
            <a:spLocks noGrp="1"/>
          </p:cNvSpPr>
          <p:nvPr/>
        </p:nvSpPr>
        <p:spPr>
          <a:xfrm>
            <a:off x="5394960" y="373075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0*</a:t>
            </a:r>
          </a:p>
        </p:txBody>
      </p:sp>
      <p:sp>
        <p:nvSpPr>
          <p:cNvPr id="332" name="TextBox 332"/>
          <p:cNvSpPr txBox="1">
            <a:spLocks noGrp="1"/>
          </p:cNvSpPr>
          <p:nvPr/>
        </p:nvSpPr>
        <p:spPr>
          <a:xfrm>
            <a:off x="6903720" y="373075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1E2B4F"/>
                </a:solidFill>
                <a:latin typeface="Calibri"/>
              </a:rPr>
              <a:t>—</a:t>
            </a:r>
          </a:p>
        </p:txBody>
      </p:sp>
      <p:sp>
        <p:nvSpPr>
          <p:cNvPr id="333" name="TextBox 333"/>
          <p:cNvSpPr txBox="1">
            <a:spLocks noGrp="1"/>
          </p:cNvSpPr>
          <p:nvPr/>
        </p:nvSpPr>
        <p:spPr>
          <a:xfrm>
            <a:off x="8412480" y="373075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0" dirty="0">
                <a:solidFill>
                  <a:srgbClr val="009688"/>
                </a:solidFill>
                <a:latin typeface="Calibri"/>
              </a:rPr>
              <a:t>0.00</a:t>
            </a:r>
          </a:p>
        </p:txBody>
      </p:sp>
      <p:sp>
        <p:nvSpPr>
          <p:cNvPr id="334" name="Rect 334"/>
          <p:cNvSpPr>
            <a:spLocks noGrp="1"/>
          </p:cNvSpPr>
          <p:nvPr/>
        </p:nvSpPr>
        <p:spPr>
          <a:xfrm>
            <a:off x="502920" y="4178808"/>
            <a:ext cx="11186160" cy="4663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35" name="Rect 335"/>
          <p:cNvSpPr>
            <a:spLocks noGrp="1"/>
          </p:cNvSpPr>
          <p:nvPr/>
        </p:nvSpPr>
        <p:spPr>
          <a:xfrm>
            <a:off x="502920" y="4178808"/>
            <a:ext cx="73152" cy="4663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36" name="TextBox 336"/>
          <p:cNvSpPr txBox="1">
            <a:spLocks noGrp="1"/>
          </p:cNvSpPr>
          <p:nvPr/>
        </p:nvSpPr>
        <p:spPr>
          <a:xfrm>
            <a:off x="640080" y="4233672"/>
            <a:ext cx="32004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TOTAL</a:t>
            </a:r>
          </a:p>
        </p:txBody>
      </p:sp>
      <p:sp>
        <p:nvSpPr>
          <p:cNvPr id="337" name="TextBox 337"/>
          <p:cNvSpPr txBox="1">
            <a:spLocks noGrp="1"/>
          </p:cNvSpPr>
          <p:nvPr/>
        </p:nvSpPr>
        <p:spPr>
          <a:xfrm>
            <a:off x="3886200" y="423367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98</a:t>
            </a:r>
          </a:p>
        </p:txBody>
      </p:sp>
      <p:sp>
        <p:nvSpPr>
          <p:cNvPr id="338" name="TextBox 338"/>
          <p:cNvSpPr txBox="1">
            <a:spLocks noGrp="1"/>
          </p:cNvSpPr>
          <p:nvPr/>
        </p:nvSpPr>
        <p:spPr>
          <a:xfrm>
            <a:off x="5394960" y="423367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10</a:t>
            </a:r>
          </a:p>
        </p:txBody>
      </p:sp>
      <p:sp>
        <p:nvSpPr>
          <p:cNvPr id="339" name="TextBox 339"/>
          <p:cNvSpPr txBox="1">
            <a:spLocks noGrp="1"/>
          </p:cNvSpPr>
          <p:nvPr/>
        </p:nvSpPr>
        <p:spPr>
          <a:xfrm>
            <a:off x="6903720" y="423367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79</a:t>
            </a:r>
          </a:p>
        </p:txBody>
      </p:sp>
      <p:sp>
        <p:nvSpPr>
          <p:cNvPr id="340" name="TextBox 340"/>
          <p:cNvSpPr txBox="1">
            <a:spLocks noGrp="1"/>
          </p:cNvSpPr>
          <p:nvPr/>
        </p:nvSpPr>
        <p:spPr>
          <a:xfrm>
            <a:off x="8412480" y="4233672"/>
            <a:ext cx="1371600" cy="347472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60"/>
              </a:spcAft>
            </a:pPr>
            <a:r>
              <a:rPr lang="es-CO" sz="1200" b="1" dirty="0">
                <a:solidFill>
                  <a:srgbClr val="1E2B4F"/>
                </a:solidFill>
                <a:latin typeface="Calibri"/>
              </a:rPr>
              <a:t>5.88</a:t>
            </a:r>
          </a:p>
        </p:txBody>
      </p:sp>
      <p:sp>
        <p:nvSpPr>
          <p:cNvPr id="341" name="Rect 341"/>
          <p:cNvSpPr>
            <a:spLocks noGrp="1"/>
          </p:cNvSpPr>
          <p:nvPr/>
        </p:nvSpPr>
        <p:spPr>
          <a:xfrm>
            <a:off x="502920" y="4800600"/>
            <a:ext cx="111861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342" name="TextBox 342"/>
          <p:cNvSpPr txBox="1">
            <a:spLocks noGrp="1"/>
          </p:cNvSpPr>
          <p:nvPr/>
        </p:nvSpPr>
        <p:spPr>
          <a:xfrm>
            <a:off x="502920" y="4910327"/>
            <a:ext cx="11186160" cy="8229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100% de defectos de Security y Reliability eliminados tras refactorización.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s-CO" sz="1300" b="0" dirty="0">
                <a:solidFill>
                  <a:srgbClr val="444444"/>
                </a:solidFill>
                <a:latin typeface="Calibri"/>
              </a:rPr>
              <a:t>Promedio industrial típico: 15-50 defectos/KLOC (sin QA formal).  MAP Parking: 5.88 def/KLOC — solo Maintainability aceptada.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1497</Words>
  <Application>Microsoft Office PowerPoint</Application>
  <PresentationFormat>Panorámica</PresentationFormat>
  <Paragraphs>279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sergio andres ordoñez diaz</cp:lastModifiedBy>
  <cp:revision>12</cp:revision>
  <dcterms:created xsi:type="dcterms:W3CDTF">2026-01-26T14:49:45Z</dcterms:created>
  <dcterms:modified xsi:type="dcterms:W3CDTF">2026-05-19T04:26:26Z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